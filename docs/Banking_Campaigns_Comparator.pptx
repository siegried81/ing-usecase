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9000"/>
  </p:notesMaster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3" d="100"/>
          <a:sy n="113" d="100"/>
        </p:scale>
        <p:origin x="47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900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1 min.</a:t>
            </a:r>
          </a:p>
          <a:p>
            <a:r>
              <a:rPr lang="en-US" dirty="0"/>
              <a:t>"As part of the ING DACI two-week POC,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as guardrail before we start: we have zero click, conversion or performance data. Nothing here claims a design choice caused a commercial outcome - every recommendation is an argued hypothesis worth testing. Let's walk through what the data shows."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built - 45 s.</a:t>
            </a:r>
          </a:p>
          <a:p>
            <a:r>
              <a:rPr lang="en-US" dirty="0"/>
              <a:t>"One pipeline, one frozen contract, no second definition of any number: 51 pages, 14 banks, 6 product families. Automatic extraction where a machine can measure it, a human rubric where it's genuinely a judgement call, one web UI tying the two together. 420 automated tests guard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- 30 s.</a:t>
            </a:r>
          </a:p>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- 1 min.</a:t>
            </a:r>
          </a:p>
          <a:p>
            <a:r>
              <a:rPr lang="en-US" dirty="0"/>
              <a:t>"The comparison you'll see runs on eighteen of the 51 pages scored - the current-account pages - because comparing a mortgage page to a current-account page would measure the product, not the communication. The other thirty-three are scored and in the dataset, ready for the same comparison on savings or mortgages whenever you want it. Mostly Belgian French, with English and Dutch."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scoring - 1 min 15.</a:t>
            </a:r>
          </a:p>
          <a:p>
            <a:r>
              <a:rPr lang="en-US" dirty="0"/>
              <a:t>"13 features are judgements, not measurements - clarity of the offer, layout, persuasion technique. Only one human judge for this pass, and I say so plainly rather than dressing a single opinion up as a consensus.</a:t>
            </a:r>
          </a:p>
          <a:p>
            <a:r>
              <a:rPr lang="en-US" dirty="0"/>
              <a:t>We also have a model sheet, written to its own file and never into a human one. But it is not a second opinion, because our pinned model reads text; it has no vision. And 12 of our 13 judged features are defined in the dictionary as judged from the screenshot. Only one - formality - can honestly be scored from text, and there the model lands within one point of the human seventy-three percent of the time. On the 12 visual ones, its answers are confident answers to a question the text cannot always settle: on value proposition clarity it ranked the pages close to the opposite of the human.</a:t>
            </a:r>
          </a:p>
          <a:p>
            <a:r>
              <a:rPr lang="en-US" dirty="0"/>
              <a:t>So we keep it as a reference and we do not average it in. That's the difference between using a model and trusting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 Context - 1 min 30.</a:t>
            </a:r>
          </a:p>
          <a:p>
            <a:r>
              <a:rPr lang="en-US" dirty="0"/>
              <a:t>"Before the numbers, some context on how these banks actually compete. ING sits at the near intersection of traditional institutions and digital natives - the direct, feature-focused, mobile-first tone of a neobank, campaigns like 'Do Your Thing', with the regulatory authority and established brand of a Tier-1 retail bank.</a:t>
            </a:r>
          </a:p>
          <a:p>
            <a:r>
              <a:rPr lang="en-US" dirty="0"/>
              <a:t>And contrary to a common assumption: neobanks like Revolut aren't operating with fewer rules. Same European banking licences, same Belgian compliance checks. Their speed isn't regulatory shortcuts, it's architecture: modern systems, no branch network, faster decision loops.</a:t>
            </a:r>
          </a:p>
          <a:p>
            <a:r>
              <a:rPr lang="en-US" dirty="0"/>
              <a:t>That shows up in how each side makes money. Traditional banks have long used the basic current account as a loss leader to bring someone in and monetize later through mortgages, insurance, wealth management. Neobanks flip it: freemium tiers, free or paid subscriptions, FX and fee income, upfront.</a:t>
            </a:r>
          </a:p>
          <a:p>
            <a:r>
              <a:rPr lang="en-US" dirty="0"/>
              <a:t>And the targeting differs. Neobanks win volume at the top of the funnel - young adults, digital nomads, casual spenders. ING's budget concentrates on high lifetime-value segments: first-time investors, expats and high-net-worth individuals, first-time buyers. Professional and business banking is out of scope here - retail only."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analysis found - 1 min 30.</a:t>
            </a:r>
          </a:p>
          <a:p>
            <a:r>
              <a:rPr lang="en-US" dirty="0"/>
              <a:t>"On current-account packs: 18 pages, 14 banks.</a:t>
            </a:r>
          </a:p>
          <a:p>
            <a:r>
              <a:rPr lang="en-US" dirty="0"/>
              <a:t>ING sits clearly with the traditional banks - positioning score 0.28, nearest neighbour Belfius.</a:t>
            </a:r>
          </a:p>
          <a:p>
            <a:r>
              <a:rPr lang="en-US" dirty="0"/>
              <a:t>Its largest gap, above every other bank in the set: deadline language. Four dated deadlines per page against a peer average of 0.6. ING is the only bank in this dataset whose captured pages carry an expiry date at all - every date on a competitor page is an effective-from date or a cookie-policy timestamp.</a:t>
            </a:r>
          </a:p>
          <a:p>
            <a:r>
              <a:rPr lang="en-US" dirty="0"/>
              <a:t>Then persuasion technique density, 3.7 against 1.7. Clarity of the value proposition, 5.0 against 3.7. A fast-digital-onboarding claim four times more frequent than peers. Pages roughly twice as long, 11,000 pixels against 6,400.</a:t>
            </a:r>
          </a:p>
          <a:p>
            <a:r>
              <a:rPr lang="en-US" dirty="0"/>
              <a:t>One place we're deliberately not giving you a number: calls to action. ING's pack cards load client-side and aren't in our captured HTML, so any count would measure our capture, not the page. We'd rather withhold it than report it."</a:t>
            </a:r>
          </a:p>
          <a:p>
            <a:r>
              <a:rPr lang="en-US" dirty="0"/>
              <a:t>CROSS-SELL, spoken, 30 s: "One human observation, labelled as such because our features don't capture it: ING pushes cross-sell noticeably harder - insurance grids, simulators on almost every page, Amazon Prime and cashback in the pack. What we can't measure yet is intensity. That's a feature worth adding, not a claim I'll make from a number today."</a:t>
            </a:r>
          </a:p>
          <a:p>
            <a:r>
              <a:rPr lang="en-US" dirty="0"/>
              <a:t>Then: Dan takes slides 9-12, trends, about 2 min. Stephane takes 13-17, recommendations and site, about 2 min 30.</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- 30 s.</a:t>
            </a:r>
          </a:p>
          <a:p>
            <a:r>
              <a:rPr lang="en-US" dirty="0"/>
              <a:t>"Because we have no performance data, everything you've heard stays a hypothesis, not a verdict. That's the honest limit of this exercise, not a hedge."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Cloture - 45 s.</a:t>
            </a:r>
          </a:p>
          <a:p>
            <a:r>
              <a:rPr lang="en-US" dirty="0"/>
              <a:t>"What we built over two weeks isn't a set of creative opinions, it's a repeatable measurement engine. It gives ING a clear, data-backed view of where its pages stand against 13 competitors - the strongest urgency and persuasion density in the market, a clear lead in value-proposition clarity, visible strength in cross-sell and free simulators. And because we have no conversion data, we don't claim absolute verdicts - every finding is transparent, testable, ready for ING to validate. Measure one way. Label the trust. Claim only what the data supports."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2.xml"/><Relationship Id="rId5" Type="http://schemas.openxmlformats.org/officeDocument/2006/relationships/image" Target="../media/image5.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sz="1300" b="0" dirty="0">
                <a:solidFill>
                  <a:srgbClr val="A8A8B8"/>
                </a:solidFill>
                <a:latin typeface="Helvetica Neue"/>
              </a:rPr>
              <a:t>Siegried (marketing framework) · Dan (collection, extraction) · 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collected and scored across 6 product families; this comparison runs on the 18 current-account pages, 14 banks, 36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judged feature can be scored from text at all</a:t>
            </a:r>
          </a:p>
          <a:p>
            <a:pPr algn="l">
              <a:lnSpc>
                <a:spcPct val="105000"/>
              </a:lnSpc>
              <a:spcAft>
                <a:spcPts val="1000"/>
              </a:spcAft>
            </a:pPr>
            <a:r>
              <a:rPr sz="1300" b="0">
                <a:solidFill>
                  <a:srgbClr val="585868"/>
                </a:solidFill>
                <a:latin typeface="Helvetica Neue"/>
              </a:rPr>
              <a:t>     formality_score, the only one the dictionary sources from html_text. On the 49 pages both scored, the model lands within one point of the human there 73% of the time. Its numbers on the twelve visual features are answers to a question the text cannot settle: value_prop_clarity is the clearest, where it ranked the pages close to the opposite of the human.</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0.28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3.7 vs 1.7 (+2.46 SD, rubric) · The offer feels worth having: 5.0 vs 3.7 (+1.46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a:t>
            </a:r>
            <a:r>
              <a:rPr sz="1500" b="1" dirty="0">
                <a:solidFill>
                  <a:srgbClr val="14141C"/>
                </a:solidFill>
                <a:latin typeface="Helvetica Neue"/>
              </a:rPr>
              <a:t>Where ING is below</a:t>
            </a:r>
          </a:p>
          <a:p>
            <a:pPr algn="l">
              <a:lnSpc>
                <a:spcPct val="105000"/>
              </a:lnSpc>
              <a:spcAft>
                <a:spcPts val="1000"/>
              </a:spcAft>
            </a:pPr>
            <a:r>
              <a:rPr sz="1300" b="0" dirty="0">
                <a:solidFill>
                  <a:srgbClr val="585868"/>
                </a:solidFill>
                <a:latin typeface="Helvetica Neue"/>
              </a:rPr>
              <a:t>     Animation: 0.33 vs peers 0.62 (-0.58 SD) — the one measured place ING sits below the set. Calls to action are withheld, and we can now say exactly why: the counter reads 1 where the page has 8. The captured HTML holds all of them — Se lancer, three pack cards, three product cards — but our keyword list recognises only one of those labels. It is a gap in the detector, not in the capture, and it is the third such gap we have found and said so about.</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their pages share that ING’s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Images carry alt text</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4178300" y="1882101"/>
            <a:ext cx="177800" cy="177800"/>
          </a:xfrm>
          <a:prstGeom prst="ellipse">
            <a:avLst/>
          </a:prstGeom>
          <a:solidFill>
            <a:srgbClr val="FF6200"/>
          </a:solidFill>
          <a:ln>
            <a:noFill/>
          </a:ln>
        </p:spPr>
        <p:txBody>
          <a:bodyPr/>
          <a:lstStyle/>
          <a:p>
            <a:endParaRPr/>
          </a:p>
        </p:txBody>
      </p:sp>
      <p:sp>
        <p:nvSpPr>
          <p:cNvPr id="11" name="Oval"/>
          <p:cNvSpPr/>
          <p:nvPr/>
        </p:nvSpPr>
        <p:spPr>
          <a:xfrm>
            <a:off x="7531100"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+1.91 vs </a:t>
            </a:r>
            <a:r>
              <a:rPr sz="1200" b="0">
                <a:solidFill>
                  <a:srgbClr val="FF6200"/>
                </a:solidFill>
                <a:latin typeface="Helvetica Neue"/>
              </a:rPr>
              <a:t>−0.52</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Institutional trust signals</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4509504" y="2415501"/>
            <a:ext cx="177800" cy="177800"/>
          </a:xfrm>
          <a:prstGeom prst="ellipse">
            <a:avLst/>
          </a:prstGeom>
          <a:solidFill>
            <a:srgbClr val="FF6200"/>
          </a:solidFill>
          <a:ln>
            <a:noFill/>
          </a:ln>
        </p:spPr>
        <p:txBody>
          <a:bodyPr/>
          <a:lstStyle/>
          <a:p>
            <a:endParaRPr/>
          </a:p>
        </p:txBody>
      </p:sp>
      <p:sp>
        <p:nvSpPr>
          <p:cNvPr id="17" name="Oval"/>
          <p:cNvSpPr/>
          <p:nvPr/>
        </p:nvSpPr>
        <p:spPr>
          <a:xfrm>
            <a:off x="6303254"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+1.02 vs </a:t>
            </a:r>
            <a:r>
              <a:rPr sz="1200" b="0">
                <a:solidFill>
                  <a:srgbClr val="FF6200"/>
                </a:solidFill>
                <a:latin typeface="Helvetica Neue"/>
              </a:rPr>
              <a:t>−0.28</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Animated elements</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4140200" y="2948901"/>
            <a:ext cx="177800" cy="177800"/>
          </a:xfrm>
          <a:prstGeom prst="ellipse">
            <a:avLst/>
          </a:prstGeom>
          <a:solidFill>
            <a:srgbClr val="FF6200"/>
          </a:solidFill>
          <a:ln>
            <a:noFill/>
          </a:ln>
        </p:spPr>
        <p:txBody>
          <a:bodyPr/>
          <a:lstStyle/>
          <a:p>
            <a:endParaRPr/>
          </a:p>
        </p:txBody>
      </p:sp>
      <p:sp>
        <p:nvSpPr>
          <p:cNvPr id="23" name="Oval"/>
          <p:cNvSpPr/>
          <p:nvPr/>
        </p:nvSpPr>
        <p:spPr>
          <a:xfrm>
            <a:off x="6064250"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+0.85 vs </a:t>
            </a:r>
            <a:r>
              <a:rPr sz="1200" b="0">
                <a:solidFill>
                  <a:srgbClr val="FF6200"/>
                </a:solidFill>
                <a:latin typeface="Helvetica Neue"/>
              </a:rPr>
              <a:t>−0.55</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This shows what their pages measurably do differently —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1883664"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13</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ontrols.png"/>
          <p:cNvPicPr>
            <a:picLocks noChangeAspect="1"/>
          </p:cNvPicPr>
          <p:nvPr/>
        </p:nvPicPr>
        <p:blipFill>
          <a:blip r:embed="rId2"/>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3"/>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30 measured features across 14 banks into 11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4"/>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3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11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ards.png"/>
          <p:cNvPicPr>
            <a:picLocks noChangeAspect="1"/>
          </p:cNvPicPr>
          <p:nvPr/>
        </p:nvPicPr>
        <p:blipFill>
          <a:blip r:embed="rId2"/>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3"/>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4"/>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sp>
      <p:pic>
        <p:nvPicPr>
          <p:cNvPr id="7" name="Image 0" descr="/Users/nstephane/Dev/AI_Data_Science_training/ing-usecase/docs/deck_assets/site_hero.png"/>
          <p:cNvPicPr>
            <a:picLocks noChangeAspect="1"/>
          </p:cNvPicPr>
          <p:nvPr/>
        </p:nvPicPr>
        <p:blipFill>
          <a:blip r:embed="rId2"/>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sp>
      <p:pic>
        <p:nvPicPr>
          <p:cNvPr id="9" name="Image 1" descr="/Users/nstephane/Dev/AI_Data_Science_training/ing-usecase/docs/deck_assets/site_explained.png"/>
          <p:cNvPicPr>
            <a:picLocks noChangeAspect="1"/>
          </p:cNvPicPr>
          <p:nvPr/>
        </p:nvPicPr>
        <p:blipFill>
          <a:blip r:embed="rId3"/>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4"/>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5"/>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6"/>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pic>
        <p:nvPicPr>
          <p:cNvPr id="6" name="Image 0" descr="/Users/nstephane/Dev/AI_Data_Science_training/ing-usecase/docs/deck_assets/pipeline_complete.png"/>
          <p:cNvPicPr>
            <a:picLocks noChangeAspect="1"/>
          </p:cNvPicPr>
          <p:nvPr/>
        </p:nvPicPr>
        <p:blipFill>
          <a:blip r:embed="rId2"/>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Turn the rubric into a number you can quote</a:t>
            </a:r>
          </a:p>
          <a:p>
            <a:pPr algn="l">
              <a:lnSpc>
                <a:spcPct val="105000"/>
              </a:lnSpc>
              <a:spcAft>
                <a:spcPts val="1000"/>
              </a:spcAft>
            </a:pPr>
            <a:r>
              <a:rPr sz="1300" b="0">
                <a:solidFill>
                  <a:srgbClr val="585868"/>
                </a:solidFill>
                <a:latin typeface="Helvetica Neue"/>
              </a:rPr>
              <a:t>     Finish the two-raters-per-bank split — it takes the comparison from 30 usable features to about 40 — and tighten the wording for the six features below the 60% bar before any judged feature carries a finding.</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150</TotalTime>
  <Words>5255</Words>
  <Application>Microsoft Office PowerPoint</Application>
  <PresentationFormat>Widescreen</PresentationFormat>
  <Paragraphs>425</Paragraphs>
  <Slides>41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3</cp:revision>
  <dcterms:created xsi:type="dcterms:W3CDTF">2013-01-27T09:14:16Z</dcterms:created>
  <dcterms:modified xsi:type="dcterms:W3CDTF">2026-09-24T06:27:12Z</dcterms:modified>
  <cp:category/>
</cp:coreProperties>
</file>