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91" r:id="rId41"/>
    <p:sldId id="287" r:id="rId37"/>
    <p:sldId id="288" r:id="rId38"/>
    <p:sldId id="289" r:id="rId39"/>
    <p:sldId id="290" r:id="rId40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15" d="100"/>
          <a:sy n="115" d="100"/>
        </p:scale>
        <p:origin x="396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5" Type="http://schemas.openxmlformats.org/officeDocument/2006/relationships/slide" Target="slides/slide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Relationship Id="rId37" Type="http://schemas.openxmlformats.org/officeDocument/2006/relationships/slide" Target="slides/slide32.xml"/><Relationship Id="rId38" Type="http://schemas.openxmlformats.org/officeDocument/2006/relationships/slide" Target="slides/slide33.xml"/><Relationship Id="rId39" Type="http://schemas.openxmlformats.org/officeDocument/2006/relationships/slide" Target="slides/slide34.xml"/><Relationship Id="rId40" Type="http://schemas.openxmlformats.org/officeDocument/2006/relationships/slide" Target="slides/slide35.xml"/>  <Relationship Id="rId41" Type="http://schemas.openxmlformats.org/officeDocument/2006/relationships/slide" Target="slides/slide36.xml"/>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822960" y="2331720"/>
            <a:ext cx="2011680" cy="91440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400" b="1">
                <a:solidFill>
                  <a:srgbClr val="FFFFFF"/>
                </a:solidFill>
                <a:latin typeface="Helvetica Neue"/>
              </a:rPr>
              <a:t>Banking Campaigns Comparator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0604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000" b="0">
                <a:solidFill>
                  <a:srgbClr val="D8D8E0"/>
                </a:solidFill>
                <a:latin typeface="Helvetica Neue"/>
              </a:rPr>
              <a:t>How Belgian banks communicate similar products differently,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000" b="0">
                <a:solidFill>
                  <a:srgbClr val="D8D8E0"/>
                </a:solidFill>
                <a:latin typeface="Helvetica Neue"/>
              </a:rPr>
              <a:t>and what ING can learn from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114800"/>
            <a:ext cx="10058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0" dirty="0">
                <a:solidFill>
                  <a:srgbClr val="A8A8B8"/>
                </a:solidFill>
                <a:latin typeface="Helvetica Neue"/>
              </a:rPr>
              <a:t>Two-week proof of concept for ING DACI / Customer AI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0" dirty="0">
                <a:solidFill>
                  <a:srgbClr val="A8A8B8"/>
                </a:solidFill>
                <a:latin typeface="Helvetica Neue"/>
              </a:rPr>
              <a:t>Siegried (marketing framework) · Dan (collection, extraction) · Stephane (analysis, </a:t>
            </a:r>
            <a:r>
              <a:rPr sz="1300" b="0" dirty="0" err="1">
                <a:solidFill>
                  <a:srgbClr val="A8A8B8"/>
                </a:solidFill>
                <a:latin typeface="Helvetica Neue"/>
              </a:rPr>
              <a:t>GenAI</a:t>
            </a:r>
            <a:r>
              <a:rPr sz="1300" b="0" dirty="0">
                <a:solidFill>
                  <a:srgbClr val="A8A8B8"/>
                </a:solidFill>
                <a:latin typeface="Helvetica Neue"/>
              </a:rPr>
              <a:t>)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0" dirty="0">
                <a:solidFill>
                  <a:srgbClr val="A8A8B8"/>
                </a:solidFill>
                <a:latin typeface="Helvetica Neue"/>
              </a:rPr>
              <a:t>14 – 25 September 2026 · 14 banks · 18 current-account pages of 52 collected · 104 features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14141C"/>
                </a:solidFill>
                <a:latin typeface="Helvetica Neue"/>
              </a:rPr>
              <a:t>The brief, and the constraint that shapes everything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463040" cy="64008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 dirty="0">
                <a:solidFill>
                  <a:srgbClr val="14141C"/>
                </a:solidFill>
                <a:latin typeface="Helvetica Neue"/>
              </a:rPr>
              <a:t>•  Compare how Belgian banks communicate comparable products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 dirty="0">
                <a:solidFill>
                  <a:srgbClr val="585868"/>
                </a:solidFill>
                <a:latin typeface="Helvetica Neue"/>
              </a:rPr>
              <a:t>     Campaign pages only: the open web, one language, one product family at a time.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 dirty="0">
                <a:solidFill>
                  <a:srgbClr val="14141C"/>
                </a:solidFill>
                <a:latin typeface="Helvetica Neue"/>
              </a:rPr>
              <a:t>•  Turn that comparison into advice ING can act on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 dirty="0">
                <a:solidFill>
                  <a:srgbClr val="585868"/>
                </a:solidFill>
                <a:latin typeface="Helvetica Neue"/>
              </a:rPr>
              <a:t>     Measured differences, argued from named features — not opinion dressed as data.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 dirty="0">
                <a:solidFill>
                  <a:srgbClr val="14141C"/>
                </a:solidFill>
                <a:latin typeface="Helvetica Neue"/>
              </a:rPr>
              <a:t>•  The hard constraint: no performance data exists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 dirty="0">
                <a:solidFill>
                  <a:srgbClr val="585868"/>
                </a:solidFill>
                <a:latin typeface="Helvetica Neue"/>
              </a:rPr>
              <a:t>     No clicks, no conversions, no sales. So nothing here may claim that a design choice caused an outcome.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 dirty="0">
                <a:solidFill>
                  <a:srgbClr val="14141C"/>
                </a:solidFill>
                <a:latin typeface="Helvetica Neue"/>
              </a:rPr>
              <a:t>•  Therefore every recommendation is a hypothesis to test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 dirty="0">
                <a:solidFill>
                  <a:srgbClr val="585868"/>
                </a:solidFill>
                <a:latin typeface="Helvetica Neue"/>
              </a:rPr>
              <a:t>     The project's value is a defensible, repeatable measurement — and an honest statement of its limits.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endParaRPr sz="1300" b="0" dirty="0">
              <a:solidFill>
                <a:srgbClr val="585868"/>
              </a:solidFill>
              <a:latin typeface="Helvetica Neue"/>
            </a:endParaRP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0" dirty="0">
                <a:solidFill>
                  <a:srgbClr val="585868"/>
                </a:solidFill>
                <a:latin typeface="Helvetica Neue"/>
              </a:rPr>
              <a:t>This single constraint drives the guardrails you will see on every slide that follows.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14141C"/>
                </a:solidFill>
                <a:latin typeface="Helvetica Neue"/>
              </a:rPr>
              <a:t>What we built, end to end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463040" cy="64008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 dirty="0">
                <a:solidFill>
                  <a:srgbClr val="14141C"/>
                </a:solidFill>
                <a:latin typeface="Helvetica Neue"/>
              </a:rPr>
              <a:t>•  A measurement pipeline: 14 banks, 52 pages across 6 product families (18 of them current-account), 104 declared features, one frozen contract.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 dirty="0">
                <a:solidFill>
                  <a:srgbClr val="14141C"/>
                </a:solidFill>
                <a:latin typeface="Helvetica Neue"/>
              </a:rPr>
              <a:t>•  A scoring workflow: automatic extraction, model-assisted extraction, and a human rubric for the 13 judgement features.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 dirty="0">
                <a:solidFill>
                  <a:srgbClr val="14141C"/>
                </a:solidFill>
                <a:latin typeface="Helvetica Neue"/>
              </a:rPr>
              <a:t>•  An analysis library: positioning, similarity, category comparison, AI score, cross-sell, plus generated limitations.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 dirty="0">
                <a:solidFill>
                  <a:srgbClr val="14141C"/>
                </a:solidFill>
                <a:latin typeface="Helvetica Neue"/>
              </a:rPr>
              <a:t>•  One web UI with ten tabs: four business views (Analysis, Trends, Reputation, Recommendations), the generated-site builder, and six read-only operator views carried over from the </a:t>
            </a:r>
            <a:r>
              <a:rPr sz="1500" b="0" dirty="0" err="1">
                <a:solidFill>
                  <a:srgbClr val="14141C"/>
                </a:solidFill>
                <a:latin typeface="Helvetica Neue"/>
              </a:rPr>
              <a:t>Streamlit</a:t>
            </a:r>
            <a:r>
              <a:rPr sz="1500" b="0" dirty="0">
                <a:solidFill>
                  <a:srgbClr val="14141C"/>
                </a:solidFill>
                <a:latin typeface="Helvetica Neue"/>
              </a:rPr>
              <a:t> dashboard.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 dirty="0">
                <a:solidFill>
                  <a:srgbClr val="14141C"/>
                </a:solidFill>
                <a:latin typeface="Helvetica Neue"/>
              </a:rPr>
              <a:t>•  Two optional signals, both fenced off from the performance claim: search interest, and news themes.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 dirty="0">
                <a:solidFill>
                  <a:srgbClr val="14141C"/>
                </a:solidFill>
                <a:latin typeface="Helvetica Neue"/>
              </a:rPr>
              <a:t>•  A generated ING website: ten pages built from the selected recommendations — an illustration of what a recommendation means in practice, not a proposal for ING's own site.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endParaRPr sz="1500" b="0" dirty="0">
              <a:solidFill>
                <a:srgbClr val="14141C"/>
              </a:solidFill>
              <a:latin typeface="Helvetica Neue"/>
            </a:endParaRP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0" dirty="0">
                <a:solidFill>
                  <a:srgbClr val="585868"/>
                </a:solidFill>
                <a:latin typeface="Helvetica Neue"/>
              </a:rPr>
              <a:t>Each of those pieces is the next few slides; the pipeline diagram overleaf is the map.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400" b="1">
                <a:solidFill>
                  <a:srgbClr val="14141C"/>
                </a:solidFill>
                <a:latin typeface="Helvetica Neue"/>
              </a:rPr>
              <a:t>The pipeline, end to end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diagram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647" y="1325880"/>
            <a:ext cx="8534400" cy="4800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623620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One direction, five stages. Every arrow is a script that can be re-run; the guardrail band holds at every stage.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400" b="1">
                <a:solidFill>
                  <a:srgbClr val="14141C"/>
                </a:solidFill>
                <a:latin typeface="Helvetica Neue"/>
              </a:rPr>
              <a:t>Technical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diagram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647" y="1325880"/>
            <a:ext cx="8534400" cy="4800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623620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A library with no I/O assumptions, thin CLI wrappers, and two callers — so no figure has a second definition.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400" b="1">
                <a:solidFill>
                  <a:srgbClr val="14141C"/>
                </a:solidFill>
                <a:latin typeface="Helvetica Neue"/>
              </a:rPr>
              <a:t>How a number earns trust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diagram_tru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647" y="1325880"/>
            <a:ext cx="8534400" cy="4800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623620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Each feature declares how it was produced, and that label travels all the way to the screen.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14141C"/>
                </a:solidFill>
                <a:latin typeface="Helvetica Neue"/>
              </a:rPr>
              <a:t>The feature dictionary is the contract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463040" cy="64008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104 features, each declaring three things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how it was extracted (automatic / rubric / model-assisted / derived), how it may be compared, and whether it is core or extended.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Everything else is derived from it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The dataset schema, the validator and the published feature dictionary are generated from the same YAML, so they cannot drift apart.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The freeze rule: add, never rename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After the Day 2 freeze, columns may be added; renames and removals need all three of us, because analysis code depends on them.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Two checks, deliberately different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A byte-equality test catches an accidental edit; the semantic freeze check catches a rename that happens to keep the bytes matching.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It grew twice, legitimately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3 features added after the freeze, and the bank list extended to 12 values — both additions, both recorded.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14141C"/>
                </a:solidFill>
                <a:latin typeface="Helvetica Neue"/>
              </a:rPr>
              <a:t>Collection and compliance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463040" cy="64008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robots.txt is checked live before every fetch, and fails closed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If robots.txt cannot be read, the URL is treated as not allowed. Every row carries robots_allowed; the validator refuses a row where it is false.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Pages are rendered, not just downloaded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A headless browser reads the page as a visitor sees it, which also fills the geometry features — page height, above-fold elements, image area.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A quality gate judges the capture, not just the numbers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Two early captures passed every range check while being an empty JavaScript shell and a maintenance notice. capture_quality now travels with the row.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When a site will not serve us, a person saves the page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BNP Paribas Fortis blocks automated traffic (HTTP 503) and Revolut's headless render is refused; the importer takes a browser-saved page, re-checks robots, and marks it manual_capture.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14141C"/>
                </a:solidFill>
                <a:latin typeface="Helvetica Neue"/>
              </a:rPr>
              <a:t>The dataset behind this analysis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463040" cy="64008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881360" cy="34640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 dirty="0">
                <a:solidFill>
                  <a:srgbClr val="14141C"/>
                </a:solidFill>
                <a:latin typeface="Helvetica Neue"/>
              </a:rPr>
              <a:t>•  18 pages, 14 banks, 30 comparable features, nothing excluded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 dirty="0">
                <a:solidFill>
                  <a:srgbClr val="585868"/>
                </a:solidFill>
                <a:latin typeface="Helvetica Neue"/>
              </a:rPr>
              <a:t>     </a:t>
            </a:r>
            <a:r>
              <a:rPr sz="1300" b="0" dirty="0" err="1">
                <a:solidFill>
                  <a:srgbClr val="585868"/>
                </a:solidFill>
                <a:latin typeface="Helvetica Neue"/>
              </a:rPr>
              <a:t>Argenta</a:t>
            </a:r>
            <a:r>
              <a:rPr sz="1300" b="0" dirty="0">
                <a:solidFill>
                  <a:srgbClr val="585868"/>
                </a:solidFill>
                <a:latin typeface="Helvetica Neue"/>
              </a:rPr>
              <a:t> · Belfius · </a:t>
            </a:r>
            <a:r>
              <a:rPr sz="1300" b="0" dirty="0" err="1">
                <a:solidFill>
                  <a:srgbClr val="585868"/>
                </a:solidFill>
                <a:latin typeface="Helvetica Neue"/>
              </a:rPr>
              <a:t>Beobank</a:t>
            </a:r>
            <a:r>
              <a:rPr sz="1300" b="0" dirty="0">
                <a:solidFill>
                  <a:srgbClr val="585868"/>
                </a:solidFill>
                <a:latin typeface="Helvetica Neue"/>
              </a:rPr>
              <a:t> · BNP Paribas Fortis · </a:t>
            </a:r>
            <a:r>
              <a:rPr sz="1300" b="0" dirty="0" err="1">
                <a:solidFill>
                  <a:srgbClr val="585868"/>
                </a:solidFill>
                <a:latin typeface="Helvetica Neue"/>
              </a:rPr>
              <a:t>bunq</a:t>
            </a:r>
            <a:r>
              <a:rPr sz="1300" b="0" dirty="0">
                <a:solidFill>
                  <a:srgbClr val="585868"/>
                </a:solidFill>
                <a:latin typeface="Helvetica Neue"/>
              </a:rPr>
              <a:t> · CBC · </a:t>
            </a:r>
            <a:r>
              <a:rPr sz="1300" b="0" dirty="0" err="1">
                <a:solidFill>
                  <a:srgbClr val="585868"/>
                </a:solidFill>
                <a:latin typeface="Helvetica Neue"/>
              </a:rPr>
              <a:t>Crelan</a:t>
            </a:r>
            <a:r>
              <a:rPr sz="1300" b="0" dirty="0">
                <a:solidFill>
                  <a:srgbClr val="585868"/>
                </a:solidFill>
                <a:latin typeface="Helvetica Neue"/>
              </a:rPr>
              <a:t> · </a:t>
            </a:r>
            <a:r>
              <a:rPr sz="1300" b="0" dirty="0" err="1">
                <a:solidFill>
                  <a:srgbClr val="585868"/>
                </a:solidFill>
                <a:latin typeface="Helvetica Neue"/>
              </a:rPr>
              <a:t>Hellobank</a:t>
            </a:r>
            <a:r>
              <a:rPr sz="1300" b="0" dirty="0">
                <a:solidFill>
                  <a:srgbClr val="585868"/>
                </a:solidFill>
                <a:latin typeface="Helvetica Neue"/>
              </a:rPr>
              <a:t> · ING · KBC · </a:t>
            </a:r>
            <a:r>
              <a:rPr sz="1300" b="0" dirty="0" err="1">
                <a:solidFill>
                  <a:srgbClr val="585868"/>
                </a:solidFill>
                <a:latin typeface="Helvetica Neue"/>
              </a:rPr>
              <a:t>Keytrade</a:t>
            </a:r>
            <a:r>
              <a:rPr sz="1300" b="0" dirty="0">
                <a:solidFill>
                  <a:srgbClr val="585868"/>
                </a:solidFill>
                <a:latin typeface="Helvetica Neue"/>
              </a:rPr>
              <a:t> · N26 · </a:t>
            </a:r>
            <a:r>
              <a:rPr sz="1300" b="0" dirty="0" err="1">
                <a:solidFill>
                  <a:srgbClr val="585868"/>
                </a:solidFill>
                <a:latin typeface="Helvetica Neue"/>
              </a:rPr>
              <a:t>Revolut</a:t>
            </a:r>
            <a:r>
              <a:rPr sz="1300" b="0" dirty="0">
                <a:solidFill>
                  <a:srgbClr val="585868"/>
                </a:solidFill>
                <a:latin typeface="Helvetica Neue"/>
              </a:rPr>
              <a:t> · </a:t>
            </a:r>
            <a:r>
              <a:rPr sz="1300" b="0" dirty="0" err="1">
                <a:solidFill>
                  <a:srgbClr val="585868"/>
                </a:solidFill>
                <a:latin typeface="Helvetica Neue"/>
              </a:rPr>
              <a:t>Vdk</a:t>
            </a:r>
            <a:endParaRPr sz="1300" b="0" dirty="0">
              <a:solidFill>
                <a:srgbClr val="585868"/>
              </a:solidFill>
              <a:latin typeface="Helvetica Neue"/>
            </a:endParaRP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 dirty="0">
                <a:solidFill>
                  <a:srgbClr val="14141C"/>
                </a:solidFill>
                <a:latin typeface="Helvetica Neue"/>
              </a:rPr>
              <a:t>•  Mostly Belgian French — plus two English pages and one Dutch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 dirty="0">
                <a:solidFill>
                  <a:srgbClr val="585868"/>
                </a:solidFill>
                <a:latin typeface="Helvetica Neue"/>
              </a:rPr>
              <a:t>     Word counts and readability are within-language features, so with more than one language present the comparison drops eight of them rather than compare across languages. </a:t>
            </a:r>
            <a:endParaRPr lang="fr-FR" sz="1300" b="0" dirty="0">
              <a:solidFill>
                <a:srgbClr val="585868"/>
              </a:solidFill>
              <a:latin typeface="Helvetica Neue"/>
            </a:endParaRP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500" b="1" dirty="0">
                <a:solidFill>
                  <a:srgbClr val="14141C"/>
                </a:solidFill>
                <a:latin typeface="Helvetica Neue"/>
              </a:rPr>
              <a:t>•  Split for like-for-like comparison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 dirty="0">
                <a:solidFill>
                  <a:srgbClr val="585868"/>
                </a:solidFill>
                <a:latin typeface="Helvetica Neue"/>
              </a:rPr>
              <a:t>     10 traditional banks and 4 challengers, compared one product family at a time — a mortgage page and a current-account page differ because the products differ.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 dirty="0">
                <a:solidFill>
                  <a:srgbClr val="14141C"/>
                </a:solidFill>
                <a:latin typeface="Helvetica Neue"/>
              </a:rPr>
              <a:t>•  The dataset is in git, alongside the contract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 dirty="0">
                <a:solidFill>
                  <a:srgbClr val="585868"/>
                </a:solidFill>
                <a:latin typeface="Helvetica Neue"/>
              </a:rPr>
              <a:t>     Captures, datasets and outputs are tracked, so any figure on a slide traces back to the exact committed run that produced it.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endParaRPr sz="1300" b="0" dirty="0">
              <a:solidFill>
                <a:srgbClr val="585868"/>
              </a:solidFill>
              <a:latin typeface="Helvetica Neue"/>
            </a:endParaRP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0" dirty="0">
                <a:solidFill>
                  <a:srgbClr val="585868"/>
                </a:solidFill>
                <a:latin typeface="Helvetica Neue"/>
              </a:rPr>
              <a:t>A snapshot is the honest shape for a finding: true for one dataset, one capture date, one scope.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14141C"/>
                </a:solidFill>
                <a:latin typeface="Helvetica Neue"/>
              </a:rPr>
              <a:t>Rubric scoring: people, plus a model as a third rater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463040" cy="64008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13 features are judgements, not measurements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Clarity of the offer, layout archetype, AIDA coverage, persuasion levers — scored against a written scale, one sheet per rater.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Three independent human raters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Siegried, Dan and Stephane each keep their own sheet, split two-raters-per-bank rather than all three scoring all 52 pages. Per-rater counts move within the day; data/rubric/*_scores.csv is the live figure.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Stephane's sheet is independent since 22/09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It was machine-proposed and adopted until then. Checked directly on 22/09: none of his 13 overlapping pages match the model's output, so he now counts as an independent rater.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Agreement is measurable for all 13 features, over 9 to 15 pages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Six sit below the module's 60% bar — aida desire 0.00, persuasion levers 0.11, accent locations 0.20, rate prominence 0.27, text-image layout 0.50, and attention 0.55 — so the remaining work is wording, not coverage.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The model still writes to its own sheet, never a pre-filled one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A pre-filled sheet gets rubber-stamped, and the agreement figure would then measure how persuasive the model was, not how well two people agree.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400" b="1">
                <a:solidFill>
                  <a:srgbClr val="14141C"/>
                </a:solidFill>
                <a:latin typeface="Helvetica Neue"/>
              </a:rPr>
              <a:t>The Analysis tab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01_analy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647" y="1325880"/>
            <a:ext cx="8534400" cy="4800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623620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Scope, focus and the verdict above the first number — the reader cannot see a figure without seeing what it covers.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14141C"/>
                </a:solidFill>
                <a:latin typeface="Helvetica Neue"/>
              </a:rPr>
              <a:t>What the analysis found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463040" cy="64008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881360" cy="38213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 dirty="0">
                <a:solidFill>
                  <a:srgbClr val="14141C"/>
                </a:solidFill>
                <a:latin typeface="Helvetica Neue"/>
              </a:rPr>
              <a:t>•  ING sits with the traditional banks, not the challengers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 dirty="0">
                <a:solidFill>
                  <a:srgbClr val="585868"/>
                </a:solidFill>
                <a:latin typeface="Helvetica Neue"/>
              </a:rPr>
              <a:t>     </a:t>
            </a:r>
            <a:r>
              <a:rPr sz="1300" b="0" dirty="0" err="1">
                <a:solidFill>
                  <a:srgbClr val="585868"/>
                </a:solidFill>
                <a:latin typeface="Helvetica Neue"/>
              </a:rPr>
              <a:t>Traditional↔challenger</a:t>
            </a:r>
            <a:r>
              <a:rPr sz="1300" b="0" dirty="0">
                <a:solidFill>
                  <a:srgbClr val="585868"/>
                </a:solidFill>
                <a:latin typeface="Helvetica Neue"/>
              </a:rPr>
              <a:t> positioning score 0.26 across 14 banks, and its nearest </a:t>
            </a:r>
            <a:r>
              <a:rPr sz="1300" b="0" dirty="0" err="1">
                <a:solidFill>
                  <a:srgbClr val="585868"/>
                </a:solidFill>
                <a:latin typeface="Helvetica Neue"/>
              </a:rPr>
              <a:t>neighbour</a:t>
            </a:r>
            <a:r>
              <a:rPr sz="1300" b="0" dirty="0">
                <a:solidFill>
                  <a:srgbClr val="585868"/>
                </a:solidFill>
                <a:latin typeface="Helvetica Neue"/>
              </a:rPr>
              <a:t> is Belfius.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 dirty="0">
                <a:solidFill>
                  <a:srgbClr val="14141C"/>
                </a:solidFill>
                <a:latin typeface="Helvetica Neue"/>
              </a:rPr>
              <a:t>•  Where ING is furthest above its peers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 dirty="0">
                <a:solidFill>
                  <a:srgbClr val="585868"/>
                </a:solidFill>
                <a:latin typeface="Helvetica Neue"/>
              </a:rPr>
              <a:t>     Deadline language: 4.0 markers vs peers 0.6 (+3.69 SD) — the largest gap in the set · Persuasion levers used: 3.7 vs 1.7 (+2.46 SD, rubric) · The offer feels worth having: 5.0 vs 3.7 (+1.46 SD, rubric) · Claims fast digital onboarding: 0.67 vs 0.15 (+1.42 SD) · Page height: 11,149px vs 6,412px (+1.42 SD).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 dirty="0">
                <a:solidFill>
                  <a:srgbClr val="14141C"/>
                </a:solidFill>
                <a:latin typeface="Helvetica Neue"/>
              </a:rPr>
              <a:t>•  </a:t>
            </a:r>
            <a:r>
              <a:rPr sz="1500" b="1" dirty="0">
                <a:solidFill>
                  <a:srgbClr val="FF0000"/>
                </a:solidFill>
                <a:latin typeface="Helvetica Neue"/>
              </a:rPr>
              <a:t>Where ING is below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 dirty="0">
                <a:solidFill>
                  <a:srgbClr val="FF0000"/>
                </a:solidFill>
                <a:latin typeface="Helvetica Neue"/>
              </a:rPr>
              <a:t>     Calls to action: 1.0 vs peers 6.2 (-0.92 SD) — still the largest negative gap. The keyword list missed real buttons ("Démarrer", "Devenir client") and counted a cookie-policy link as a CTA; re-derived 23/09, verified against the pages themselves.</a:t>
            </a:r>
            <a:endParaRPr sz="1300" b="0" dirty="0">
              <a:solidFill>
                <a:srgbClr val="FF0000"/>
              </a:solidFill>
              <a:latin typeface="Helvetica Neue"/>
            </a:endParaRP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 dirty="0">
                <a:solidFill>
                  <a:srgbClr val="14141C"/>
                </a:solidFill>
                <a:latin typeface="Helvetica Neue"/>
              </a:rPr>
              <a:t>•  What separates the two groups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 dirty="0">
                <a:solidFill>
                  <a:srgbClr val="585868"/>
                </a:solidFill>
                <a:latin typeface="Helvetica Neue"/>
              </a:rPr>
              <a:t>     Traditional pages are brighter (d = -2.36) and show more without scrolling (d = -2.12); challengers are far likelier to show a rate and to frame the account as a subscription (each d = +2.00), and to target expats (d = +1.23).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 dirty="0">
                <a:solidFill>
                  <a:srgbClr val="14141C"/>
                </a:solidFill>
                <a:latin typeface="Helvetica Neue"/>
              </a:rPr>
              <a:t>•  Read as description, not proof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 dirty="0">
                <a:solidFill>
                  <a:srgbClr val="585868"/>
                </a:solidFill>
                <a:latin typeface="Helvetica Neue"/>
              </a:rPr>
              <a:t>     These are descriptive effect sizes over 14 banks, not significance tests. The rubric-sourced ones moved when the second human sheet was folded in, and the deadline count was re-derived from the stored pages — all 14 banks re-measured with the same rule.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12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400" b="1">
                <a:solidFill>
                  <a:srgbClr val="14141C"/>
                </a:solidFill>
                <a:latin typeface="Helvetica Neue"/>
              </a:rPr>
              <a:t>The Reputation tab: what each bank is in the news about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03_reput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647" y="1325880"/>
            <a:ext cx="8534400" cy="4800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623620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Headline themes — innovation, crisis, results — counted, never scored for sentiment. Two news providers are merged, in three languages.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14141C"/>
                </a:solidFill>
                <a:latin typeface="Helvetica Neue"/>
              </a:rPr>
              <a:t>Reputation: themes, not sentiment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463040" cy="64008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Sentiment scoring was out of scope; themes turn the brief's own 'reputation, innovations, crises' framing into a closed, countable list.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Two similarly named providers are supported at once (newsapi.org and newsapi.ai); headlines from both are merged and de-duplicated.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Every provider is queried in English, French and Dutch — Belgian bank news is mostly not in English.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The module degrades to 'not configured' when no key is present, rather than inventing a number for a bank it has no data on.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Themes are context about the bank, never evidence that a page or campaign performed. Asked whether reputation shows how well campaigns are doing, the honest answer is no: press coverage says what a bank is written about, not whether its page worked.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19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400" b="1">
                <a:solidFill>
                  <a:srgbClr val="14141C"/>
                </a:solidFill>
                <a:latin typeface="Helvetica Neue"/>
              </a:rPr>
              <a:t>The Recommendations tab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04_recommenda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647" y="1325880"/>
            <a:ext cx="8534400" cy="4800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623620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The one place a model is allowed to opine: advice grounded in this run's numbers, each item shown next to the features it was argued from, and selectable.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20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14141C"/>
                </a:solidFill>
                <a:latin typeface="Helvetica Neue"/>
              </a:rPr>
              <a:t>Recommendations, and how they stay honest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463040" cy="64008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Every recommendation names the measured features it was argued from; an invented feature id is dropped before the list is shown.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A second, opt-in group can be added from news themes (reputation context).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The search-interest group was removed on 22/09; Trends now selects three brands on attention alone and the tab reports what their pages measurably do differently from ING's.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A reader ticks the ones worth building; only the ticked subset reaches the site builder.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Nothing here re-runs collection or analysis — it reads one report and writes advice.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21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400" b="1">
                <a:solidFill>
                  <a:srgbClr val="14141C"/>
                </a:solidFill>
                <a:latin typeface="Helvetica Neue"/>
              </a:rPr>
              <a:t>The generated ING website, with explanations 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06_site_explanation_op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647" y="1325880"/>
            <a:ext cx="8534400" cy="4800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623620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An illustration, not a proposal for ING's site: each section that implements a recommendation is boxed, the (i) button opens the reasoning above it, and that section's glow switches to a slow yellow flicker.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22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14141C"/>
                </a:solidFill>
                <a:latin typeface="Helvetica Neue"/>
              </a:rPr>
              <a:t>Explanation mode: showing the 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463040" cy="64008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Tick 'Explain each section' and every generated section that acts on a recommendation is boxed, with an (i) button and a one-sentence rationale in the page language.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Yellow flicker while an explanation is open — deliberately not ING orange, so the explanation state cannot be mistaken for the brand treatment.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A switch above the site turns the whole layer off, and the choice is remembered across the ten pages — so the same site can be shown as a normal site.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Every page gets at least one box; pages no recommendation targets borrow the site-wide advice that applies.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The first explained run produced copy about the recommendations themselves, so the page prompt now forbids meta copy and confines 'why' to the rationale.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23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400" b="1">
                <a:solidFill>
                  <a:srgbClr val="14141C"/>
                </a:solidFill>
                <a:latin typeface="Helvetica Neue"/>
              </a:rPr>
              <a:t>The same site, explanations off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07_site_explain_o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647" y="1325880"/>
            <a:ext cx="8534400" cy="4800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623620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One checkbox above the site hides every box, balloon and rationale — the identical pages, shown as a normal site.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24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14141C"/>
                </a:solidFill>
                <a:latin typeface="Helvetica Neue"/>
              </a:rPr>
              <a:t>The operator tabs, and what they refuse to do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463040" cy="64008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Six read-only views, moved out of the Streamlit dashboard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Home, Bank profiles, Data, Rubric, Collection and Research now render in the same UI as the findings, from one snapshot the exporter writes: operations.json.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No pipeline control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Collection is slow and needs a job model, and the robots.txt gate must stay server-side and non-overridable — so there is no 'run collection' button in a browser.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No dataset or dictionary editing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The dictionary is the frozen contract (P-04); a form that edited it would undo the freeze rule, and a form that edited an extracted feature would destroy its audit trail.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No live scoring screen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The Rubric tab shows finished sheets only. A screen that displayed a rater's neighbours would make the agreement figure measure visibility, not independent judgement (NFR-05).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One direction only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The UI does no arithmetic: every number is computed in Python and handed over already labelled, so no figure on screen has a second definition.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endParaRPr sz="1300" b="0">
              <a:solidFill>
                <a:srgbClr val="585868"/>
              </a:solidFill>
              <a:latin typeface="Helvetica Neue"/>
            </a:endParaRP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0">
                <a:solidFill>
                  <a:srgbClr val="585868"/>
                </a:solidFill>
                <a:latin typeface="Helvetica Neue"/>
              </a:rPr>
              <a:t>The Streamlit file stays in the repository for share.streamlit.io; it is no longer the only place these views exist.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400" b="1">
                <a:solidFill>
                  <a:srgbClr val="14141C"/>
                </a:solidFill>
                <a:latin typeface="Helvetica Neue"/>
              </a:rPr>
              <a:t>Home: what was collected, and what comes out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08_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3127" y="1325880"/>
            <a:ext cx="7965440" cy="4480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591616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Four counts from the run, the validation verdict, every bank's status, and a download per deliverable.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26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400" b="1">
                <a:solidFill>
                  <a:srgbClr val="14141C"/>
                </a:solidFill>
                <a:latin typeface="Helvetica Neue"/>
              </a:rPr>
              <a:t>Bank profiles: one bank, every measured field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09_profi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3127" y="1325880"/>
            <a:ext cx="7965440" cy="4480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591616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Palette, tone, imagery, layout, value proposition, the z-score signature, personas and the AI Score.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27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400" b="1">
                <a:solidFill>
                  <a:srgbClr val="14141C"/>
                </a:solidFill>
                <a:latin typeface="Helvetica Neue"/>
              </a:rPr>
              <a:t>Data: the dataset and the frozen dictionary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10_da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3127" y="1325880"/>
            <a:ext cx="7965440" cy="4480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591616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Every capture with its provenance, filterable and exportable, read against the 104-feature dictionary.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28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400" b="1">
                <a:solidFill>
                  <a:srgbClr val="14141C"/>
                </a:solidFill>
                <a:latin typeface="Helvetica Neue"/>
              </a:rPr>
              <a:t>Rubric: the sheets, and where they disagree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11_rubr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3127" y="1325880"/>
            <a:ext cx="7965440" cy="4480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591616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Every sheet, raw agreement, chance-corrected kappa, and the scoring guide — never merged into one score.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29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400" b="1">
                <a:solidFill>
                  <a:srgbClr val="14141C"/>
                </a:solidFill>
                <a:latin typeface="Helvetica Neue"/>
              </a:rPr>
              <a:t>Collection: status, provenance and the pipeline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12_coll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3127" y="1325880"/>
            <a:ext cx="7965440" cy="4480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591616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Counts straight from the export, per-bank status, capture provenance, and the commands that produced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30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400" b="1">
                <a:solidFill>
                  <a:srgbClr val="14141C"/>
                </a:solidFill>
                <a:latin typeface="Helvetica Neue"/>
              </a:rPr>
              <a:t>Research: sourcing a claim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13_rese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3127" y="1325880"/>
            <a:ext cx="7965440" cy="4480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591616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Semantic Scholar, on demand. Empty is reported as empty — a rate limit must not read as 'no evidence'.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31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14141C"/>
                </a:solidFill>
                <a:latin typeface="Helvetica Neue"/>
              </a:rPr>
              <a:t>What this cannot support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463040" cy="64008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No performance data exists here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Nothing links a design choice to a click, a conversion or a sale. Every recommendation is a hypothesis ING could test.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Small groups, by design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Four challengers against ten traditional banks, and most banks contribute a single page — so a group mean is an anecdote and an effect size describes separation, not significance.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The judgement features are thinner than they look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Coverage is partial and the overlap between any two raters is still thin, and six of the thirteen features sit below the agreement bar — so a finding resting on persuasion levers or accent placement is a hypothesis.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Search interest is context, and covers part of the market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It measures what people searched for, not what a campaign achieved, and the pages captured are today's pages.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Only the open web is covered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Social, in-app and email banners are out of scope — and may be where a bank's real communication happens.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endParaRPr sz="1300" b="0">
              <a:solidFill>
                <a:srgbClr val="585868"/>
              </a:solidFill>
              <a:latin typeface="Helvetica Neue"/>
            </a:endParaRP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0">
                <a:solidFill>
                  <a:srgbClr val="585868"/>
                </a:solidFill>
                <a:latin typeface="Helvetica Neue"/>
              </a:rPr>
              <a:t>outputs/limitations.md is regenerated from the dataset on every run, so these cannot quietly go stale.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32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14141C"/>
                </a:solidFill>
                <a:latin typeface="Helvetica Neue"/>
              </a:rPr>
              <a:t>Roadmap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463040" cy="64008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1. Turn the rubric into a number you can quote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Finish the two-raters-per-bank split — it takes the comparison from 30 usable features to about 40 — and tighten the wording for the six features below the 60% bar before any judged feature carries a finding.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2. Fill the remaining sheet rows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Every bank now has its rows, including the two English pages restored on 23/09; what is missing is filled scores, not sheets.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3. Re-run and re-export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rubric_sheet.py merge → run_analysis.py → export_web_report.py, then re-verify the narrative's figures against the new snapshot.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4. Decide on outputs/ in git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It is regenerated on every run yet tracked, so each analysis leaves a large binary diff.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5. Then, if the team wants it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Savings, mortgage, pension, investment and term accounts are already collected (52 pages, 6 families); comparing each family the same way is the next step, plus a wider bank set.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33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822960" y="2743200"/>
            <a:ext cx="2011680" cy="91440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Helvetica Neue"/>
              </a:rPr>
              <a:t>Measure one way. Label the trust. Claim only what the data supports.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063240"/>
            <a:ext cx="10058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0">
                <a:solidFill>
                  <a:srgbClr val="B8B8C8"/>
                </a:solidFill>
                <a:latin typeface="Helvetica Neue"/>
              </a:rPr>
              <a:t>The pipeline, the contract and the guardrails are in the repository: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0">
                <a:solidFill>
                  <a:srgbClr val="B8B8C8"/>
                </a:solidFill>
                <a:latin typeface="Helvetica Neue"/>
              </a:rPr>
              <a:t>README.md · docs/design.md · docs/pipeline.md · web/README.md · docs/decisions.md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400" b="1">
                <a:solidFill>
                  <a:srgbClr val="14141C"/>
                </a:solidFill>
                <a:latin typeface="Helvetica Neue"/>
              </a:rPr>
              <a:t>KBC leads; ING and Belfius are level</a:t>
            </a:r>
          </a:p>
        </p:txBody>
      </p:sp>
      <p:sp>
        <p:nvSpPr>
          <p:cNvPr id="3" name="Rectangle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"/>
          <p:cNvSpPr txBox="1"/>
          <p:nvPr/>
        </p:nvSpPr>
        <p:spPr>
          <a:xfrm>
            <a:off x="685800" y="1325880"/>
            <a:ext cx="1962150" cy="23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14141C"/>
                </a:solidFill>
                <a:latin typeface="Helvetica Neue"/>
              </a:rPr>
              <a:t>KBC</a:t>
            </a:r>
          </a:p>
        </p:txBody>
      </p:sp>
      <p:sp>
        <p:nvSpPr>
          <p:cNvPr id="5" name="Rect"/>
          <p:cNvSpPr/>
          <p:nvPr/>
        </p:nvSpPr>
        <p:spPr>
          <a:xfrm>
            <a:off x="2692400" y="1369040"/>
            <a:ext cx="3556000" cy="152400"/>
          </a:xfrm>
          <a:prstGeom prst="rect">
            <a:avLst/>
          </a:prstGeom>
          <a:solidFill>
            <a:srgbClr val="A8A8B8"/>
          </a:solidFill>
          <a:ln>
            <a:noFill/>
          </a:ln>
        </p:spPr>
        <p:txBody>
          <a:bodyPr/>
          <a:lstStyle/>
          <a:p/>
        </p:txBody>
      </p:sp>
      <p:sp>
        <p:nvSpPr>
          <p:cNvPr id="6" name="TextBox"/>
          <p:cNvSpPr txBox="1"/>
          <p:nvPr/>
        </p:nvSpPr>
        <p:spPr>
          <a:xfrm>
            <a:off x="6299200" y="1325880"/>
            <a:ext cx="749300" cy="23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14141C"/>
                </a:solidFill>
                <a:latin typeface="Helvetica Neue"/>
              </a:rPr>
              <a:t>21.30%</a:t>
            </a:r>
          </a:p>
        </p:txBody>
      </p:sp>
      <p:sp>
        <p:nvSpPr>
          <p:cNvPr id="7" name="TextBox"/>
          <p:cNvSpPr txBox="1"/>
          <p:nvPr/>
        </p:nvSpPr>
        <p:spPr>
          <a:xfrm>
            <a:off x="685800" y="1577301"/>
            <a:ext cx="1962150" cy="23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14141C"/>
                </a:solidFill>
                <a:latin typeface="Helvetica Neue"/>
              </a:rPr>
              <a:t>Belfius</a:t>
            </a:r>
          </a:p>
        </p:txBody>
      </p:sp>
      <p:sp>
        <p:nvSpPr>
          <p:cNvPr id="8" name="Rect"/>
          <p:cNvSpPr/>
          <p:nvPr/>
        </p:nvSpPr>
        <p:spPr>
          <a:xfrm>
            <a:off x="2692400" y="1620461"/>
            <a:ext cx="3079750" cy="152400"/>
          </a:xfrm>
          <a:prstGeom prst="rect">
            <a:avLst/>
          </a:prstGeom>
          <a:solidFill>
            <a:srgbClr val="14141C"/>
          </a:solidFill>
          <a:ln>
            <a:noFill/>
          </a:ln>
        </p:spPr>
        <p:txBody>
          <a:bodyPr/>
          <a:lstStyle/>
          <a:p/>
        </p:txBody>
      </p:sp>
      <p:sp>
        <p:nvSpPr>
          <p:cNvPr id="9" name="TextBox"/>
          <p:cNvSpPr txBox="1"/>
          <p:nvPr/>
        </p:nvSpPr>
        <p:spPr>
          <a:xfrm>
            <a:off x="6299200" y="1577301"/>
            <a:ext cx="749300" cy="23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14141C"/>
                </a:solidFill>
                <a:latin typeface="Helvetica Neue"/>
              </a:rPr>
              <a:t>18.44%</a:t>
            </a:r>
          </a:p>
        </p:txBody>
      </p:sp>
      <p:sp>
        <p:nvSpPr>
          <p:cNvPr id="10" name="TextBox"/>
          <p:cNvSpPr txBox="1"/>
          <p:nvPr/>
        </p:nvSpPr>
        <p:spPr>
          <a:xfrm>
            <a:off x="685800" y="1828721"/>
            <a:ext cx="1962150" cy="23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F6200"/>
                </a:solidFill>
                <a:latin typeface="Helvetica Neue"/>
              </a:rPr>
              <a:t>ING</a:t>
            </a:r>
          </a:p>
        </p:txBody>
      </p:sp>
      <p:sp>
        <p:nvSpPr>
          <p:cNvPr id="11" name="Rect"/>
          <p:cNvSpPr/>
          <p:nvPr/>
        </p:nvSpPr>
        <p:spPr>
          <a:xfrm>
            <a:off x="2692400" y="1871881"/>
            <a:ext cx="3028950" cy="152400"/>
          </a:xfrm>
          <a:prstGeom prst="rect">
            <a:avLst/>
          </a:prstGeom>
          <a:solidFill>
            <a:srgbClr val="FF6200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TextBox"/>
          <p:cNvSpPr txBox="1"/>
          <p:nvPr/>
        </p:nvSpPr>
        <p:spPr>
          <a:xfrm>
            <a:off x="6299200" y="1828721"/>
            <a:ext cx="749300" cy="23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FF6200"/>
                </a:solidFill>
                <a:latin typeface="Helvetica Neue"/>
              </a:rPr>
              <a:t>18.13%</a:t>
            </a:r>
          </a:p>
        </p:txBody>
      </p:sp>
      <p:sp>
        <p:nvSpPr>
          <p:cNvPr id="13" name="TextBox"/>
          <p:cNvSpPr txBox="1"/>
          <p:nvPr/>
        </p:nvSpPr>
        <p:spPr>
          <a:xfrm>
            <a:off x="685800" y="2080141"/>
            <a:ext cx="1962150" cy="23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14141C"/>
                </a:solidFill>
                <a:latin typeface="Helvetica Neue"/>
              </a:rPr>
              <a:t>BNP Paribas Fortis</a:t>
            </a:r>
          </a:p>
        </p:txBody>
      </p:sp>
      <p:sp>
        <p:nvSpPr>
          <p:cNvPr id="14" name="Rect"/>
          <p:cNvSpPr/>
          <p:nvPr/>
        </p:nvSpPr>
        <p:spPr>
          <a:xfrm>
            <a:off x="2692400" y="2123301"/>
            <a:ext cx="2571750" cy="152400"/>
          </a:xfrm>
          <a:prstGeom prst="rect">
            <a:avLst/>
          </a:prstGeom>
          <a:solidFill>
            <a:srgbClr val="A8A8B8"/>
          </a:solidFill>
          <a:ln>
            <a:noFill/>
          </a:ln>
        </p:spPr>
        <p:txBody>
          <a:bodyPr/>
          <a:lstStyle/>
          <a:p/>
        </p:txBody>
      </p:sp>
      <p:sp>
        <p:nvSpPr>
          <p:cNvPr id="15" name="TextBox"/>
          <p:cNvSpPr txBox="1"/>
          <p:nvPr/>
        </p:nvSpPr>
        <p:spPr>
          <a:xfrm>
            <a:off x="6299200" y="2080141"/>
            <a:ext cx="749300" cy="23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14141C"/>
                </a:solidFill>
                <a:latin typeface="Helvetica Neue"/>
              </a:rPr>
              <a:t>15.40%</a:t>
            </a:r>
          </a:p>
        </p:txBody>
      </p:sp>
      <p:sp>
        <p:nvSpPr>
          <p:cNvPr id="16" name="TextBox"/>
          <p:cNvSpPr txBox="1"/>
          <p:nvPr/>
        </p:nvSpPr>
        <p:spPr>
          <a:xfrm>
            <a:off x="685800" y="2331562"/>
            <a:ext cx="1962150" cy="23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14141C"/>
                </a:solidFill>
                <a:latin typeface="Helvetica Neue"/>
              </a:rPr>
              <a:t>Argenta</a:t>
            </a:r>
          </a:p>
        </p:txBody>
      </p:sp>
      <p:sp>
        <p:nvSpPr>
          <p:cNvPr id="17" name="Rect"/>
          <p:cNvSpPr/>
          <p:nvPr/>
        </p:nvSpPr>
        <p:spPr>
          <a:xfrm>
            <a:off x="2692400" y="2374722"/>
            <a:ext cx="1530350" cy="152400"/>
          </a:xfrm>
          <a:prstGeom prst="rect">
            <a:avLst/>
          </a:prstGeom>
          <a:solidFill>
            <a:srgbClr val="A8A8B8"/>
          </a:solidFill>
          <a:ln>
            <a:noFill/>
          </a:ln>
        </p:spPr>
        <p:txBody>
          <a:bodyPr/>
          <a:lstStyle/>
          <a:p/>
        </p:txBody>
      </p:sp>
      <p:sp>
        <p:nvSpPr>
          <p:cNvPr id="18" name="TextBox"/>
          <p:cNvSpPr txBox="1"/>
          <p:nvPr/>
        </p:nvSpPr>
        <p:spPr>
          <a:xfrm>
            <a:off x="6299200" y="2331562"/>
            <a:ext cx="749300" cy="23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14141C"/>
                </a:solidFill>
                <a:latin typeface="Helvetica Neue"/>
              </a:rPr>
              <a:t>9.18%</a:t>
            </a:r>
          </a:p>
        </p:txBody>
      </p:sp>
      <p:sp>
        <p:nvSpPr>
          <p:cNvPr id="19" name="TextBox"/>
          <p:cNvSpPr txBox="1"/>
          <p:nvPr/>
        </p:nvSpPr>
        <p:spPr>
          <a:xfrm>
            <a:off x="685800" y="2582982"/>
            <a:ext cx="1962150" cy="23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14141C"/>
                </a:solidFill>
                <a:latin typeface="Helvetica Neue"/>
              </a:rPr>
              <a:t>Crelan</a:t>
            </a:r>
          </a:p>
        </p:txBody>
      </p:sp>
      <p:sp>
        <p:nvSpPr>
          <p:cNvPr id="20" name="Rect"/>
          <p:cNvSpPr/>
          <p:nvPr/>
        </p:nvSpPr>
        <p:spPr>
          <a:xfrm>
            <a:off x="2692400" y="2626142"/>
            <a:ext cx="1181100" cy="152400"/>
          </a:xfrm>
          <a:prstGeom prst="rect">
            <a:avLst/>
          </a:prstGeom>
          <a:solidFill>
            <a:srgbClr val="A8A8B8"/>
          </a:solidFill>
          <a:ln>
            <a:noFill/>
          </a:ln>
        </p:spPr>
        <p:txBody>
          <a:bodyPr/>
          <a:lstStyle/>
          <a:p/>
        </p:txBody>
      </p:sp>
      <p:sp>
        <p:nvSpPr>
          <p:cNvPr id="21" name="TextBox"/>
          <p:cNvSpPr txBox="1"/>
          <p:nvPr/>
        </p:nvSpPr>
        <p:spPr>
          <a:xfrm>
            <a:off x="6299200" y="2582982"/>
            <a:ext cx="749300" cy="23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14141C"/>
                </a:solidFill>
                <a:latin typeface="Helvetica Neue"/>
              </a:rPr>
              <a:t>7.07%</a:t>
            </a:r>
          </a:p>
        </p:txBody>
      </p:sp>
      <p:sp>
        <p:nvSpPr>
          <p:cNvPr id="22" name="TextBox"/>
          <p:cNvSpPr txBox="1"/>
          <p:nvPr/>
        </p:nvSpPr>
        <p:spPr>
          <a:xfrm>
            <a:off x="685800" y="2834402"/>
            <a:ext cx="1962150" cy="23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14141C"/>
                </a:solidFill>
                <a:latin typeface="Helvetica Neue"/>
              </a:rPr>
              <a:t>Beobank</a:t>
            </a:r>
          </a:p>
        </p:txBody>
      </p:sp>
      <p:sp>
        <p:nvSpPr>
          <p:cNvPr id="23" name="Rect"/>
          <p:cNvSpPr/>
          <p:nvPr/>
        </p:nvSpPr>
        <p:spPr>
          <a:xfrm>
            <a:off x="2692400" y="2877562"/>
            <a:ext cx="742950" cy="152400"/>
          </a:xfrm>
          <a:prstGeom prst="rect">
            <a:avLst/>
          </a:prstGeom>
          <a:solidFill>
            <a:srgbClr val="A8A8B8"/>
          </a:solidFill>
          <a:ln>
            <a:noFill/>
          </a:ln>
        </p:spPr>
        <p:txBody>
          <a:bodyPr/>
          <a:lstStyle/>
          <a:p/>
        </p:txBody>
      </p:sp>
      <p:sp>
        <p:nvSpPr>
          <p:cNvPr id="24" name="TextBox"/>
          <p:cNvSpPr txBox="1"/>
          <p:nvPr/>
        </p:nvSpPr>
        <p:spPr>
          <a:xfrm>
            <a:off x="6299200" y="2834402"/>
            <a:ext cx="749300" cy="23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14141C"/>
                </a:solidFill>
                <a:latin typeface="Helvetica Neue"/>
              </a:rPr>
              <a:t>4.46%</a:t>
            </a:r>
          </a:p>
        </p:txBody>
      </p:sp>
      <p:sp>
        <p:nvSpPr>
          <p:cNvPr id="25" name="TextBox"/>
          <p:cNvSpPr txBox="1"/>
          <p:nvPr/>
        </p:nvSpPr>
        <p:spPr>
          <a:xfrm>
            <a:off x="685800" y="3085823"/>
            <a:ext cx="1962150" cy="23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CBC *</a:t>
            </a:r>
          </a:p>
        </p:txBody>
      </p:sp>
      <p:sp>
        <p:nvSpPr>
          <p:cNvPr id="26" name="Rect"/>
          <p:cNvSpPr/>
          <p:nvPr/>
        </p:nvSpPr>
        <p:spPr>
          <a:xfrm>
            <a:off x="2692400" y="3128983"/>
            <a:ext cx="342900" cy="152400"/>
          </a:xfrm>
          <a:prstGeom prst="rect">
            <a:avLst/>
          </a:prstGeom>
          <a:solidFill>
            <a:srgbClr val="D8D8E0"/>
          </a:solidFill>
          <a:ln>
            <a:noFill/>
          </a:ln>
        </p:spPr>
        <p:txBody>
          <a:bodyPr/>
          <a:lstStyle/>
          <a:p/>
        </p:txBody>
      </p:sp>
      <p:sp>
        <p:nvSpPr>
          <p:cNvPr id="27" name="TextBox"/>
          <p:cNvSpPr txBox="1"/>
          <p:nvPr/>
        </p:nvSpPr>
        <p:spPr>
          <a:xfrm>
            <a:off x="6299200" y="3085823"/>
            <a:ext cx="749300" cy="23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2.05%</a:t>
            </a:r>
          </a:p>
        </p:txBody>
      </p:sp>
      <p:sp>
        <p:nvSpPr>
          <p:cNvPr id="28" name="TextBox"/>
          <p:cNvSpPr txBox="1"/>
          <p:nvPr/>
        </p:nvSpPr>
        <p:spPr>
          <a:xfrm>
            <a:off x="685800" y="3337243"/>
            <a:ext cx="1962150" cy="23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14141C"/>
                </a:solidFill>
                <a:latin typeface="Helvetica Neue"/>
              </a:rPr>
              <a:t>Revolut</a:t>
            </a:r>
          </a:p>
        </p:txBody>
      </p:sp>
      <p:sp>
        <p:nvSpPr>
          <p:cNvPr id="29" name="Rect"/>
          <p:cNvSpPr/>
          <p:nvPr/>
        </p:nvSpPr>
        <p:spPr>
          <a:xfrm>
            <a:off x="2692400" y="3380403"/>
            <a:ext cx="273050" cy="152400"/>
          </a:xfrm>
          <a:prstGeom prst="rect">
            <a:avLst/>
          </a:prstGeom>
          <a:solidFill>
            <a:srgbClr val="A8A8B8"/>
          </a:solidFill>
          <a:ln>
            <a:noFill/>
          </a:ln>
        </p:spPr>
        <p:txBody>
          <a:bodyPr/>
          <a:lstStyle/>
          <a:p/>
        </p:txBody>
      </p:sp>
      <p:sp>
        <p:nvSpPr>
          <p:cNvPr id="30" name="TextBox"/>
          <p:cNvSpPr txBox="1"/>
          <p:nvPr/>
        </p:nvSpPr>
        <p:spPr>
          <a:xfrm>
            <a:off x="6299200" y="3337243"/>
            <a:ext cx="749300" cy="23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14141C"/>
                </a:solidFill>
                <a:latin typeface="Helvetica Neue"/>
              </a:rPr>
              <a:t>1.64%</a:t>
            </a:r>
          </a:p>
        </p:txBody>
      </p:sp>
      <p:sp>
        <p:nvSpPr>
          <p:cNvPr id="31" name="TextBox"/>
          <p:cNvSpPr txBox="1"/>
          <p:nvPr/>
        </p:nvSpPr>
        <p:spPr>
          <a:xfrm>
            <a:off x="685800" y="3588663"/>
            <a:ext cx="1962150" cy="23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VDK Bank *</a:t>
            </a:r>
          </a:p>
        </p:txBody>
      </p:sp>
      <p:sp>
        <p:nvSpPr>
          <p:cNvPr id="32" name="Rect"/>
          <p:cNvSpPr/>
          <p:nvPr/>
        </p:nvSpPr>
        <p:spPr>
          <a:xfrm>
            <a:off x="2692400" y="3631823"/>
            <a:ext cx="209550" cy="152400"/>
          </a:xfrm>
          <a:prstGeom prst="rect">
            <a:avLst/>
          </a:prstGeom>
          <a:solidFill>
            <a:srgbClr val="D8D8E0"/>
          </a:solidFill>
          <a:ln>
            <a:noFill/>
          </a:ln>
        </p:spPr>
        <p:txBody>
          <a:bodyPr/>
          <a:lstStyle/>
          <a:p/>
        </p:txBody>
      </p:sp>
      <p:sp>
        <p:nvSpPr>
          <p:cNvPr id="33" name="TextBox"/>
          <p:cNvSpPr txBox="1"/>
          <p:nvPr/>
        </p:nvSpPr>
        <p:spPr>
          <a:xfrm>
            <a:off x="6299200" y="3588663"/>
            <a:ext cx="749300" cy="23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1.24%</a:t>
            </a:r>
          </a:p>
        </p:txBody>
      </p:sp>
      <p:sp>
        <p:nvSpPr>
          <p:cNvPr id="34" name="TextBox"/>
          <p:cNvSpPr txBox="1"/>
          <p:nvPr/>
        </p:nvSpPr>
        <p:spPr>
          <a:xfrm>
            <a:off x="685800" y="3840084"/>
            <a:ext cx="1962150" cy="23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Keytrade Bank *</a:t>
            </a:r>
          </a:p>
        </p:txBody>
      </p:sp>
      <p:sp>
        <p:nvSpPr>
          <p:cNvPr id="35" name="Rect"/>
          <p:cNvSpPr/>
          <p:nvPr/>
        </p:nvSpPr>
        <p:spPr>
          <a:xfrm>
            <a:off x="2692400" y="3883244"/>
            <a:ext cx="69850" cy="152400"/>
          </a:xfrm>
          <a:prstGeom prst="rect">
            <a:avLst/>
          </a:prstGeom>
          <a:solidFill>
            <a:srgbClr val="D8D8E0"/>
          </a:solidFill>
          <a:ln>
            <a:noFill/>
          </a:ln>
        </p:spPr>
        <p:txBody>
          <a:bodyPr/>
          <a:lstStyle/>
          <a:p/>
        </p:txBody>
      </p:sp>
      <p:sp>
        <p:nvSpPr>
          <p:cNvPr id="36" name="TextBox"/>
          <p:cNvSpPr txBox="1"/>
          <p:nvPr/>
        </p:nvSpPr>
        <p:spPr>
          <a:xfrm>
            <a:off x="6299200" y="3840084"/>
            <a:ext cx="749300" cy="23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0.41%</a:t>
            </a:r>
          </a:p>
        </p:txBody>
      </p:sp>
      <p:sp>
        <p:nvSpPr>
          <p:cNvPr id="37" name="TextBox"/>
          <p:cNvSpPr txBox="1"/>
          <p:nvPr/>
        </p:nvSpPr>
        <p:spPr>
          <a:xfrm>
            <a:off x="685800" y="4091504"/>
            <a:ext cx="1962150" cy="23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Hello bank! *</a:t>
            </a:r>
          </a:p>
        </p:txBody>
      </p:sp>
      <p:sp>
        <p:nvSpPr>
          <p:cNvPr id="38" name="Rect"/>
          <p:cNvSpPr/>
          <p:nvPr/>
        </p:nvSpPr>
        <p:spPr>
          <a:xfrm>
            <a:off x="2692400" y="4134664"/>
            <a:ext cx="63500" cy="152400"/>
          </a:xfrm>
          <a:prstGeom prst="rect">
            <a:avLst/>
          </a:prstGeom>
          <a:solidFill>
            <a:srgbClr val="D8D8E0"/>
          </a:solidFill>
          <a:ln>
            <a:noFill/>
          </a:ln>
        </p:spPr>
        <p:txBody>
          <a:bodyPr/>
          <a:lstStyle/>
          <a:p/>
        </p:txBody>
      </p:sp>
      <p:sp>
        <p:nvSpPr>
          <p:cNvPr id="39" name="TextBox"/>
          <p:cNvSpPr txBox="1"/>
          <p:nvPr/>
        </p:nvSpPr>
        <p:spPr>
          <a:xfrm>
            <a:off x="6299200" y="4091504"/>
            <a:ext cx="749300" cy="23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0.37%</a:t>
            </a:r>
          </a:p>
        </p:txBody>
      </p:sp>
      <p:sp>
        <p:nvSpPr>
          <p:cNvPr id="40" name="TextBox"/>
          <p:cNvSpPr txBox="1"/>
          <p:nvPr/>
        </p:nvSpPr>
        <p:spPr>
          <a:xfrm>
            <a:off x="685800" y="4342924"/>
            <a:ext cx="1962150" cy="23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N26 *</a:t>
            </a:r>
          </a:p>
        </p:txBody>
      </p:sp>
      <p:sp>
        <p:nvSpPr>
          <p:cNvPr id="41" name="Rect"/>
          <p:cNvSpPr/>
          <p:nvPr/>
        </p:nvSpPr>
        <p:spPr>
          <a:xfrm>
            <a:off x="2692400" y="4386084"/>
            <a:ext cx="50800" cy="152400"/>
          </a:xfrm>
          <a:prstGeom prst="rect">
            <a:avLst/>
          </a:prstGeom>
          <a:solidFill>
            <a:srgbClr val="D8D8E0"/>
          </a:solidFill>
          <a:ln>
            <a:noFill/>
          </a:ln>
        </p:spPr>
        <p:txBody>
          <a:bodyPr/>
          <a:lstStyle/>
          <a:p/>
        </p:txBody>
      </p:sp>
      <p:sp>
        <p:nvSpPr>
          <p:cNvPr id="42" name="TextBox"/>
          <p:cNvSpPr txBox="1"/>
          <p:nvPr/>
        </p:nvSpPr>
        <p:spPr>
          <a:xfrm>
            <a:off x="6299200" y="4342924"/>
            <a:ext cx="749300" cy="23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0.29%</a:t>
            </a:r>
          </a:p>
        </p:txBody>
      </p:sp>
      <p:sp>
        <p:nvSpPr>
          <p:cNvPr id="43" name="TextBox"/>
          <p:cNvSpPr txBox="1"/>
          <p:nvPr/>
        </p:nvSpPr>
        <p:spPr>
          <a:xfrm>
            <a:off x="685800" y="4594345"/>
            <a:ext cx="1962150" cy="23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bunq *</a:t>
            </a:r>
          </a:p>
        </p:txBody>
      </p:sp>
      <p:sp>
        <p:nvSpPr>
          <p:cNvPr id="44" name="Rect"/>
          <p:cNvSpPr/>
          <p:nvPr/>
        </p:nvSpPr>
        <p:spPr>
          <a:xfrm>
            <a:off x="2692400" y="4637505"/>
            <a:ext cx="19050" cy="152400"/>
          </a:xfrm>
          <a:prstGeom prst="rect">
            <a:avLst/>
          </a:prstGeom>
          <a:solidFill>
            <a:srgbClr val="D8D8E0"/>
          </a:solidFill>
          <a:ln>
            <a:noFill/>
          </a:ln>
        </p:spPr>
        <p:txBody>
          <a:bodyPr/>
          <a:lstStyle/>
          <a:p/>
        </p:txBody>
      </p:sp>
      <p:sp>
        <p:nvSpPr>
          <p:cNvPr id="45" name="TextBox"/>
          <p:cNvSpPr txBox="1"/>
          <p:nvPr/>
        </p:nvSpPr>
        <p:spPr>
          <a:xfrm>
            <a:off x="6299200" y="4594345"/>
            <a:ext cx="749300" cy="23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0.01%</a:t>
            </a:r>
          </a:p>
        </p:txBody>
      </p:sp>
      <p:sp>
        <p:nvSpPr>
          <p:cNvPr id="46" name="RoundRect"/>
          <p:cNvSpPr/>
          <p:nvPr/>
        </p:nvSpPr>
        <p:spPr>
          <a:xfrm>
            <a:off x="7458075" y="1329055"/>
            <a:ext cx="3790950" cy="3526234"/>
          </a:xfrm>
          <a:prstGeom prst="roundRect">
            <a:avLst>
              <a:gd name="adj" fmla="val 2791"/>
            </a:avLst>
          </a:prstGeom>
          <a:solidFill>
            <a:srgbClr val="F7F7F9"/>
          </a:solidFill>
          <a:ln w="6350">
            <a:solidFill>
              <a:srgbClr val="D8D8E0"/>
            </a:solidFill>
            <a:prstDash val="solid"/>
          </a:ln>
        </p:spPr>
        <p:txBody>
          <a:bodyPr/>
          <a:lstStyle/>
          <a:p/>
        </p:txBody>
      </p:sp>
      <p:sp>
        <p:nvSpPr>
          <p:cNvPr id="47" name="TextBox"/>
          <p:cNvSpPr txBox="1"/>
          <p:nvPr/>
        </p:nvSpPr>
        <p:spPr>
          <a:xfrm>
            <a:off x="7766050" y="1637030"/>
            <a:ext cx="3270250" cy="23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GAP BELFIUS – ING</a:t>
            </a:r>
          </a:p>
        </p:txBody>
      </p:sp>
      <p:sp>
        <p:nvSpPr>
          <p:cNvPr id="48" name="TextBox"/>
          <p:cNvSpPr txBox="1"/>
          <p:nvPr/>
        </p:nvSpPr>
        <p:spPr>
          <a:xfrm>
            <a:off x="7766050" y="1977351"/>
            <a:ext cx="3270250" cy="69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4800" b="0">
                <a:solidFill>
                  <a:srgbClr val="FF6200"/>
                </a:solidFill>
                <a:latin typeface="Helvetica Neue"/>
              </a:rPr>
              <a:t>0.31 pts</a:t>
            </a:r>
          </a:p>
        </p:txBody>
      </p:sp>
      <p:sp>
        <p:nvSpPr>
          <p:cNvPr id="49" name="TextBox"/>
          <p:cNvSpPr txBox="1"/>
          <p:nvPr/>
        </p:nvSpPr>
        <p:spPr>
          <a:xfrm>
            <a:off x="7766050" y="2774871"/>
            <a:ext cx="3270250" cy="10207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0">
                <a:solidFill>
                  <a:srgbClr val="14141C"/>
                </a:solidFill>
                <a:latin typeface="Helvetica Neue"/>
              </a:rPr>
              <a:t>Removing one raw point per week from Belfius brings it to 18.15% — ING’s own figure. Read them as level, not ING in third.</a:t>
            </a:r>
          </a:p>
        </p:txBody>
      </p:sp>
      <p:sp>
        <p:nvSpPr>
          <p:cNvPr id="50" name="Rect"/>
          <p:cNvSpPr/>
          <p:nvPr/>
        </p:nvSpPr>
        <p:spPr>
          <a:xfrm>
            <a:off x="7766050" y="3897234"/>
            <a:ext cx="3048000" cy="12700"/>
          </a:xfrm>
          <a:prstGeom prst="rect">
            <a:avLst/>
          </a:prstGeom>
          <a:solidFill>
            <a:srgbClr val="D8D8E0"/>
          </a:solidFill>
          <a:ln>
            <a:noFill/>
          </a:ln>
        </p:spPr>
        <p:txBody>
          <a:bodyPr/>
          <a:lstStyle/>
          <a:p/>
        </p:txBody>
      </p:sp>
      <p:sp>
        <p:nvSpPr>
          <p:cNvPr id="51" name="TextBox"/>
          <p:cNvSpPr txBox="1"/>
          <p:nvPr/>
        </p:nvSpPr>
        <p:spPr>
          <a:xfrm>
            <a:off x="7766050" y="4049634"/>
            <a:ext cx="3270250" cy="5230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1">
                <a:solidFill>
                  <a:srgbClr val="14141C"/>
                </a:solidFill>
                <a:latin typeface="Helvetica Neue"/>
              </a:rPr>
              <a:t>Incumbents 97.6% · challengers 2.3% of brand search</a:t>
            </a:r>
          </a:p>
        </p:txBody>
      </p:sp>
      <p:sp>
        <p:nvSpPr>
          <p:cNvPr id="52" name="TextBox"/>
          <p:cNvSpPr txBox="1"/>
          <p:nvPr/>
        </p:nvSpPr>
        <p:spPr>
          <a:xfrm>
            <a:off x="685800" y="623620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Share of brand search, 261 weeks, Sep 2021 – Sep 2026 · * too low-volume to read share or change</a:t>
            </a:r>
          </a:p>
        </p:txBody>
      </p:sp>
      <p:sp>
        <p:nvSpPr>
          <p:cNvPr id="53" name="TextBox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54" name="TextBox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14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400" b="1">
                <a:solidFill>
                  <a:srgbClr val="14141C"/>
                </a:solidFill>
                <a:latin typeface="Helvetica Neue"/>
              </a:rPr>
              <a:t>Where the banks to benchmark come from</a:t>
            </a:r>
          </a:p>
        </p:txBody>
      </p:sp>
      <p:sp>
        <p:nvSpPr>
          <p:cNvPr id="3" name="Rectangle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"/>
          <p:cNvGraphicFramePr>
            <a:graphicFrameLocks noGrp="1"/>
          </p:cNvGraphicFramePr>
          <p:nvPr/>
        </p:nvGraphicFramePr>
        <p:xfrm>
          <a:off x="685800" y="1564580"/>
          <a:ext cx="10566400" cy="3233439"/>
        </p:xfrm>
        <a:graphic>
          <a:graphicData uri="http://schemas.openxmlformats.org/drawingml/2006/table">
            <a:tbl>
              <a:tblPr/>
              <a:tblGrid>
                <a:gridCol w="2113280"/>
                <a:gridCol w="1162304"/>
                <a:gridCol w="1162304"/>
                <a:gridCol w="1056640"/>
                <a:gridCol w="1901952"/>
                <a:gridCol w="3169920"/>
              </a:tblGrid>
              <a:tr h="35927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14141C"/>
                          </a:solidFill>
                          <a:latin typeface="Helvetica Neue"/>
                        </a:rPr>
                        <a:t>Bank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E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14141C"/>
                          </a:solidFill>
                          <a:latin typeface="Helvetica Neue"/>
                        </a:rPr>
                        <a:t>2021–22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E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14141C"/>
                          </a:solidFill>
                          <a:latin typeface="Helvetica Neue"/>
                        </a:rPr>
                        <a:t>2025–26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E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14141C"/>
                          </a:solidFill>
                          <a:latin typeface="Helvetica Neue"/>
                        </a:rPr>
                        <a:t>Change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14141C"/>
                          </a:solidFill>
                          <a:latin typeface="Helvetica Neue"/>
                        </a:rPr>
                        <a:t>Direction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14141C"/>
                          </a:solidFill>
                          <a:latin typeface="Helvetica Neue"/>
                        </a:rPr>
                        <a:t>Selected as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E0"/>
                    </a:solidFill>
                  </a:tcPr>
                </a:tc>
              </a:tr>
              <a:tr h="35927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KBC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AD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21.75%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AD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20.13%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AD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−1.62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AD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Down −2.8%/yr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AD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FF6200"/>
                          </a:solidFill>
                          <a:latin typeface="Helvetica Neue"/>
                        </a:rPr>
                        <a:t>Largest traditional share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AD9"/>
                    </a:solidFill>
                  </a:tcPr>
                </a:tc>
              </a:tr>
              <a:tr h="35927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Belfius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18.21%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18.79%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+0.58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Flat +0.9%/yr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585868"/>
                          </a:solidFill>
                          <a:latin typeface="Helvetica Neue"/>
                        </a:rPr>
                        <a:t/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927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ING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19.28%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16.79%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−2.49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Down −3.7%/yr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FF6200"/>
                          </a:solidFill>
                          <a:latin typeface="Helvetica Neue"/>
                        </a:rPr>
                        <a:t>Subject of the study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927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BNP Paribas Fortis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17.99%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13.60%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−4.39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Down −6.2%/yr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585868"/>
                          </a:solidFill>
                          <a:latin typeface="Helvetica Neue"/>
                        </a:rPr>
                        <a:t/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927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Argenta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8.32%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9.42%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+1.10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Flat +2.0%/yr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585868"/>
                          </a:solidFill>
                          <a:latin typeface="Helvetica Neue"/>
                        </a:rPr>
                        <a:t/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927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Crelan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AD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5.12%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AD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8.96%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AD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+3.84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AD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Up +16.4%/yr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AD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FF6200"/>
                          </a:solidFill>
                          <a:latin typeface="Helvetica Neue"/>
                        </a:rPr>
                        <a:t>Fastest-rising traditional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AD9"/>
                    </a:solidFill>
                  </a:tcPr>
                </a:tc>
              </a:tr>
              <a:tr h="35927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Beobank †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4.38%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4.34%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−0.04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Flat −1.3%/yr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585868"/>
                          </a:solidFill>
                          <a:latin typeface="Helvetica Neue"/>
                        </a:rPr>
                        <a:t/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927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Revolut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AD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0.59%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AD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3.22%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AD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+2.63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AD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Up +37.8%/yr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AD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FF6200"/>
                          </a:solidFill>
                          <a:latin typeface="Helvetica Neue"/>
                        </a:rPr>
                        <a:t>Measurable challenger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AD9"/>
                    </a:solidFill>
                  </a:tcPr>
                </a:tc>
              </a:tr>
            </a:tbl>
          </a:graphicData>
        </a:graphic>
      </p:graphicFrame>
      <p:sp>
        <p:nvSpPr>
          <p:cNvPr id="5" name="TextBox"/>
          <p:cNvSpPr txBox="1"/>
          <p:nvPr/>
        </p:nvSpPr>
        <p:spPr>
          <a:xfrm>
            <a:off x="685800" y="623620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Share per 52-week period · flat = within ±2%/yr, a convention, not a test · † direction flips without the first period</a:t>
            </a:r>
          </a:p>
        </p:txBody>
      </p:sp>
      <p:sp>
        <p:nvSpPr>
          <p:cNvPr id="6" name="TextBox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7" name="TextBox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15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400" b="1">
                <a:solidFill>
                  <a:srgbClr val="14141C"/>
                </a:solidFill>
                <a:latin typeface="Helvetica Neue"/>
              </a:rPr>
              <a:t>What their pages share that ING’s don’t</a:t>
            </a:r>
          </a:p>
        </p:txBody>
      </p:sp>
      <p:sp>
        <p:nvSpPr>
          <p:cNvPr id="3" name="Rectangle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"/>
          <p:cNvSpPr txBox="1"/>
          <p:nvPr/>
        </p:nvSpPr>
        <p:spPr>
          <a:xfrm>
            <a:off x="685800" y="1325880"/>
            <a:ext cx="2400000" cy="23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14141C"/>
                </a:solidFill>
                <a:latin typeface="Helvetica Neue"/>
              </a:rPr>
              <a:t>●</a:t>
            </a:r>
            <a:r>
              <a:rPr sz="1200" b="0">
                <a:solidFill>
                  <a:srgbClr val="585868"/>
                </a:solidFill>
                <a:latin typeface="Helvetica Neue"/>
              </a:rPr>
              <a:t> Mean of KBC, Crelan, Revolut</a:t>
            </a:r>
          </a:p>
        </p:txBody>
      </p:sp>
      <p:sp>
        <p:nvSpPr>
          <p:cNvPr id="5" name="TextBox"/>
          <p:cNvSpPr txBox="1"/>
          <p:nvPr/>
        </p:nvSpPr>
        <p:spPr>
          <a:xfrm>
            <a:off x="3423000" y="1325880"/>
            <a:ext cx="550000" cy="23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FF6200"/>
                </a:solidFill>
                <a:latin typeface="Helvetica Neue"/>
              </a:rPr>
              <a:t>●</a:t>
            </a:r>
            <a:r>
              <a:rPr sz="1200" b="0">
                <a:solidFill>
                  <a:srgbClr val="585868"/>
                </a:solidFill>
                <a:latin typeface="Helvetica Neue"/>
              </a:rPr>
              <a:t> ING</a:t>
            </a:r>
          </a:p>
        </p:txBody>
      </p:sp>
      <p:sp>
        <p:nvSpPr>
          <p:cNvPr id="6" name="TextBox"/>
          <p:cNvSpPr txBox="1"/>
          <p:nvPr/>
        </p:nvSpPr>
        <p:spPr>
          <a:xfrm>
            <a:off x="4123000" y="1325880"/>
            <a:ext cx="2878127" cy="23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Vertical tick = market average (z-score 0)</a:t>
            </a:r>
          </a:p>
        </p:txBody>
      </p:sp>
      <p:sp>
        <p:nvSpPr>
          <p:cNvPr id="7" name="TextBox"/>
          <p:cNvSpPr txBox="1"/>
          <p:nvPr/>
        </p:nvSpPr>
        <p:spPr>
          <a:xfrm>
            <a:off x="685800" y="1846580"/>
            <a:ext cx="2747010" cy="2742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1">
                <a:solidFill>
                  <a:srgbClr val="14141C"/>
                </a:solidFill>
                <a:latin typeface="Helvetica Neue"/>
              </a:rPr>
              <a:t>Images carry alt text</a:t>
            </a:r>
          </a:p>
        </p:txBody>
      </p:sp>
      <p:sp>
        <p:nvSpPr>
          <p:cNvPr id="8" name="Rect"/>
          <p:cNvSpPr/>
          <p:nvPr/>
        </p:nvSpPr>
        <p:spPr>
          <a:xfrm>
            <a:off x="3606800" y="1964651"/>
            <a:ext cx="4826000" cy="12700"/>
          </a:xfrm>
          <a:prstGeom prst="rect">
            <a:avLst/>
          </a:prstGeom>
          <a:solidFill>
            <a:srgbClr val="D8D8E0"/>
          </a:solidFill>
          <a:ln>
            <a:noFill/>
          </a:ln>
        </p:spPr>
        <p:txBody>
          <a:bodyPr/>
          <a:lstStyle/>
          <a:p/>
        </p:txBody>
      </p:sp>
      <p:sp>
        <p:nvSpPr>
          <p:cNvPr id="9" name="Rect"/>
          <p:cNvSpPr/>
          <p:nvPr/>
        </p:nvSpPr>
        <p:spPr>
          <a:xfrm>
            <a:off x="4978400" y="1844001"/>
            <a:ext cx="12700" cy="254000"/>
          </a:xfrm>
          <a:prstGeom prst="rect">
            <a:avLst/>
          </a:prstGeom>
          <a:solidFill>
            <a:srgbClr val="A8A8B8"/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Oval"/>
          <p:cNvSpPr/>
          <p:nvPr/>
        </p:nvSpPr>
        <p:spPr>
          <a:xfrm>
            <a:off x="4178300" y="1882101"/>
            <a:ext cx="177800" cy="177800"/>
          </a:xfrm>
          <a:prstGeom prst="ellipse">
            <a:avLst/>
          </a:prstGeom>
          <a:solidFill>
            <a:srgbClr val="FF6200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Oval"/>
          <p:cNvSpPr/>
          <p:nvPr/>
        </p:nvSpPr>
        <p:spPr>
          <a:xfrm>
            <a:off x="7531100" y="1882101"/>
            <a:ext cx="177800" cy="177800"/>
          </a:xfrm>
          <a:prstGeom prst="ellipse">
            <a:avLst/>
          </a:prstGeom>
          <a:solidFill>
            <a:srgbClr val="14141C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TextBox"/>
          <p:cNvSpPr txBox="1"/>
          <p:nvPr/>
        </p:nvSpPr>
        <p:spPr>
          <a:xfrm>
            <a:off x="8686800" y="1864341"/>
            <a:ext cx="1500000" cy="23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14141C"/>
                </a:solidFill>
                <a:latin typeface="Helvetica Neue"/>
              </a:rPr>
              <a:t>+1.91</a:t>
            </a:r>
            <a:r>
              <a:rPr sz="1200" b="0">
                <a:solidFill>
                  <a:srgbClr val="14141C"/>
                </a:solidFill>
                <a:latin typeface="Helvetica Neue"/>
              </a:rPr>
              <a:t> vs </a:t>
            </a:r>
            <a:r>
              <a:rPr sz="1200" b="0">
                <a:solidFill>
                  <a:srgbClr val="FF6200"/>
                </a:solidFill>
                <a:latin typeface="Helvetica Neue"/>
              </a:rPr>
              <a:t>−0.52</a:t>
            </a:r>
          </a:p>
        </p:txBody>
      </p:sp>
      <p:sp>
        <p:nvSpPr>
          <p:cNvPr id="13" name="TextBox"/>
          <p:cNvSpPr txBox="1"/>
          <p:nvPr/>
        </p:nvSpPr>
        <p:spPr>
          <a:xfrm>
            <a:off x="685800" y="2379980"/>
            <a:ext cx="2747010" cy="2742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1">
                <a:solidFill>
                  <a:srgbClr val="14141C"/>
                </a:solidFill>
                <a:latin typeface="Helvetica Neue"/>
              </a:rPr>
              <a:t>Call-to-action contrast</a:t>
            </a:r>
          </a:p>
        </p:txBody>
      </p:sp>
      <p:sp>
        <p:nvSpPr>
          <p:cNvPr id="14" name="Rect"/>
          <p:cNvSpPr/>
          <p:nvPr/>
        </p:nvSpPr>
        <p:spPr>
          <a:xfrm>
            <a:off x="3606800" y="2498051"/>
            <a:ext cx="4826000" cy="12700"/>
          </a:xfrm>
          <a:prstGeom prst="rect">
            <a:avLst/>
          </a:prstGeom>
          <a:solidFill>
            <a:srgbClr val="D8D8E0"/>
          </a:solidFill>
          <a:ln>
            <a:noFill/>
          </a:ln>
        </p:spPr>
        <p:txBody>
          <a:bodyPr/>
          <a:lstStyle/>
          <a:p/>
        </p:txBody>
      </p:sp>
      <p:sp>
        <p:nvSpPr>
          <p:cNvPr id="15" name="Rect"/>
          <p:cNvSpPr/>
          <p:nvPr/>
        </p:nvSpPr>
        <p:spPr>
          <a:xfrm>
            <a:off x="4978400" y="2377401"/>
            <a:ext cx="12700" cy="254000"/>
          </a:xfrm>
          <a:prstGeom prst="rect">
            <a:avLst/>
          </a:prstGeom>
          <a:solidFill>
            <a:srgbClr val="A8A8B8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Oval"/>
          <p:cNvSpPr/>
          <p:nvPr/>
        </p:nvSpPr>
        <p:spPr>
          <a:xfrm>
            <a:off x="4425950" y="2415501"/>
            <a:ext cx="177800" cy="177800"/>
          </a:xfrm>
          <a:prstGeom prst="ellipse">
            <a:avLst/>
          </a:prstGeom>
          <a:solidFill>
            <a:srgbClr val="FF6200"/>
          </a:solidFill>
          <a:ln>
            <a:noFill/>
          </a:ln>
        </p:spPr>
        <p:txBody>
          <a:bodyPr/>
          <a:lstStyle/>
          <a:p/>
        </p:txBody>
      </p:sp>
      <p:sp>
        <p:nvSpPr>
          <p:cNvPr id="17" name="Oval"/>
          <p:cNvSpPr/>
          <p:nvPr/>
        </p:nvSpPr>
        <p:spPr>
          <a:xfrm>
            <a:off x="6451600" y="2415501"/>
            <a:ext cx="177800" cy="177800"/>
          </a:xfrm>
          <a:prstGeom prst="ellipse">
            <a:avLst/>
          </a:prstGeom>
          <a:solidFill>
            <a:srgbClr val="14141C"/>
          </a:solidFill>
          <a:ln>
            <a:noFill/>
          </a:ln>
        </p:spPr>
        <p:txBody>
          <a:bodyPr/>
          <a:lstStyle/>
          <a:p/>
        </p:txBody>
      </p:sp>
      <p:sp>
        <p:nvSpPr>
          <p:cNvPr id="18" name="TextBox"/>
          <p:cNvSpPr txBox="1"/>
          <p:nvPr/>
        </p:nvSpPr>
        <p:spPr>
          <a:xfrm>
            <a:off x="8686800" y="2397741"/>
            <a:ext cx="1500000" cy="23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14141C"/>
                </a:solidFill>
                <a:latin typeface="Helvetica Neue"/>
              </a:rPr>
              <a:t>+1.13</a:t>
            </a:r>
            <a:r>
              <a:rPr sz="1200" b="0">
                <a:solidFill>
                  <a:srgbClr val="14141C"/>
                </a:solidFill>
                <a:latin typeface="Helvetica Neue"/>
              </a:rPr>
              <a:t> vs </a:t>
            </a:r>
            <a:r>
              <a:rPr sz="1200" b="0">
                <a:solidFill>
                  <a:srgbClr val="FF6200"/>
                </a:solidFill>
                <a:latin typeface="Helvetica Neue"/>
              </a:rPr>
              <a:t>−0.34</a:t>
            </a:r>
          </a:p>
        </p:txBody>
      </p:sp>
      <p:sp>
        <p:nvSpPr>
          <p:cNvPr id="19" name="TextBox"/>
          <p:cNvSpPr txBox="1"/>
          <p:nvPr/>
        </p:nvSpPr>
        <p:spPr>
          <a:xfrm>
            <a:off x="685800" y="2913380"/>
            <a:ext cx="2747010" cy="2742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1">
                <a:solidFill>
                  <a:srgbClr val="14141C"/>
                </a:solidFill>
                <a:latin typeface="Helvetica Neue"/>
              </a:rPr>
              <a:t>Animated elements</a:t>
            </a:r>
          </a:p>
        </p:txBody>
      </p:sp>
      <p:sp>
        <p:nvSpPr>
          <p:cNvPr id="20" name="Rect"/>
          <p:cNvSpPr/>
          <p:nvPr/>
        </p:nvSpPr>
        <p:spPr>
          <a:xfrm>
            <a:off x="3606800" y="3031451"/>
            <a:ext cx="4826000" cy="12700"/>
          </a:xfrm>
          <a:prstGeom prst="rect">
            <a:avLst/>
          </a:prstGeom>
          <a:solidFill>
            <a:srgbClr val="D8D8E0"/>
          </a:solidFill>
          <a:ln>
            <a:noFill/>
          </a:ln>
        </p:spPr>
        <p:txBody>
          <a:bodyPr/>
          <a:lstStyle/>
          <a:p/>
        </p:txBody>
      </p:sp>
      <p:sp>
        <p:nvSpPr>
          <p:cNvPr id="21" name="Rect"/>
          <p:cNvSpPr/>
          <p:nvPr/>
        </p:nvSpPr>
        <p:spPr>
          <a:xfrm>
            <a:off x="4978400" y="2910801"/>
            <a:ext cx="12700" cy="254000"/>
          </a:xfrm>
          <a:prstGeom prst="rect">
            <a:avLst/>
          </a:prstGeom>
          <a:solidFill>
            <a:srgbClr val="A8A8B8"/>
          </a:solidFill>
          <a:ln>
            <a:noFill/>
          </a:ln>
        </p:spPr>
        <p:txBody>
          <a:bodyPr/>
          <a:lstStyle/>
          <a:p/>
        </p:txBody>
      </p:sp>
      <p:sp>
        <p:nvSpPr>
          <p:cNvPr id="22" name="Oval"/>
          <p:cNvSpPr/>
          <p:nvPr/>
        </p:nvSpPr>
        <p:spPr>
          <a:xfrm>
            <a:off x="4140200" y="2948901"/>
            <a:ext cx="177800" cy="177800"/>
          </a:xfrm>
          <a:prstGeom prst="ellipse">
            <a:avLst/>
          </a:prstGeom>
          <a:solidFill>
            <a:srgbClr val="FF6200"/>
          </a:solidFill>
          <a:ln>
            <a:noFill/>
          </a:ln>
        </p:spPr>
        <p:txBody>
          <a:bodyPr/>
          <a:lstStyle/>
          <a:p/>
        </p:txBody>
      </p:sp>
      <p:sp>
        <p:nvSpPr>
          <p:cNvPr id="23" name="Oval"/>
          <p:cNvSpPr/>
          <p:nvPr/>
        </p:nvSpPr>
        <p:spPr>
          <a:xfrm>
            <a:off x="6064250" y="2948901"/>
            <a:ext cx="177800" cy="177800"/>
          </a:xfrm>
          <a:prstGeom prst="ellipse">
            <a:avLst/>
          </a:prstGeom>
          <a:solidFill>
            <a:srgbClr val="14141C"/>
          </a:solidFill>
          <a:ln>
            <a:noFill/>
          </a:ln>
        </p:spPr>
        <p:txBody>
          <a:bodyPr/>
          <a:lstStyle/>
          <a:p/>
        </p:txBody>
      </p:sp>
      <p:sp>
        <p:nvSpPr>
          <p:cNvPr id="24" name="TextBox"/>
          <p:cNvSpPr txBox="1"/>
          <p:nvPr/>
        </p:nvSpPr>
        <p:spPr>
          <a:xfrm>
            <a:off x="8686800" y="2931141"/>
            <a:ext cx="1500000" cy="23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14141C"/>
                </a:solidFill>
                <a:latin typeface="Helvetica Neue"/>
              </a:rPr>
              <a:t>+0.85</a:t>
            </a:r>
            <a:r>
              <a:rPr sz="1200" b="0">
                <a:solidFill>
                  <a:srgbClr val="14141C"/>
                </a:solidFill>
                <a:latin typeface="Helvetica Neue"/>
              </a:rPr>
              <a:t> vs </a:t>
            </a:r>
            <a:r>
              <a:rPr sz="1200" b="0">
                <a:solidFill>
                  <a:srgbClr val="FF6200"/>
                </a:solidFill>
                <a:latin typeface="Helvetica Neue"/>
              </a:rPr>
              <a:t>−0.55</a:t>
            </a:r>
          </a:p>
        </p:txBody>
      </p:sp>
      <p:sp>
        <p:nvSpPr>
          <p:cNvPr id="25" name="RoundRect"/>
          <p:cNvSpPr/>
          <p:nvPr/>
        </p:nvSpPr>
        <p:spPr>
          <a:xfrm>
            <a:off x="685800" y="3469601"/>
            <a:ext cx="10566400" cy="1150000"/>
          </a:xfrm>
          <a:prstGeom prst="roundRect">
            <a:avLst>
              <a:gd name="adj" fmla="val 2791"/>
            </a:avLst>
          </a:prstGeom>
          <a:solidFill>
            <a:srgbClr val="F7F7F9"/>
          </a:solidFill>
          <a:ln w="6350">
            <a:solidFill>
              <a:srgbClr val="D8D8E0"/>
            </a:solidFill>
            <a:prstDash val="solid"/>
          </a:ln>
        </p:spPr>
        <p:txBody>
          <a:bodyPr/>
          <a:lstStyle/>
          <a:p/>
        </p:txBody>
      </p:sp>
      <p:sp>
        <p:nvSpPr>
          <p:cNvPr id="26" name="TextBox"/>
          <p:cNvSpPr txBox="1"/>
          <p:nvPr/>
        </p:nvSpPr>
        <p:spPr>
          <a:xfrm>
            <a:off x="958850" y="3672801"/>
            <a:ext cx="10020300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1">
                <a:solidFill>
                  <a:srgbClr val="14141C"/>
                </a:solidFill>
                <a:latin typeface="Helvetica Neue"/>
              </a:rPr>
              <a:t>Selected on search attention alone. </a:t>
            </a:r>
            <a:r>
              <a:rPr sz="1400" b="0">
                <a:solidFill>
                  <a:srgbClr val="14141C"/>
                </a:solidFill>
                <a:latin typeface="Helvetica Neue"/>
              </a:rPr>
              <a:t>This shows what their pages measurably do differently — not why they are searched for.</a:t>
            </a:r>
          </a:p>
        </p:txBody>
      </p:sp>
      <p:sp>
        <p:nvSpPr>
          <p:cNvPr id="27" name="TextBox"/>
          <p:cNvSpPr txBox="1"/>
          <p:nvPr/>
        </p:nvSpPr>
        <p:spPr>
          <a:xfrm>
            <a:off x="958850" y="4272801"/>
            <a:ext cx="10020300" cy="23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Pages measured: KBC 3 · Crelan 1 · Revolut 1. Beyond these three choices the brands diverge: no single recipe.</a:t>
            </a:r>
          </a:p>
        </p:txBody>
      </p:sp>
      <p:sp>
        <p:nvSpPr>
          <p:cNvPr id="28" name="TextBox"/>
          <p:cNvSpPr txBox="1"/>
          <p:nvPr/>
        </p:nvSpPr>
        <p:spPr>
          <a:xfrm>
            <a:off x="685800" y="623620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z-scores over the comparable page-feature set · today’s pages, not the pages of 2021–2025</a:t>
            </a:r>
          </a:p>
        </p:txBody>
      </p:sp>
      <p:sp>
        <p:nvSpPr>
          <p:cNvPr id="29" name="TextBox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30" name="TextBox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16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400" b="1">
                <a:solidFill>
                  <a:srgbClr val="14141C"/>
                </a:solidFill>
                <a:latin typeface="Helvetica Neue"/>
              </a:rPr>
              <a:t>Why challengers look small in search</a:t>
            </a:r>
          </a:p>
        </p:txBody>
      </p:sp>
      <p:sp>
        <p:nvSpPr>
          <p:cNvPr id="3" name="Rectangle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"/>
          <p:cNvSpPr txBox="1"/>
          <p:nvPr/>
        </p:nvSpPr>
        <p:spPr>
          <a:xfrm>
            <a:off x="685800" y="1325880"/>
            <a:ext cx="3921643" cy="69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4800" b="0">
                <a:solidFill>
                  <a:srgbClr val="14141C"/>
                </a:solidFill>
                <a:latin typeface="Helvetica Neue"/>
              </a:rPr>
              <a:t>&gt; 1M</a:t>
            </a:r>
          </a:p>
        </p:txBody>
      </p:sp>
      <p:sp>
        <p:nvSpPr>
          <p:cNvPr id="5" name="TextBox"/>
          <p:cNvSpPr txBox="1"/>
          <p:nvPr/>
        </p:nvSpPr>
        <p:spPr>
          <a:xfrm>
            <a:off x="685800" y="2021801"/>
            <a:ext cx="3921643" cy="23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Revolut private customers in Belgium, +~25,000/month</a:t>
            </a:r>
          </a:p>
        </p:txBody>
      </p:sp>
      <p:sp>
        <p:nvSpPr>
          <p:cNvPr id="6" name="TextBox"/>
          <p:cNvSpPr txBox="1"/>
          <p:nvPr/>
        </p:nvSpPr>
        <p:spPr>
          <a:xfrm>
            <a:off x="4899620" y="1960880"/>
            <a:ext cx="400000" cy="2996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800" b="0">
                <a:solidFill>
                  <a:srgbClr val="585868"/>
                </a:solidFill>
                <a:latin typeface="Helvetica Neue"/>
              </a:rPr>
              <a:t>vs</a:t>
            </a:r>
          </a:p>
        </p:txBody>
      </p:sp>
      <p:sp>
        <p:nvSpPr>
          <p:cNvPr id="7" name="TextBox"/>
          <p:cNvSpPr txBox="1"/>
          <p:nvPr/>
        </p:nvSpPr>
        <p:spPr>
          <a:xfrm>
            <a:off x="5529858" y="1325880"/>
            <a:ext cx="1883664" cy="69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4800" b="0">
                <a:solidFill>
                  <a:srgbClr val="14141C"/>
                </a:solidFill>
                <a:latin typeface="Helvetica Neue"/>
              </a:rPr>
              <a:t>1.64%</a:t>
            </a:r>
          </a:p>
        </p:txBody>
      </p:sp>
      <p:sp>
        <p:nvSpPr>
          <p:cNvPr id="8" name="TextBox"/>
          <p:cNvSpPr txBox="1"/>
          <p:nvPr/>
        </p:nvSpPr>
        <p:spPr>
          <a:xfrm>
            <a:off x="5529858" y="2021801"/>
            <a:ext cx="1883664" cy="23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of brand search, 9th of 14</a:t>
            </a:r>
          </a:p>
        </p:txBody>
      </p:sp>
      <p:sp>
        <p:nvSpPr>
          <p:cNvPr id="9" name="RoundRect"/>
          <p:cNvSpPr/>
          <p:nvPr/>
        </p:nvSpPr>
        <p:spPr>
          <a:xfrm>
            <a:off x="688975" y="2492296"/>
            <a:ext cx="3380284" cy="1758553"/>
          </a:xfrm>
          <a:prstGeom prst="roundRect">
            <a:avLst>
              <a:gd name="adj" fmla="val 2791"/>
            </a:avLst>
          </a:prstGeom>
          <a:solidFill>
            <a:srgbClr val="F7F7F9"/>
          </a:solidFill>
          <a:ln w="6350">
            <a:solidFill>
              <a:srgbClr val="D8D8E0"/>
            </a:solidFill>
            <a:prstDash val="solid"/>
          </a:ln>
        </p:spPr>
        <p:txBody>
          <a:bodyPr/>
          <a:lstStyle/>
          <a:p/>
        </p:txBody>
      </p:sp>
      <p:sp>
        <p:nvSpPr>
          <p:cNvPr id="10" name="TextBox"/>
          <p:cNvSpPr txBox="1"/>
          <p:nvPr/>
        </p:nvSpPr>
        <p:spPr>
          <a:xfrm>
            <a:off x="895350" y="2698671"/>
            <a:ext cx="3056560" cy="2996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800" b="1">
                <a:solidFill>
                  <a:srgbClr val="14141C"/>
                </a:solidFill>
                <a:latin typeface="Helvetica Neue"/>
              </a:rPr>
              <a:t>Navigational searches</a:t>
            </a:r>
          </a:p>
        </p:txBody>
      </p:sp>
      <p:sp>
        <p:nvSpPr>
          <p:cNvPr id="11" name="TextBox"/>
          <p:cNvSpPr txBox="1"/>
          <p:nvPr/>
        </p:nvSpPr>
        <p:spPr>
          <a:xfrm>
            <a:off x="895350" y="3049112"/>
            <a:ext cx="3056560" cy="7719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0">
                <a:solidFill>
                  <a:srgbClr val="14141C"/>
                </a:solidFill>
                <a:latin typeface="Helvetica Neue"/>
              </a:rPr>
              <a:t>Incumbent searches include logins, branches, opening hours. A working hypothesis, not verified at query level.</a:t>
            </a:r>
          </a:p>
        </p:txBody>
      </p:sp>
      <p:sp>
        <p:nvSpPr>
          <p:cNvPr id="12" name="RoundRect"/>
          <p:cNvSpPr/>
          <p:nvPr/>
        </p:nvSpPr>
        <p:spPr>
          <a:xfrm>
            <a:off x="4278809" y="2492296"/>
            <a:ext cx="3380284" cy="1758553"/>
          </a:xfrm>
          <a:prstGeom prst="roundRect">
            <a:avLst>
              <a:gd name="adj" fmla="val 2791"/>
            </a:avLst>
          </a:prstGeom>
          <a:solidFill>
            <a:srgbClr val="F7F7F9"/>
          </a:solidFill>
          <a:ln w="6350">
            <a:solidFill>
              <a:srgbClr val="D8D8E0"/>
            </a:solidFill>
            <a:prstDash val="solid"/>
          </a:ln>
        </p:spPr>
        <p:txBody>
          <a:bodyPr/>
          <a:lstStyle/>
          <a:p/>
        </p:txBody>
      </p:sp>
      <p:sp>
        <p:nvSpPr>
          <p:cNvPr id="13" name="TextBox"/>
          <p:cNvSpPr txBox="1"/>
          <p:nvPr/>
        </p:nvSpPr>
        <p:spPr>
          <a:xfrm>
            <a:off x="4485184" y="2698671"/>
            <a:ext cx="3056560" cy="2996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800" b="1">
                <a:solidFill>
                  <a:srgbClr val="14141C"/>
                </a:solidFill>
                <a:latin typeface="Helvetica Neue"/>
              </a:rPr>
              <a:t>App-first journeys</a:t>
            </a:r>
          </a:p>
        </p:txBody>
      </p:sp>
      <p:sp>
        <p:nvSpPr>
          <p:cNvPr id="14" name="TextBox"/>
          <p:cNvSpPr txBox="1"/>
          <p:nvPr/>
        </p:nvSpPr>
        <p:spPr>
          <a:xfrm>
            <a:off x="4485184" y="3049112"/>
            <a:ext cx="3056560" cy="7719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0">
                <a:solidFill>
                  <a:srgbClr val="14141C"/>
                </a:solidFill>
                <a:latin typeface="Helvetica Neue"/>
              </a:rPr>
              <a:t>Sign-up via app stores and referral links, then daily app use without searching the name.</a:t>
            </a:r>
          </a:p>
        </p:txBody>
      </p:sp>
      <p:sp>
        <p:nvSpPr>
          <p:cNvPr id="15" name="RoundRect"/>
          <p:cNvSpPr/>
          <p:nvPr/>
        </p:nvSpPr>
        <p:spPr>
          <a:xfrm>
            <a:off x="7868741" y="2492296"/>
            <a:ext cx="3380284" cy="1758553"/>
          </a:xfrm>
          <a:prstGeom prst="roundRect">
            <a:avLst>
              <a:gd name="adj" fmla="val 2791"/>
            </a:avLst>
          </a:prstGeom>
          <a:solidFill>
            <a:srgbClr val="F7F7F9"/>
          </a:solidFill>
          <a:ln w="6350">
            <a:solidFill>
              <a:srgbClr val="D8D8E0"/>
            </a:solidFill>
            <a:prstDash val="solid"/>
          </a:ln>
        </p:spPr>
        <p:txBody>
          <a:bodyPr/>
          <a:lstStyle/>
          <a:p/>
        </p:txBody>
      </p:sp>
      <p:sp>
        <p:nvSpPr>
          <p:cNvPr id="16" name="TextBox"/>
          <p:cNvSpPr txBox="1"/>
          <p:nvPr/>
        </p:nvSpPr>
        <p:spPr>
          <a:xfrm>
            <a:off x="8075116" y="2698671"/>
            <a:ext cx="3056560" cy="2996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800" b="1">
                <a:solidFill>
                  <a:srgbClr val="14141C"/>
                </a:solidFill>
                <a:latin typeface="Helvetica Neue"/>
              </a:rPr>
              <a:t>Measurement floor</a:t>
            </a:r>
          </a:p>
        </p:txBody>
      </p:sp>
      <p:sp>
        <p:nvSpPr>
          <p:cNvPr id="17" name="TextBox"/>
          <p:cNvSpPr txBox="1"/>
          <p:nvPr/>
        </p:nvSpPr>
        <p:spPr>
          <a:xfrm>
            <a:off x="8075116" y="3049112"/>
            <a:ext cx="3056560" cy="7719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0">
                <a:solidFill>
                  <a:srgbClr val="14141C"/>
                </a:solidFill>
                <a:latin typeface="Helvetica Neue"/>
              </a:rPr>
              <a:t>Six brands never clear 10/100 in their own request; their share is partly rounding.</a:t>
            </a:r>
          </a:p>
        </p:txBody>
      </p:sp>
      <p:sp>
        <p:nvSpPr>
          <p:cNvPr id="18" name="TextBox"/>
          <p:cNvSpPr txBox="1"/>
          <p:nvPr/>
        </p:nvSpPr>
        <p:spPr>
          <a:xfrm>
            <a:off x="685800" y="4508024"/>
            <a:ext cx="10883392" cy="2996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800" b="1">
                <a:solidFill>
                  <a:srgbClr val="14141C"/>
                </a:solidFill>
                <a:latin typeface="Helvetica Neue"/>
              </a:rPr>
              <a:t>Read challenger shares as a floor on attention, not a customer count.</a:t>
            </a:r>
          </a:p>
        </p:txBody>
      </p:sp>
      <p:sp>
        <p:nvSpPr>
          <p:cNvPr id="19" name="TextBox"/>
          <p:cNvSpPr txBox="1"/>
          <p:nvPr/>
        </p:nvSpPr>
        <p:spPr>
          <a:xfrm>
            <a:off x="685800" y="623620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Customer figure: Belga News Agency, 11 Mar 2026 (retrieved 21 Sep 2026) · never compared to a market-share figure</a:t>
            </a:r>
          </a:p>
        </p:txBody>
      </p:sp>
      <p:sp>
        <p:nvSpPr>
          <p:cNvPr id="20" name="TextBox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21" name="TextBox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17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14141C"/>
                </a:solidFill>
                <a:latin typeface="Helvetica Neue"/>
              </a:rPr>
              <a:t>Strategic context and positioning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463040" cy="64008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881360" cy="38213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 dirty="0">
                <a:solidFill>
                  <a:srgbClr val="14141C"/>
                </a:solidFill>
                <a:latin typeface="Helvetica Neue"/>
              </a:rPr>
              <a:t>•  The hybrid model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 dirty="0">
                <a:solidFill>
                  <a:srgbClr val="585868"/>
                </a:solidFill>
                <a:latin typeface="Helvetica Neue"/>
              </a:rPr>
              <a:t>     ING blends the direct, feature-focused, mobile-first tone of a neobank with the institutional weight of a Tier-1 retail bank — regulatory authority and an established brand. 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 dirty="0">
                <a:solidFill>
                  <a:srgbClr val="FF0000"/>
                </a:solidFill>
                <a:latin typeface="Helvetica Neue"/>
              </a:rPr>
              <a:t>     Not yet verified against specific ING pages — confirm before presenting as a claim, not context.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 dirty="0">
                <a:solidFill>
                  <a:srgbClr val="14141C"/>
                </a:solidFill>
                <a:latin typeface="Helvetica Neue"/>
              </a:rPr>
              <a:t>•  A level playing field on regulation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 dirty="0">
                <a:solidFill>
                  <a:srgbClr val="585868"/>
                </a:solidFill>
                <a:latin typeface="Helvetica Neue"/>
              </a:rPr>
              <a:t>     Neobanks like Revolut hold the same European banking licenses and face the same Belgian compliance checks — including the mandatory CCP credit-registry query for consumer lending. Their speed comes from modern architecture, no branch network, and faster decision loops — not lighter rules.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 dirty="0">
                <a:solidFill>
                  <a:srgbClr val="14141C"/>
                </a:solidFill>
                <a:latin typeface="Helvetica Neue"/>
              </a:rPr>
              <a:t>•  Different monetization engines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 dirty="0">
                <a:solidFill>
                  <a:srgbClr val="585868"/>
                </a:solidFill>
                <a:latin typeface="Helvetica Neue"/>
              </a:rPr>
              <a:t>     Traditional banks have long used the basic current account as a loss leader — a produit d'appel — to acquire clients and monetize later through mortgages, insurance and wealth management. Neobanks flip that: transparent freemium tiers, paid subscriptions, and transactional FX / fee income, upfront.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 dirty="0">
                <a:solidFill>
                  <a:srgbClr val="14141C"/>
                </a:solidFill>
                <a:latin typeface="Helvetica Neue"/>
              </a:rPr>
              <a:t>•  Who each side is chasing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 dirty="0">
                <a:solidFill>
                  <a:srgbClr val="585868"/>
                </a:solidFill>
                <a:latin typeface="Helvetica Neue"/>
              </a:rPr>
              <a:t>     Neobanks win volume among young adults, digital nomads and casual spenders. ING's acquisition budget targets high lifetime-value segments instead: first-time investors, expats and high-net-worth individuals, and first-time buyers in mortgage and real estate. Professional and business banking is out of scope for this comparison — retail only.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145</TotalTime>
  <Words>3448</Words>
  <Application>Microsoft Office PowerPoint</Application>
  <PresentationFormat>Widescreen</PresentationFormat>
  <Paragraphs>231</Paragraphs>
  <Slides>31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5" baseType="lpstr">
      <vt:lpstr>Arial</vt:lpstr>
      <vt:lpstr>Calibri</vt:lpstr>
      <vt:lpstr>Helvetica Neue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Siegried Camus</cp:lastModifiedBy>
  <cp:revision>2</cp:revision>
  <dcterms:created xsi:type="dcterms:W3CDTF">2013-01-27T09:14:16Z</dcterms:created>
  <dcterms:modified xsi:type="dcterms:W3CDTF">2026-09-23T11:08:35Z</dcterms:modified>
  <cp:category/>
</cp:coreProperties>
</file>