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64" autoAdjust="0"/>
  </p:normalViewPr>
  <p:slideViewPr>
    <p:cSldViewPr snapToGrid="0" snapToObjects="1">
      <p:cViewPr varScale="1">
        <p:scale>
          <a:sx n="112" d="100"/>
          <a:sy n="112" d="100"/>
        </p:scale>
        <p:origin x="51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Dataset — 30 s. Écran : cette slide, puis bascule sur l'onglet Data.</a:t>
            </a:r>
          </a:p>
          <a:p/>
          <a:p>
            <a:r>
              <a:t>"So the question is whether that hybrid position shows up in how you actually communicate.</a:t>
            </a:r>
          </a:p>
          <a:p/>
          <a:p>
            <a:r>
              <a:t>51 pages, 14 banks, 6 product families, 104 documented features. We only ever compare within one product family — pages do different jobs. The headline runs on 18 current-account pages, 14 banks.</a:t>
            </a:r>
          </a:p>
          <a:p/>
          <a:p>
            <a:r>
              <a:t>Deciding what was relevant was part of the work."</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Strategic context — 50 s. Écran : cette slide. Tu les regardes, pas l'écran.</a:t>
            </a:r>
          </a:p>
          <a:p/>
          <a:p>
            <a:r>
              <a:t>"Three things frame this.</a:t>
            </a:r>
          </a:p>
          <a:p/>
          <a:p>
            <a:r>
              <a:t>ING is a hybrid. You carry the direct, feature-first, mobile-first tone of a neobank, and the institutional weight of a Tier-1 bank. That is a position, not an accident.</a:t>
            </a:r>
          </a:p>
          <a:p/>
          <a:p>
            <a:r>
              <a:t>The playing field is level on regulation. Neobanks' speed is architecture and no branches — not lighter European or compliance rules.</a:t>
            </a:r>
          </a:p>
          <a:p/>
          <a:p>
            <a:r>
              <a:t>Where you differ is the engine. Traditional banks use the current account as a loss leader and monetise later: mortgages, insurance, wealth. Neobanks monetise upfront — freemium tiers, subscriptions, "abonnements", FX. They chase volume among young adults and digital nomads. You chase lifetime value: expats, first-time investors, first-time buyers."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the analysis found — 70 s. Écran : onglet Home, le radar puis l'axe.</a:t>
            </a:r>
          </a:p>
          <a:p/>
          <a:p>
            <a:r>
              <a:t>"On the traditional–challenger axis ING scores 0.41. Belfius sits at 0.28 below you, Keytrade at 0.55 above — and Keytrade is a challenger. You are the last incumbent on the axis before the challengers begin: the most challenger-like traditional bank in Belgium. The hybrid is not a claim, it is a position on a line.</a:t>
            </a:r>
          </a:p>
          <a:p/>
          <a:p>
            <a:r>
              <a:t>Your targeting shows too. The personas named on your pack pages are mass market, student and expat. Across your whole page set, six of eight, including investor and retiree. The high-value segments are there in the copy.</a:t>
            </a:r>
          </a:p>
          <a:p/>
          <a:p>
            <a:r>
              <a:t>But three signals separate you from everyone, and all three are pressure. Deadline language, the largest gap in the set. Persuasion levers. And the offer reads as clearly worth having.</a:t>
            </a:r>
          </a:p>
          <a:p/>
          <a:p>
            <a:r>
              <a:t>On the pages we measured, you are the loudest bank in Belgium. Next to a top-five NPS irritator, that's the finding."</a:t>
            </a:r>
          </a:p>
          <a:p/>
          <a:p>
            <a:r>
              <a:t>SI LE RADAR EST À L'ÉCRAN, la ligne à dire : "Trust reads zero for thirteen banks of fourteen. That is measured, not missing — not one page in this family cites a branch network as a benefit, and the only two carrying an institutional or regulatory trust signal are Revolut's and bunq's. Both challengers. The asset a Tier-1 bank has and a neobank cannot copy is the one nobody is using on the page."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cannot support — 60 s. Écran : onglet Analysis, le bloc 104 → 33.</a:t>
            </a:r>
          </a:p>
          <a:p/>
          <a:p>
            <a:r>
              <a:t>"104 features in, 33 out. Every reduction is on screen.</a:t>
            </a:r>
          </a:p>
          <a:p/>
          <a:p>
            <a:r>
              <a:t>And five withdrawn outright, because they measured our tooling, not your pages.</a:t>
            </a:r>
          </a:p>
          <a:p/>
          <a:p>
            <a:r>
              <a:t>Calls to action: no counting rule held across fourteen banks. Navigation, repeated links, clickable cards — each bank marks them up differently.</a:t>
            </a:r>
          </a:p>
          <a:p/>
          <a:p>
            <a:r>
              <a:t>Animation: our rule asked whether the stylesheet declared an animation, not whether the page moves. Across eighteen pages, exactly one has real motion — Revolut, a video. Your kickoff deck said ING was the only traditional bank animating. That is now marked not testable, not disproved. We will not rule on it with a broken instrument.</a:t>
            </a:r>
          </a:p>
          <a:p/>
          <a:p>
            <a:r>
              <a:t>The fifth we found while rehearsing this: a feature that tested whether a page uses an HTML table element. Traditional banks do. N26 and Revolut build the same plan comparison in CSS. It was reporting a markup convention as a strategic difference.</a:t>
            </a:r>
          </a:p>
          <a:p/>
          <a:p>
            <a:r>
              <a:t>And one whole axis of our AI Score returns nothing.</a:t>
            </a:r>
          </a:p>
          <a:p/>
          <a:p>
            <a:r>
              <a:t>We would rather hand you 33 numbers we can defend."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Clôture — 30 s. Écran : onglet Recommendations.</a:t>
            </a:r>
          </a:p>
          <a:p/>
          <a:p>
            <a:r>
              <a:t>"What you keep is an instrument: 104 documented features, a frozen contract, a pipeline that re-runs from stored snapshots, 423 tests. The next comparison costs days, not weeks — including next September's state-bond wave.</a:t>
            </a:r>
          </a:p>
          <a:p/>
          <a:p>
            <a:r>
              <a:t>Ten prioritised changes came out of this run, each traced to a feature and a page. None is a performance claim — no click data exists, so each is a hypothesis you can test.</a:t>
            </a:r>
          </a:p>
          <a:p/>
          <a:p>
            <a:r>
              <a:t>It is a proof of concept. Your questions are the useful part."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b="0" dirty="0">
                <a:solidFill>
                  <a:srgbClr val="A8A8B8"/>
                </a:solidFill>
                <a:latin typeface="Helvetica Neue"/>
              </a:rPr>
              <a:t>Van 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33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txBody>
          <a:bodyPr/>
          <a:p/>
        </p:txBody>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33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txBody>
          <a:bodyPr/>
          <a:p/>
        </p:txBody>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txBody>
          <a:bodyPr/>
          <a:p/>
        </p:txBody>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txBody>
          <a:bodyPr/>
          <a:p/>
        </p:txBody>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txBody>
          <a:bodyPr/>
          <a:p/>
        </p:txBody>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txBody>
          <a:bodyPr/>
          <a:p/>
        </p:txBody>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txBody>
          <a:bodyPr/>
          <a:p/>
        </p:txBody>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txBody>
          <a:bodyPr/>
          <a:p/>
        </p:txBody>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txBody>
          <a:bodyPr/>
          <a:p/>
        </p:txBody>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txBody>
          <a:bodyPr/>
          <a:p/>
        </p:txBody>
      </p:sp>
      <p:pic>
        <p:nvPicPr>
          <p:cNvPr id="7" name="Image 0" descr="/Users/nstephane/Dev/AI_Data_Science_training/ing-usecase/docs/deck_assets/site_hero.png"/>
          <p:cNvPicPr>
            <a:picLocks noChangeAspect="1"/>
          </p:cNvPicPr>
          <p:nvPr/>
        </p:nvPicPr>
        <p:blipFill>
          <a:blip r:embed="rId3"/>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txBody>
          <a:bodyPr/>
          <a:p/>
        </p:txBody>
      </p:sp>
      <p:pic>
        <p:nvPicPr>
          <p:cNvPr id="9" name="Image 1" descr="/Users/nstephane/Dev/AI_Data_Science_training/ing-usecase/docs/deck_assets/site_explained.png"/>
          <p:cNvPicPr>
            <a:picLocks noChangeAspect="1"/>
          </p:cNvPicPr>
          <p:nvPr/>
        </p:nvPicPr>
        <p:blipFill>
          <a:blip r:embed="rId4"/>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5"/>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6"/>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7"/>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243</TotalTime>
  <Words>8268</Words>
  <Application>Microsoft Office PowerPoint</Application>
  <PresentationFormat>Widescreen</PresentationFormat>
  <Paragraphs>515</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6</cp:revision>
  <dcterms:created xsi:type="dcterms:W3CDTF">2013-01-27T09:14:16Z</dcterms:created>
  <dcterms:modified xsi:type="dcterms:W3CDTF">2026-09-24T10:58:34Z</dcterms:modified>
  <cp:category/>
</cp:coreProperties>
</file>