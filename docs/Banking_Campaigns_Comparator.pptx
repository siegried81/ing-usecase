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Lst>
  <p:notesMasterIdLst>
    <p:notesMasterId r:id="rId9000"/>
  </p:notesMaster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13" d="100"/>
          <a:sy n="113" d="100"/>
        </p:scale>
        <p:origin x="474" y="10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9000"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Ouverture — 1 min.</a:t>
            </a:r>
          </a:p>
          <a:p>
            <a:r>
              <a:rPr lang="en-US" dirty="0"/>
              <a:t>"As part of the ING DACI two-week POC, we set out to answer one question: how do Belgian banks communicate similar products on the open web, and what can ING learn from it? To move away from subjective design opinions, we built a fully reproducible, end-to-end measurement pipeline across 14 banks and 104 features. First disclaimer as guardrail before we start: we have zero click, conversion or performance data. Nothing here claims a design choice caused a commercial outcome - every recommendation is an argued hypothesis worth testing. Let's walk through what the data shows."</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we built - 45 s.</a:t>
            </a:r>
          </a:p>
          <a:p>
            <a:r>
              <a:rPr lang="en-US" dirty="0"/>
              <a:t>"One pipeline, one frozen contract, no second definition of any number: 51 pages, 14 banks, 6 product families. Automatic extraction where a machine can measure it, a human rubric where it's genuinely a judgement call, one web UI tying the two together. 420 automated tests guard it."</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pipeline - 30 s.</a:t>
            </a:r>
          </a:p>
          <a:p>
            <a:r>
              <a:rPr lang="en-US" dirty="0"/>
              <a:t>"Five stages: collect under a compliance gate, extract, derive, score, analyse. Every stage writes to the same frozen feature contract, so no number has a second definition anywhere in the chain."</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Dataset - 1 min.</a:t>
            </a:r>
          </a:p>
          <a:p>
            <a:r>
              <a:rPr lang="en-US" dirty="0"/>
              <a:t>"The comparison you'll see runs on eighteen of the 51 pages scored - the current-account pages - because comparing a mortgage page to a current-account page would measure the product, not the communication. The other thirty-three are scored and in the dataset, ready for the same comparison on savings or mortgages whenever you want it. Mostly Belgian French, with English and Dutch."</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Rubric scoring - 1 min 15.</a:t>
            </a:r>
          </a:p>
          <a:p>
            <a:r>
              <a:rPr lang="en-US" dirty="0"/>
              <a:t>"13 features are judgements, not measurements - clarity of the offer, layout, persuasion technique. Only one human judge for this pass, and I say so plainly rather than dressing a single opinion up as a consensus.</a:t>
            </a:r>
          </a:p>
          <a:p>
            <a:r>
              <a:rPr lang="en-US" dirty="0"/>
              <a:t>We also have a model sheet, written to its own file and never into a human one. But it is not a second opinion, because our pinned model reads text; it has no vision. And 12 of our 13 judged features are defined in the dictionary as judged from the screenshot. Only one - formality - can honestly be scored from text, and there the model lands within one point of the human seventy-three percent of the time. On the 12 visual ones, its answers are confident answers to a question the text cannot always settle: on value proposition clarity it ranked the pages close to the opposite of the human.</a:t>
            </a:r>
          </a:p>
          <a:p>
            <a:r>
              <a:rPr lang="en-US" dirty="0"/>
              <a:t>So we keep it as a reference and we do not average it in. That's the difference between using a model and trusting it."</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Strategic Context - 1 min 30.</a:t>
            </a:r>
          </a:p>
          <a:p>
            <a:r>
              <a:rPr lang="en-US" dirty="0"/>
              <a:t>"Before the numbers, some context on how these banks actually compete. ING sits at the near intersection of traditional institutions and digital natives - the direct, feature-focused, mobile-first tone of a neobank, campaigns like 'Do Your Thing', with the regulatory authority and established brand of a Tier-1 retail bank.</a:t>
            </a:r>
          </a:p>
          <a:p>
            <a:r>
              <a:rPr lang="en-US" dirty="0"/>
              <a:t>And contrary to a common assumption: neobanks like Revolut aren't operating with fewer rules. Same European banking licences, same Belgian compliance checks. Their speed isn't regulatory shortcuts, it's architecture: modern systems, no branch network, faster decision loops.</a:t>
            </a:r>
          </a:p>
          <a:p>
            <a:r>
              <a:rPr lang="en-US" dirty="0"/>
              <a:t>That shows up in how each side makes money. Traditional banks have long used the basic current account as a loss leader to bring someone in and monetize later through mortgages, insurance, wealth management. Neobanks flip it: freemium tiers, free or paid subscriptions, FX and fee income, upfront.</a:t>
            </a:r>
          </a:p>
          <a:p>
            <a:r>
              <a:rPr lang="en-US" dirty="0"/>
              <a:t>And the targeting differs. Neobanks win volume at the top of the funnel - young adults, digital nomads, casual spenders. ING's budget concentrates on high lifetime-value segments: first-time investors, expats and high-net-worth individuals, first-time buyers. Professional and business banking is out of scope here - retail only."</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analysis found - 1 min 30.</a:t>
            </a:r>
          </a:p>
          <a:p>
            <a:r>
              <a:rPr lang="en-US" dirty="0"/>
              <a:t>"On current-account packs: 18 pages, 14 banks.</a:t>
            </a:r>
          </a:p>
          <a:p>
            <a:r>
              <a:rPr lang="en-US" dirty="0"/>
              <a:t>ING sits clearly with the traditional banks - positioning score 0.28, nearest neighbour Belfius.</a:t>
            </a:r>
          </a:p>
          <a:p>
            <a:r>
              <a:rPr lang="en-US" dirty="0"/>
              <a:t>Its largest gap, above every other bank in the set: deadline language. Four dated deadlines per page against a peer average of 0.6. ING is the only bank in this dataset whose captured pages carry an expiry date at all - every date on a competitor page is an effective-from date or a cookie-policy timestamp.</a:t>
            </a:r>
          </a:p>
          <a:p>
            <a:r>
              <a:rPr lang="en-US" dirty="0"/>
              <a:t>Then persuasion technique density, 3.7 against 1.7. Clarity of the value proposition, 5.0 against 3.7. A fast-digital-onboarding claim four times more frequent than peers. Pages roughly twice as long, 11,000 pixels against 6,400.</a:t>
            </a:r>
          </a:p>
          <a:p>
            <a:r>
              <a:rPr lang="en-US" dirty="0"/>
              <a:t>One place we're deliberately not giving you a number: calls to action. ING's pack cards load client-side and aren't in our captured HTML, so any count would measure our capture, not the page. We'd rather withhold it than report it."</a:t>
            </a:r>
          </a:p>
          <a:p>
            <a:r>
              <a:rPr lang="en-US" dirty="0"/>
              <a:t>CROSS-SELL, spoken, 30 s: "One human observation, labelled as such because our features don't capture it: ING pushes cross-sell noticeably harder - insurance grids, simulators on almost every page, Amazon Prime and cashback in the pack. What we can't measure yet is intensity. That's a feature worth adding, not a claim I'll make from a number today."</a:t>
            </a:r>
          </a:p>
          <a:p>
            <a:r>
              <a:rPr lang="en-US" dirty="0"/>
              <a:t>Then: Dan takes slides 9-12, trends, about 2 min. Stephane takes 13-17, recommendations and site, about 2 min 30.</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Limitations - 30 s.</a:t>
            </a:r>
          </a:p>
          <a:p>
            <a:r>
              <a:rPr lang="en-US" dirty="0"/>
              <a:t>"Because we have no performance data, everything you've heard stays a hypothesis, not a verdict. That's the honest limit of this exercise, not a hedge."</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Cloture - 45 s.</a:t>
            </a:r>
          </a:p>
          <a:p>
            <a:r>
              <a:rPr lang="en-US" dirty="0"/>
              <a:t>"What we built over two weeks isn't a set of creative opinions, it's a repeatable measurement engine. It gives ING a clear, data-backed view of where its pages stand against 13 competitors - the strongest urgency and persuasion density in the market, a clear lead in value-proposition clarity, visible strength in cross-sell and free simulators. And because we have no conversion data, we don't claim absolute verdicts - every finding is transparent, testable, ready for ING to validate. Measure one way. Label the trust. Claim only what the data supports."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9/24/2026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9/24/2026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9/24/2026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9/24/2026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 Id="rId3"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2.xml"/><Relationship Id="rId5" Type="http://schemas.openxmlformats.org/officeDocument/2006/relationships/image" Target="../media/image5.png"/><Relationship Id="rId4" Type="http://schemas.openxmlformats.org/officeDocument/2006/relationships/image" Target="../media/image4.png"/></Relationships>
</file>

<file path=ppt/slides/_rels/slide1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6.png"/><Relationship Id="rId1" Type="http://schemas.openxmlformats.org/officeDocument/2006/relationships/slideLayout" Target="../slideLayouts/slideLayout12.xml"/><Relationship Id="rId5" Type="http://schemas.openxmlformats.org/officeDocument/2006/relationships/image" Target="../media/image5.png"/><Relationship Id="rId4" Type="http://schemas.openxmlformats.org/officeDocument/2006/relationships/image" Target="../media/image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12.xml"/><Relationship Id="rId6" Type="http://schemas.openxmlformats.org/officeDocument/2006/relationships/image" Target="../media/image4.png"/><Relationship Id="rId5" Type="http://schemas.openxmlformats.org/officeDocument/2006/relationships/image" Target="../media/image10.png"/><Relationship Id="rId4" Type="http://schemas.openxmlformats.org/officeDocument/2006/relationships/image" Target="../media/image9.png"/></Relationships>
</file>

<file path=ppt/slides/_rels/slide17.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1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414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822960" y="2331720"/>
            <a:ext cx="2011680" cy="91440"/>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051560"/>
            <a:ext cx="10515600" cy="1280160"/>
          </a:xfrm>
          <a:prstGeom prst="rect">
            <a:avLst/>
          </a:prstGeom>
          <a:noFill/>
        </p:spPr>
        <p:txBody>
          <a:bodyPr wrap="square">
            <a:spAutoFit/>
          </a:bodyPr>
          <a:lstStyle/>
          <a:p>
            <a:pPr algn="l">
              <a:lnSpc>
                <a:spcPct val="105000"/>
              </a:lnSpc>
              <a:spcAft>
                <a:spcPts val="600"/>
              </a:spcAft>
            </a:pPr>
            <a:r>
              <a:rPr sz="4400" b="1">
                <a:solidFill>
                  <a:srgbClr val="FFFFFF"/>
                </a:solidFill>
                <a:latin typeface="Helvetica Neue"/>
              </a:rPr>
              <a:t>Banking Campaigns Comparator</a:t>
            </a:r>
          </a:p>
        </p:txBody>
      </p:sp>
      <p:sp>
        <p:nvSpPr>
          <p:cNvPr id="5" name="TextBox 4"/>
          <p:cNvSpPr txBox="1"/>
          <p:nvPr/>
        </p:nvSpPr>
        <p:spPr>
          <a:xfrm>
            <a:off x="822960" y="2606040"/>
            <a:ext cx="10058400" cy="1097280"/>
          </a:xfrm>
          <a:prstGeom prst="rect">
            <a:avLst/>
          </a:prstGeom>
          <a:noFill/>
        </p:spPr>
        <p:txBody>
          <a:bodyPr wrap="square">
            <a:spAutoFit/>
          </a:bodyPr>
          <a:lstStyle/>
          <a:p>
            <a:pPr algn="l">
              <a:lnSpc>
                <a:spcPct val="105000"/>
              </a:lnSpc>
              <a:spcAft>
                <a:spcPts val="600"/>
              </a:spcAft>
            </a:pPr>
            <a:r>
              <a:rPr sz="2000" b="0">
                <a:solidFill>
                  <a:srgbClr val="D8D8E0"/>
                </a:solidFill>
                <a:latin typeface="Helvetica Neue"/>
              </a:rPr>
              <a:t>How Belgian banks communicate similar products differently,</a:t>
            </a:r>
          </a:p>
          <a:p>
            <a:pPr algn="l">
              <a:lnSpc>
                <a:spcPct val="105000"/>
              </a:lnSpc>
              <a:spcAft>
                <a:spcPts val="600"/>
              </a:spcAft>
            </a:pPr>
            <a:r>
              <a:rPr sz="2000" b="0">
                <a:solidFill>
                  <a:srgbClr val="D8D8E0"/>
                </a:solidFill>
                <a:latin typeface="Helvetica Neue"/>
              </a:rPr>
              <a:t>and what ING can learn from it.</a:t>
            </a:r>
          </a:p>
        </p:txBody>
      </p:sp>
      <p:sp>
        <p:nvSpPr>
          <p:cNvPr id="6" name="TextBox 5"/>
          <p:cNvSpPr txBox="1"/>
          <p:nvPr/>
        </p:nvSpPr>
        <p:spPr>
          <a:xfrm>
            <a:off x="822960" y="4114800"/>
            <a:ext cx="10058400" cy="1280160"/>
          </a:xfrm>
          <a:prstGeom prst="rect">
            <a:avLst/>
          </a:prstGeom>
          <a:noFill/>
        </p:spPr>
        <p:txBody>
          <a:bodyPr wrap="square">
            <a:spAutoFit/>
          </a:bodyPr>
          <a:lstStyle/>
          <a:p>
            <a:pPr algn="l">
              <a:lnSpc>
                <a:spcPct val="105000"/>
              </a:lnSpc>
              <a:spcAft>
                <a:spcPts val="400"/>
              </a:spcAft>
            </a:pPr>
            <a:r>
              <a:rPr sz="1300" b="0" dirty="0">
                <a:solidFill>
                  <a:srgbClr val="A8A8B8"/>
                </a:solidFill>
                <a:latin typeface="Helvetica Neue"/>
              </a:rPr>
              <a:t>Two-week proof of concept for ING DACI / Customer AI</a:t>
            </a:r>
          </a:p>
          <a:p>
            <a:pPr algn="l">
              <a:lnSpc>
                <a:spcPct val="105000"/>
              </a:lnSpc>
              <a:spcAft>
                <a:spcPts val="400"/>
              </a:spcAft>
            </a:pPr>
            <a:r>
              <a:rPr sz="1300" b="0" dirty="0">
                <a:solidFill>
                  <a:srgbClr val="A8A8B8"/>
                </a:solidFill>
                <a:latin typeface="Helvetica Neue"/>
              </a:rPr>
              <a:t>Siegried (marketing framework) · Dan (collection, extraction) · Stephane (analysis, </a:t>
            </a:r>
            <a:r>
              <a:rPr sz="1300" b="0" dirty="0" err="1">
                <a:solidFill>
                  <a:srgbClr val="A8A8B8"/>
                </a:solidFill>
                <a:latin typeface="Helvetica Neue"/>
              </a:rPr>
              <a:t>GenAI</a:t>
            </a:r>
            <a:r>
              <a:rPr sz="1300" b="0" dirty="0">
                <a:solidFill>
                  <a:srgbClr val="A8A8B8"/>
                </a:solidFill>
                <a:latin typeface="Helvetica Neue"/>
              </a:rPr>
              <a:t>)</a:t>
            </a:r>
          </a:p>
          <a:p>
            <a:pPr algn="l">
              <a:lnSpc>
                <a:spcPct val="105000"/>
              </a:lnSpc>
              <a:spcAft>
                <a:spcPts val="400"/>
              </a:spcAft>
            </a:pPr>
            <a:r>
              <a:rPr sz="1300" b="0" dirty="0">
                <a:solidFill>
                  <a:srgbClr val="A8A8B8"/>
                </a:solidFill>
                <a:latin typeface="Helvetica Neue"/>
              </a:rPr>
              <a:t>14 – 25 September 2026 · 14 banks · 18 current-account pages of 52 collected · 104 features</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The brief, and the constraint that shapes everything</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200"/>
              </a:spcAft>
            </a:pPr>
            <a:r>
              <a:rPr sz="1500" b="1" dirty="0">
                <a:solidFill>
                  <a:srgbClr val="14141C"/>
                </a:solidFill>
                <a:latin typeface="Helvetica Neue"/>
              </a:rPr>
              <a:t>•  Compare how Belgian banks communicate comparable products</a:t>
            </a:r>
          </a:p>
          <a:p>
            <a:pPr algn="l">
              <a:lnSpc>
                <a:spcPct val="105000"/>
              </a:lnSpc>
              <a:spcAft>
                <a:spcPts val="1000"/>
              </a:spcAft>
            </a:pPr>
            <a:r>
              <a:rPr sz="1300" b="0" dirty="0">
                <a:solidFill>
                  <a:srgbClr val="585868"/>
                </a:solidFill>
                <a:latin typeface="Helvetica Neue"/>
              </a:rPr>
              <a:t>     Campaign pages only: the open web, one language, one product family at a time.</a:t>
            </a:r>
          </a:p>
          <a:p>
            <a:pPr algn="l">
              <a:lnSpc>
                <a:spcPct val="105000"/>
              </a:lnSpc>
              <a:spcAft>
                <a:spcPts val="200"/>
              </a:spcAft>
            </a:pPr>
            <a:r>
              <a:rPr sz="1500" b="1" dirty="0">
                <a:solidFill>
                  <a:srgbClr val="14141C"/>
                </a:solidFill>
                <a:latin typeface="Helvetica Neue"/>
              </a:rPr>
              <a:t>•  Turn that comparison into advice ING can act on</a:t>
            </a:r>
          </a:p>
          <a:p>
            <a:pPr algn="l">
              <a:lnSpc>
                <a:spcPct val="105000"/>
              </a:lnSpc>
              <a:spcAft>
                <a:spcPts val="1000"/>
              </a:spcAft>
            </a:pPr>
            <a:r>
              <a:rPr sz="1300" b="0" dirty="0">
                <a:solidFill>
                  <a:srgbClr val="585868"/>
                </a:solidFill>
                <a:latin typeface="Helvetica Neue"/>
              </a:rPr>
              <a:t>     Measured differences, argued from named features — not opinion dressed as data.</a:t>
            </a:r>
          </a:p>
          <a:p>
            <a:pPr algn="l">
              <a:lnSpc>
                <a:spcPct val="105000"/>
              </a:lnSpc>
              <a:spcAft>
                <a:spcPts val="200"/>
              </a:spcAft>
            </a:pPr>
            <a:r>
              <a:rPr sz="1500" b="1" dirty="0">
                <a:solidFill>
                  <a:srgbClr val="14141C"/>
                </a:solidFill>
                <a:latin typeface="Helvetica Neue"/>
              </a:rPr>
              <a:t>•  The hard constraint: no performance data exists</a:t>
            </a:r>
          </a:p>
          <a:p>
            <a:pPr algn="l">
              <a:lnSpc>
                <a:spcPct val="105000"/>
              </a:lnSpc>
              <a:spcAft>
                <a:spcPts val="1000"/>
              </a:spcAft>
            </a:pPr>
            <a:r>
              <a:rPr sz="1300" b="0" dirty="0">
                <a:solidFill>
                  <a:srgbClr val="585868"/>
                </a:solidFill>
                <a:latin typeface="Helvetica Neue"/>
              </a:rPr>
              <a:t>     No clicks, no conversions, no sales. So nothing here may claim that a design choice caused an outcome.</a:t>
            </a:r>
          </a:p>
          <a:p>
            <a:pPr algn="l">
              <a:lnSpc>
                <a:spcPct val="105000"/>
              </a:lnSpc>
              <a:spcAft>
                <a:spcPts val="200"/>
              </a:spcAft>
            </a:pPr>
            <a:r>
              <a:rPr sz="1500" b="1" dirty="0">
                <a:solidFill>
                  <a:srgbClr val="14141C"/>
                </a:solidFill>
                <a:latin typeface="Helvetica Neue"/>
              </a:rPr>
              <a:t>•  Therefore every recommendation is a hypothesis to test</a:t>
            </a:r>
          </a:p>
          <a:p>
            <a:pPr algn="l">
              <a:lnSpc>
                <a:spcPct val="105000"/>
              </a:lnSpc>
              <a:spcAft>
                <a:spcPts val="1000"/>
              </a:spcAft>
            </a:pPr>
            <a:r>
              <a:rPr sz="1300" b="0" dirty="0">
                <a:solidFill>
                  <a:srgbClr val="585868"/>
                </a:solidFill>
                <a:latin typeface="Helvetica Neue"/>
              </a:rPr>
              <a:t>     The project's value is a defensible, repeatable measurement — and an honest statement of its limits.</a:t>
            </a:r>
          </a:p>
          <a:p>
            <a:pPr algn="l">
              <a:lnSpc>
                <a:spcPct val="105000"/>
              </a:lnSpc>
              <a:spcAft>
                <a:spcPts val="200"/>
              </a:spcAft>
            </a:pPr>
            <a:endParaRPr sz="1300" b="0" dirty="0">
              <a:solidFill>
                <a:srgbClr val="585868"/>
              </a:solidFill>
              <a:latin typeface="Helvetica Neue"/>
            </a:endParaRPr>
          </a:p>
          <a:p>
            <a:pPr algn="l">
              <a:lnSpc>
                <a:spcPct val="105000"/>
              </a:lnSpc>
              <a:spcAft>
                <a:spcPts val="0"/>
              </a:spcAft>
            </a:pPr>
            <a:r>
              <a:rPr sz="1250" b="0" dirty="0">
                <a:solidFill>
                  <a:srgbClr val="585868"/>
                </a:solidFill>
                <a:latin typeface="Helvetica Neue"/>
              </a:rPr>
              <a:t>This single constraint drives the guardrails you will see on every slide that follows.</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What we built, end to end</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900"/>
              </a:spcAft>
            </a:pPr>
            <a:r>
              <a:rPr sz="1500" b="0" dirty="0">
                <a:solidFill>
                  <a:srgbClr val="14141C"/>
                </a:solidFill>
                <a:latin typeface="Helvetica Neue"/>
              </a:rPr>
              <a:t>•  A measurement pipeline: 14 banks, 51 pages across 6 product families (18 of them current-account), 104 declared features, one frozen contract.</a:t>
            </a:r>
          </a:p>
          <a:p>
            <a:pPr algn="l">
              <a:lnSpc>
                <a:spcPct val="105000"/>
              </a:lnSpc>
              <a:spcAft>
                <a:spcPts val="900"/>
              </a:spcAft>
            </a:pPr>
            <a:r>
              <a:rPr sz="1500" b="0" dirty="0">
                <a:solidFill>
                  <a:srgbClr val="14141C"/>
                </a:solidFill>
                <a:latin typeface="Helvetica Neue"/>
              </a:rPr>
              <a:t>•  A scoring workflow: automatic extraction, model-assisted extraction, and a human rubric for the 13 judgement features.</a:t>
            </a:r>
          </a:p>
          <a:p>
            <a:pPr algn="l">
              <a:lnSpc>
                <a:spcPct val="105000"/>
              </a:lnSpc>
              <a:spcAft>
                <a:spcPts val="900"/>
              </a:spcAft>
            </a:pPr>
            <a:r>
              <a:rPr sz="1500" b="0" dirty="0">
                <a:solidFill>
                  <a:srgbClr val="14141C"/>
                </a:solidFill>
                <a:latin typeface="Helvetica Neue"/>
              </a:rPr>
              <a:t>•  An analysis library: positioning, similarity, category comparison, AI score, cross-sell, plus generated limitations.</a:t>
            </a:r>
          </a:p>
          <a:p>
            <a:pPr algn="l">
              <a:lnSpc>
                <a:spcPct val="105000"/>
              </a:lnSpc>
              <a:spcAft>
                <a:spcPts val="900"/>
              </a:spcAft>
            </a:pPr>
            <a:r>
              <a:rPr sz="1500" b="0" dirty="0">
                <a:solidFill>
                  <a:srgbClr val="14141C"/>
                </a:solidFill>
                <a:latin typeface="Helvetica Neue"/>
              </a:rPr>
              <a:t>•  One web UI with ten tabs: four business views (Analysis, Trends, Reputation, Recommendations), the generated-site builder, and six read-only operator views carried over from the </a:t>
            </a:r>
            <a:r>
              <a:rPr sz="1500" b="0" dirty="0" err="1">
                <a:solidFill>
                  <a:srgbClr val="14141C"/>
                </a:solidFill>
                <a:latin typeface="Helvetica Neue"/>
              </a:rPr>
              <a:t>Streamlit</a:t>
            </a:r>
            <a:r>
              <a:rPr sz="1500" b="0" dirty="0">
                <a:solidFill>
                  <a:srgbClr val="14141C"/>
                </a:solidFill>
                <a:latin typeface="Helvetica Neue"/>
              </a:rPr>
              <a:t> dashboard.</a:t>
            </a:r>
          </a:p>
          <a:p>
            <a:pPr algn="l">
              <a:lnSpc>
                <a:spcPct val="105000"/>
              </a:lnSpc>
              <a:spcAft>
                <a:spcPts val="900"/>
              </a:spcAft>
            </a:pPr>
            <a:r>
              <a:rPr sz="1500" b="0" dirty="0">
                <a:solidFill>
                  <a:srgbClr val="14141C"/>
                </a:solidFill>
                <a:latin typeface="Helvetica Neue"/>
              </a:rPr>
              <a:t>•  Two optional signals, both fenced off from the performance claim: search interest, and news themes.</a:t>
            </a:r>
          </a:p>
          <a:p>
            <a:pPr algn="l">
              <a:lnSpc>
                <a:spcPct val="105000"/>
              </a:lnSpc>
              <a:spcAft>
                <a:spcPts val="900"/>
              </a:spcAft>
            </a:pPr>
            <a:r>
              <a:rPr sz="1500" b="0" dirty="0">
                <a:solidFill>
                  <a:srgbClr val="14141C"/>
                </a:solidFill>
                <a:latin typeface="Helvetica Neue"/>
              </a:rPr>
              <a:t>•  A generated ING website: ten pages built from the selected recommendations — an illustration of what a recommendation means in practice, not a proposal for ING's own site.</a:t>
            </a:r>
          </a:p>
          <a:p>
            <a:pPr algn="l">
              <a:lnSpc>
                <a:spcPct val="105000"/>
              </a:lnSpc>
              <a:spcAft>
                <a:spcPts val="200"/>
              </a:spcAft>
            </a:pPr>
            <a:endParaRPr sz="1500" b="0" dirty="0">
              <a:solidFill>
                <a:srgbClr val="14141C"/>
              </a:solidFill>
              <a:latin typeface="Helvetica Neue"/>
            </a:endParaRPr>
          </a:p>
          <a:p>
            <a:pPr algn="l">
              <a:lnSpc>
                <a:spcPct val="105000"/>
              </a:lnSpc>
              <a:spcAft>
                <a:spcPts val="0"/>
              </a:spcAft>
            </a:pPr>
            <a:r>
              <a:rPr sz="1250" b="0" dirty="0">
                <a:solidFill>
                  <a:srgbClr val="585868"/>
                </a:solidFill>
                <a:latin typeface="Helvetica Neue"/>
              </a:rPr>
              <a:t>Each of those pieces is the next few slides; the pipeline diagram overleaf is the map.</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The pipeline, end to end</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diagram_pipeline.png"/>
          <p:cNvPicPr>
            <a:picLocks noChangeAspect="1"/>
          </p:cNvPicPr>
          <p:nvPr/>
        </p:nvPicPr>
        <p:blipFill>
          <a:blip r:embed="rId2"/>
          <a:stretch>
            <a:fillRect/>
          </a:stretch>
        </p:blipFill>
        <p:spPr>
          <a:xfrm>
            <a:off x="1828647" y="1325880"/>
            <a:ext cx="8534400" cy="4800600"/>
          </a:xfrm>
          <a:prstGeom prst="rect">
            <a:avLst/>
          </a:prstGeom>
        </p:spPr>
      </p:pic>
      <p:sp>
        <p:nvSpPr>
          <p:cNvPr id="5" name="TextBox 4"/>
          <p:cNvSpPr txBox="1"/>
          <p:nvPr/>
        </p:nvSpPr>
        <p:spPr>
          <a:xfrm>
            <a:off x="685800" y="623620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One direction, five stages. Every arrow is a script that can be re-run; the guardrail band holds at every stage.</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The dataset behind this analysis</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3464025"/>
          </a:xfrm>
          <a:prstGeom prst="rect">
            <a:avLst/>
          </a:prstGeom>
          <a:noFill/>
        </p:spPr>
        <p:txBody>
          <a:bodyPr wrap="square">
            <a:spAutoFit/>
          </a:bodyPr>
          <a:lstStyle/>
          <a:p>
            <a:pPr algn="l">
              <a:lnSpc>
                <a:spcPct val="105000"/>
              </a:lnSpc>
              <a:spcAft>
                <a:spcPts val="200"/>
              </a:spcAft>
            </a:pPr>
            <a:r>
              <a:rPr sz="1500" b="1" dirty="0">
                <a:solidFill>
                  <a:srgbClr val="14141C"/>
                </a:solidFill>
                <a:latin typeface="Helvetica Neue"/>
              </a:rPr>
              <a:t>•  51 pages collected and scored across 6 product families; this comparison runs on the 18 current-account pages, 14 banks, 36 comparable features</a:t>
            </a:r>
          </a:p>
          <a:p>
            <a:pPr algn="l">
              <a:lnSpc>
                <a:spcPct val="105000"/>
              </a:lnSpc>
              <a:spcAft>
                <a:spcPts val="1000"/>
              </a:spcAft>
            </a:pPr>
            <a:r>
              <a:rPr sz="1300" b="0" dirty="0">
                <a:solidFill>
                  <a:srgbClr val="585868"/>
                </a:solidFill>
                <a:latin typeface="Helvetica Neue"/>
              </a:rPr>
              <a:t>     </a:t>
            </a:r>
            <a:r>
              <a:rPr sz="1300" b="0" dirty="0" err="1">
                <a:solidFill>
                  <a:srgbClr val="585868"/>
                </a:solidFill>
                <a:latin typeface="Helvetica Neue"/>
              </a:rPr>
              <a:t>Argenta</a:t>
            </a:r>
            <a:r>
              <a:rPr sz="1300" b="0" dirty="0">
                <a:solidFill>
                  <a:srgbClr val="585868"/>
                </a:solidFill>
                <a:latin typeface="Helvetica Neue"/>
              </a:rPr>
              <a:t> · Belfius · </a:t>
            </a:r>
            <a:r>
              <a:rPr sz="1300" b="0" dirty="0" err="1">
                <a:solidFill>
                  <a:srgbClr val="585868"/>
                </a:solidFill>
                <a:latin typeface="Helvetica Neue"/>
              </a:rPr>
              <a:t>Beobank</a:t>
            </a:r>
            <a:r>
              <a:rPr sz="1300" b="0" dirty="0">
                <a:solidFill>
                  <a:srgbClr val="585868"/>
                </a:solidFill>
                <a:latin typeface="Helvetica Neue"/>
              </a:rPr>
              <a:t> · BNP Paribas Fortis · </a:t>
            </a:r>
            <a:r>
              <a:rPr sz="1300" b="0" dirty="0" err="1">
                <a:solidFill>
                  <a:srgbClr val="585868"/>
                </a:solidFill>
                <a:latin typeface="Helvetica Neue"/>
              </a:rPr>
              <a:t>bunq</a:t>
            </a:r>
            <a:r>
              <a:rPr sz="1300" b="0" dirty="0">
                <a:solidFill>
                  <a:srgbClr val="585868"/>
                </a:solidFill>
                <a:latin typeface="Helvetica Neue"/>
              </a:rPr>
              <a:t> · CBC · </a:t>
            </a:r>
            <a:r>
              <a:rPr sz="1300" b="0" dirty="0" err="1">
                <a:solidFill>
                  <a:srgbClr val="585868"/>
                </a:solidFill>
                <a:latin typeface="Helvetica Neue"/>
              </a:rPr>
              <a:t>Crelan</a:t>
            </a:r>
            <a:r>
              <a:rPr sz="1300" b="0" dirty="0">
                <a:solidFill>
                  <a:srgbClr val="585868"/>
                </a:solidFill>
                <a:latin typeface="Helvetica Neue"/>
              </a:rPr>
              <a:t> · </a:t>
            </a:r>
            <a:r>
              <a:rPr sz="1300" b="0" dirty="0" err="1">
                <a:solidFill>
                  <a:srgbClr val="585868"/>
                </a:solidFill>
                <a:latin typeface="Helvetica Neue"/>
              </a:rPr>
              <a:t>Hellobank</a:t>
            </a:r>
            <a:r>
              <a:rPr sz="1300" b="0" dirty="0">
                <a:solidFill>
                  <a:srgbClr val="585868"/>
                </a:solidFill>
                <a:latin typeface="Helvetica Neue"/>
              </a:rPr>
              <a:t> · ING · KBC · </a:t>
            </a:r>
            <a:r>
              <a:rPr sz="1300" b="0" dirty="0" err="1">
                <a:solidFill>
                  <a:srgbClr val="585868"/>
                </a:solidFill>
                <a:latin typeface="Helvetica Neue"/>
              </a:rPr>
              <a:t>Keytrade</a:t>
            </a:r>
            <a:r>
              <a:rPr sz="1300" b="0" dirty="0">
                <a:solidFill>
                  <a:srgbClr val="585868"/>
                </a:solidFill>
                <a:latin typeface="Helvetica Neue"/>
              </a:rPr>
              <a:t> · N26 · </a:t>
            </a:r>
            <a:r>
              <a:rPr sz="1300" b="0" dirty="0" err="1">
                <a:solidFill>
                  <a:srgbClr val="585868"/>
                </a:solidFill>
                <a:latin typeface="Helvetica Neue"/>
              </a:rPr>
              <a:t>Revolut</a:t>
            </a:r>
            <a:r>
              <a:rPr sz="1300" b="0" dirty="0">
                <a:solidFill>
                  <a:srgbClr val="585868"/>
                </a:solidFill>
                <a:latin typeface="Helvetica Neue"/>
              </a:rPr>
              <a:t> · </a:t>
            </a:r>
            <a:r>
              <a:rPr sz="1300" b="0" dirty="0" err="1">
                <a:solidFill>
                  <a:srgbClr val="585868"/>
                </a:solidFill>
                <a:latin typeface="Helvetica Neue"/>
              </a:rPr>
              <a:t>Vdk</a:t>
            </a:r>
            <a:endParaRPr sz="1300" b="0" dirty="0">
              <a:solidFill>
                <a:srgbClr val="585868"/>
              </a:solidFill>
              <a:latin typeface="Helvetica Neue"/>
            </a:endParaRPr>
          </a:p>
          <a:p>
            <a:pPr algn="l">
              <a:lnSpc>
                <a:spcPct val="105000"/>
              </a:lnSpc>
              <a:spcAft>
                <a:spcPts val="200"/>
              </a:spcAft>
            </a:pPr>
            <a:r>
              <a:rPr sz="1500" b="1" dirty="0">
                <a:solidFill>
                  <a:srgbClr val="14141C"/>
                </a:solidFill>
                <a:latin typeface="Helvetica Neue"/>
              </a:rPr>
              <a:t>•  Mostly Belgian French — plus two English pages and one Dutch</a:t>
            </a:r>
          </a:p>
          <a:p>
            <a:pPr algn="l">
              <a:lnSpc>
                <a:spcPct val="105000"/>
              </a:lnSpc>
              <a:spcAft>
                <a:spcPts val="1000"/>
              </a:spcAft>
            </a:pPr>
            <a:r>
              <a:rPr sz="1300" b="0" dirty="0">
                <a:solidFill>
                  <a:srgbClr val="585868"/>
                </a:solidFill>
                <a:latin typeface="Helvetica Neue"/>
              </a:rPr>
              <a:t>     Word counts and readability are within-language features, so with more than one language present the comparison drops eight of them rather than compare across languages. </a:t>
            </a:r>
            <a:endParaRPr lang="fr-FR" sz="1300" b="0" dirty="0">
              <a:solidFill>
                <a:srgbClr val="585868"/>
              </a:solidFill>
              <a:latin typeface="Helvetica Neue"/>
            </a:endParaRPr>
          </a:p>
          <a:p>
            <a:pPr algn="l">
              <a:lnSpc>
                <a:spcPct val="105000"/>
              </a:lnSpc>
              <a:spcAft>
                <a:spcPts val="1000"/>
              </a:spcAft>
            </a:pPr>
            <a:r>
              <a:rPr sz="1500" b="1" dirty="0">
                <a:solidFill>
                  <a:srgbClr val="14141C"/>
                </a:solidFill>
                <a:latin typeface="Helvetica Neue"/>
              </a:rPr>
              <a:t>•  Split for like-for-like comparison</a:t>
            </a:r>
          </a:p>
          <a:p>
            <a:pPr algn="l">
              <a:lnSpc>
                <a:spcPct val="105000"/>
              </a:lnSpc>
              <a:spcAft>
                <a:spcPts val="1000"/>
              </a:spcAft>
            </a:pPr>
            <a:r>
              <a:rPr sz="1300" b="0" dirty="0">
                <a:solidFill>
                  <a:srgbClr val="585868"/>
                </a:solidFill>
                <a:latin typeface="Helvetica Neue"/>
              </a:rPr>
              <a:t>     10 traditional banks and 4 challengers, compared one product family at a time — a mortgage page and a current-account page differ because the products differ.</a:t>
            </a:r>
          </a:p>
          <a:p>
            <a:pPr algn="l">
              <a:lnSpc>
                <a:spcPct val="105000"/>
              </a:lnSpc>
              <a:spcAft>
                <a:spcPts val="200"/>
              </a:spcAft>
            </a:pPr>
            <a:r>
              <a:rPr sz="1500" b="1" dirty="0">
                <a:solidFill>
                  <a:srgbClr val="14141C"/>
                </a:solidFill>
                <a:latin typeface="Helvetica Neue"/>
              </a:rPr>
              <a:t>•  The dataset is in git, alongside the contract</a:t>
            </a:r>
          </a:p>
          <a:p>
            <a:pPr algn="l">
              <a:lnSpc>
                <a:spcPct val="105000"/>
              </a:lnSpc>
              <a:spcAft>
                <a:spcPts val="1000"/>
              </a:spcAft>
            </a:pPr>
            <a:r>
              <a:rPr sz="1300" b="0" dirty="0">
                <a:solidFill>
                  <a:srgbClr val="585868"/>
                </a:solidFill>
                <a:latin typeface="Helvetica Neue"/>
              </a:rPr>
              <a:t>     Captures, datasets and outputs are tracked, so any figure on a slide traces back to the exact committed run that produced it.</a:t>
            </a:r>
          </a:p>
          <a:p>
            <a:pPr algn="l">
              <a:lnSpc>
                <a:spcPct val="105000"/>
              </a:lnSpc>
              <a:spcAft>
                <a:spcPts val="200"/>
              </a:spcAft>
            </a:pPr>
            <a:endParaRPr sz="1300" b="0" dirty="0">
              <a:solidFill>
                <a:srgbClr val="585868"/>
              </a:solidFill>
              <a:latin typeface="Helvetica Neue"/>
            </a:endParaRPr>
          </a:p>
          <a:p>
            <a:pPr algn="l">
              <a:lnSpc>
                <a:spcPct val="105000"/>
              </a:lnSpc>
              <a:spcAft>
                <a:spcPts val="0"/>
              </a:spcAft>
            </a:pPr>
            <a:r>
              <a:rPr sz="1250" b="0" dirty="0">
                <a:solidFill>
                  <a:srgbClr val="585868"/>
                </a:solidFill>
                <a:latin typeface="Helvetica Neue"/>
              </a:rPr>
              <a:t>A snapshot is the honest shape for a finding: true for one dataset, one capture date, one scope.</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5</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Rubric scoring: one human judge, and a model measured against it</a:t>
            </a:r>
          </a:p>
        </p:txBody>
      </p:sp>
      <p:sp>
        <p:nvSpPr>
          <p:cNvPr id="3" name="Rectangle 2"/>
          <p:cNvSpPr/>
          <p:nvPr/>
        </p:nvSpPr>
        <p:spPr>
          <a:xfrm>
            <a:off x="548640" y="1371600"/>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200"/>
              </a:spcAft>
            </a:pPr>
            <a:r>
              <a:rPr sz="1500" b="1">
                <a:solidFill>
                  <a:srgbClr val="14141C"/>
                </a:solidFill>
                <a:latin typeface="Helvetica Neue"/>
              </a:rPr>
              <a:t>•  13 features are judgements, not measurements</a:t>
            </a:r>
          </a:p>
          <a:p>
            <a:pPr algn="l">
              <a:lnSpc>
                <a:spcPct val="105000"/>
              </a:lnSpc>
              <a:spcAft>
                <a:spcPts val="1000"/>
              </a:spcAft>
            </a:pPr>
            <a:r>
              <a:rPr sz="1300" b="0">
                <a:solidFill>
                  <a:srgbClr val="585868"/>
                </a:solidFill>
                <a:latin typeface="Helvetica Neue"/>
              </a:rPr>
              <a:t>     Clarity of the offer, layout archetype, AIDA coverage, persuasion levers — scored against a written scale, one sheet per rater.</a:t>
            </a:r>
          </a:p>
          <a:p>
            <a:pPr algn="l">
              <a:lnSpc>
                <a:spcPct val="105000"/>
              </a:lnSpc>
              <a:spcAft>
                <a:spcPts val="200"/>
              </a:spcAft>
            </a:pPr>
            <a:r>
              <a:rPr sz="1500" b="1">
                <a:solidFill>
                  <a:srgbClr val="14141C"/>
                </a:solidFill>
                <a:latin typeface="Helvetica Neue"/>
              </a:rPr>
              <a:t>•  One human judge for this pass, stated plainly</a:t>
            </a:r>
          </a:p>
          <a:p>
            <a:pPr algn="l">
              <a:lnSpc>
                <a:spcPct val="105000"/>
              </a:lnSpc>
              <a:spcAft>
                <a:spcPts val="1000"/>
              </a:spcAft>
            </a:pPr>
            <a:r>
              <a:rPr sz="1300" b="0">
                <a:solidFill>
                  <a:srgbClr val="585868"/>
                </a:solidFill>
                <a:latin typeface="Helvetica Neue"/>
              </a:rPr>
              <a:t>     Every judged feature on all 51 pages comes from one sheet. Earlier passes split pages between raters; this one does not, and we say so rather than presenting a single opinion as a consensus.</a:t>
            </a:r>
          </a:p>
          <a:p>
            <a:pPr algn="l">
              <a:lnSpc>
                <a:spcPct val="105000"/>
              </a:lnSpc>
              <a:spcAft>
                <a:spcPts val="200"/>
              </a:spcAft>
            </a:pPr>
            <a:r>
              <a:rPr sz="1500" b="1">
                <a:solidFill>
                  <a:srgbClr val="14141C"/>
                </a:solidFill>
                <a:latin typeface="Helvetica Neue"/>
              </a:rPr>
              <a:t>•  A model sheet exists, and it is not a second opinion</a:t>
            </a:r>
          </a:p>
          <a:p>
            <a:pPr algn="l">
              <a:lnSpc>
                <a:spcPct val="105000"/>
              </a:lnSpc>
              <a:spcAft>
                <a:spcPts val="1000"/>
              </a:spcAft>
            </a:pPr>
            <a:r>
              <a:rPr sz="1300" b="0">
                <a:solidFill>
                  <a:srgbClr val="585868"/>
                </a:solidFill>
                <a:latin typeface="Helvetica Neue"/>
              </a:rPr>
              <a:t>     50 pages, written to its own file, never into a human sheet - a pre-filled sheet gets rubber-stamped. But the pinned model has no vision, and 12 of the 13 judged features are declared in the dictionary as judged from the screenshot.</a:t>
            </a:r>
          </a:p>
          <a:p>
            <a:pPr algn="l">
              <a:lnSpc>
                <a:spcPct val="105000"/>
              </a:lnSpc>
              <a:spcAft>
                <a:spcPts val="200"/>
              </a:spcAft>
            </a:pPr>
            <a:r>
              <a:rPr sz="1500" b="1">
                <a:solidFill>
                  <a:srgbClr val="14141C"/>
                </a:solidFill>
                <a:latin typeface="Helvetica Neue"/>
              </a:rPr>
              <a:t>•  Only one judged feature can be scored from text at all</a:t>
            </a:r>
          </a:p>
          <a:p>
            <a:pPr algn="l">
              <a:lnSpc>
                <a:spcPct val="105000"/>
              </a:lnSpc>
              <a:spcAft>
                <a:spcPts val="1000"/>
              </a:spcAft>
            </a:pPr>
            <a:r>
              <a:rPr sz="1300" b="0">
                <a:solidFill>
                  <a:srgbClr val="585868"/>
                </a:solidFill>
                <a:latin typeface="Helvetica Neue"/>
              </a:rPr>
              <a:t>     formality_score, the only one the dictionary sources from html_text. On the 49 pages both scored, the model lands within one point of the human there 73% of the time. Its numbers on the twelve visual features are answers to a question the text cannot settle: value_prop_clarity is the clearest, where it ranked the pages close to the opposite of the human.</a:t>
            </a:r>
          </a:p>
          <a:p>
            <a:pPr algn="l">
              <a:lnSpc>
                <a:spcPct val="105000"/>
              </a:lnSpc>
              <a:spcAft>
                <a:spcPts val="200"/>
              </a:spcAft>
            </a:pPr>
            <a:r>
              <a:rPr sz="1500" b="1">
                <a:solidFill>
                  <a:srgbClr val="14141C"/>
                </a:solidFill>
                <a:latin typeface="Helvetica Neue"/>
              </a:rPr>
              <a:t>•  So the model sheet is kept as a reference, not used as a rater</a:t>
            </a:r>
          </a:p>
          <a:p>
            <a:pPr algn="l">
              <a:lnSpc>
                <a:spcPct val="105000"/>
              </a:lnSpc>
              <a:spcAft>
                <a:spcPts val="1000"/>
              </a:spcAft>
            </a:pPr>
            <a:r>
              <a:rPr sz="1300" b="0">
                <a:solidFill>
                  <a:srgbClr val="585868"/>
                </a:solidFill>
                <a:latin typeface="Helvetica Neue"/>
              </a:rPr>
              <a:t>     Averaging it into the human scores would import guesses as judgements. One named human judge, said out loud, is more honest than a consensus that was never there.</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Strategic context and positioning</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3821367"/>
          </a:xfrm>
          <a:prstGeom prst="rect">
            <a:avLst/>
          </a:prstGeom>
          <a:noFill/>
        </p:spPr>
        <p:txBody>
          <a:bodyPr wrap="square">
            <a:spAutoFit/>
          </a:bodyPr>
          <a:lstStyle/>
          <a:p>
            <a:pPr algn="l">
              <a:lnSpc>
                <a:spcPct val="105000"/>
              </a:lnSpc>
              <a:spcAft>
                <a:spcPts val="200"/>
              </a:spcAft>
            </a:pPr>
            <a:r>
              <a:rPr sz="1500" b="1" dirty="0">
                <a:solidFill>
                  <a:srgbClr val="14141C"/>
                </a:solidFill>
                <a:latin typeface="Helvetica Neue"/>
              </a:rPr>
              <a:t>•  The hybrid model</a:t>
            </a:r>
          </a:p>
          <a:p>
            <a:pPr algn="l">
              <a:lnSpc>
                <a:spcPct val="105000"/>
              </a:lnSpc>
              <a:spcAft>
                <a:spcPts val="1000"/>
              </a:spcAft>
            </a:pPr>
            <a:r>
              <a:rPr sz="1300" b="0" dirty="0">
                <a:solidFill>
                  <a:srgbClr val="585868"/>
                </a:solidFill>
                <a:latin typeface="Helvetica Neue"/>
              </a:rPr>
              <a:t>     ING blends the direct, feature-focused, mobile-first tone of a neobank with the institutional weight of a Tier-1 retail bank — regulatory authority and an established brand. </a:t>
            </a:r>
          </a:p>
          <a:p>
            <a:pPr algn="l">
              <a:lnSpc>
                <a:spcPct val="105000"/>
              </a:lnSpc>
              <a:spcAft>
                <a:spcPts val="200"/>
              </a:spcAft>
            </a:pPr>
            <a:r>
              <a:rPr sz="1500" b="1" dirty="0">
                <a:solidFill>
                  <a:srgbClr val="14141C"/>
                </a:solidFill>
                <a:latin typeface="Helvetica Neue"/>
              </a:rPr>
              <a:t>•  A level playing field on regulation</a:t>
            </a:r>
          </a:p>
          <a:p>
            <a:pPr algn="l">
              <a:lnSpc>
                <a:spcPct val="105000"/>
              </a:lnSpc>
              <a:spcAft>
                <a:spcPts val="1000"/>
              </a:spcAft>
            </a:pPr>
            <a:r>
              <a:rPr sz="1300" b="0" dirty="0">
                <a:solidFill>
                  <a:srgbClr val="585868"/>
                </a:solidFill>
                <a:latin typeface="Helvetica Neue"/>
              </a:rPr>
              <a:t>     Neobanks like Revolut hold the same European banking licenses and face the same Belgian compliance checks — including the mandatory CCP credit-registry query for consumer lending. Their speed comes from modern architecture, no branch network, and faster decision loops — not lighter rules.</a:t>
            </a:r>
          </a:p>
          <a:p>
            <a:pPr algn="l">
              <a:lnSpc>
                <a:spcPct val="105000"/>
              </a:lnSpc>
              <a:spcAft>
                <a:spcPts val="200"/>
              </a:spcAft>
            </a:pPr>
            <a:r>
              <a:rPr sz="1500" b="1" dirty="0">
                <a:solidFill>
                  <a:srgbClr val="14141C"/>
                </a:solidFill>
                <a:latin typeface="Helvetica Neue"/>
              </a:rPr>
              <a:t>•  Different monetization engines</a:t>
            </a:r>
          </a:p>
          <a:p>
            <a:pPr algn="l">
              <a:lnSpc>
                <a:spcPct val="105000"/>
              </a:lnSpc>
              <a:spcAft>
                <a:spcPts val="1000"/>
              </a:spcAft>
            </a:pPr>
            <a:r>
              <a:rPr sz="1300" b="0" dirty="0">
                <a:solidFill>
                  <a:srgbClr val="585868"/>
                </a:solidFill>
                <a:latin typeface="Helvetica Neue"/>
              </a:rPr>
              <a:t>     Traditional banks have long used the basic current account as a loss leader — a produit d'appel — to acquire clients and monetize later through mortgages, insurance and wealth management. Neobanks flip that: transparent freemium tiers, paid subscriptions, and transactional FX / fee income, upfront.</a:t>
            </a:r>
          </a:p>
          <a:p>
            <a:pPr algn="l">
              <a:lnSpc>
                <a:spcPct val="105000"/>
              </a:lnSpc>
              <a:spcAft>
                <a:spcPts val="200"/>
              </a:spcAft>
            </a:pPr>
            <a:r>
              <a:rPr sz="1500" b="1" dirty="0">
                <a:solidFill>
                  <a:srgbClr val="14141C"/>
                </a:solidFill>
                <a:latin typeface="Helvetica Neue"/>
              </a:rPr>
              <a:t>•  Who each side is chasing</a:t>
            </a:r>
          </a:p>
          <a:p>
            <a:pPr algn="l">
              <a:lnSpc>
                <a:spcPct val="105000"/>
              </a:lnSpc>
              <a:spcAft>
                <a:spcPts val="0"/>
              </a:spcAft>
            </a:pPr>
            <a:r>
              <a:rPr sz="1300" b="0" dirty="0">
                <a:solidFill>
                  <a:srgbClr val="585868"/>
                </a:solidFill>
                <a:latin typeface="Helvetica Neue"/>
              </a:rPr>
              <a:t>     Neobanks win volume among young adults, digital nomads and casual spenders. ING's acquisition budget targets high lifetime-value segments instead: first-time investors, expats and high-net-worth individuals, and first-time buyers in mortgage and real estate. Professional and business banking is out of scope for this comparison — retail only.</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What the analysis found</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3821367"/>
          </a:xfrm>
          <a:prstGeom prst="rect">
            <a:avLst/>
          </a:prstGeom>
          <a:noFill/>
        </p:spPr>
        <p:txBody>
          <a:bodyPr wrap="square">
            <a:spAutoFit/>
          </a:bodyPr>
          <a:lstStyle/>
          <a:p>
            <a:pPr algn="l">
              <a:lnSpc>
                <a:spcPct val="105000"/>
              </a:lnSpc>
              <a:spcAft>
                <a:spcPts val="200"/>
              </a:spcAft>
            </a:pPr>
            <a:r>
              <a:rPr sz="1500" b="1" dirty="0">
                <a:solidFill>
                  <a:srgbClr val="14141C"/>
                </a:solidFill>
                <a:latin typeface="Helvetica Neue"/>
              </a:rPr>
              <a:t>•  ING sits with the traditional banks, not the challengers</a:t>
            </a:r>
          </a:p>
          <a:p>
            <a:pPr algn="l">
              <a:lnSpc>
                <a:spcPct val="105000"/>
              </a:lnSpc>
              <a:spcAft>
                <a:spcPts val="1000"/>
              </a:spcAft>
            </a:pPr>
            <a:r>
              <a:rPr sz="1300" b="0" dirty="0">
                <a:solidFill>
                  <a:srgbClr val="585868"/>
                </a:solidFill>
                <a:latin typeface="Helvetica Neue"/>
              </a:rPr>
              <a:t>     </a:t>
            </a:r>
            <a:r>
              <a:rPr sz="1300" b="0" dirty="0" err="1">
                <a:solidFill>
                  <a:srgbClr val="585868"/>
                </a:solidFill>
                <a:latin typeface="Helvetica Neue"/>
              </a:rPr>
              <a:t>Traditional↔challenger</a:t>
            </a:r>
            <a:r>
              <a:rPr sz="1300" b="0" dirty="0">
                <a:solidFill>
                  <a:srgbClr val="585868"/>
                </a:solidFill>
                <a:latin typeface="Helvetica Neue"/>
              </a:rPr>
              <a:t> positioning score 0.28 across 14 banks, and its nearest </a:t>
            </a:r>
            <a:r>
              <a:rPr sz="1300" b="0" dirty="0" err="1">
                <a:solidFill>
                  <a:srgbClr val="585868"/>
                </a:solidFill>
                <a:latin typeface="Helvetica Neue"/>
              </a:rPr>
              <a:t>neighbour</a:t>
            </a:r>
            <a:r>
              <a:rPr sz="1300" b="0" dirty="0">
                <a:solidFill>
                  <a:srgbClr val="585868"/>
                </a:solidFill>
                <a:latin typeface="Helvetica Neue"/>
              </a:rPr>
              <a:t> is Belfius.</a:t>
            </a:r>
          </a:p>
          <a:p>
            <a:pPr algn="l">
              <a:lnSpc>
                <a:spcPct val="105000"/>
              </a:lnSpc>
              <a:spcAft>
                <a:spcPts val="200"/>
              </a:spcAft>
            </a:pPr>
            <a:r>
              <a:rPr sz="1500" b="1" dirty="0">
                <a:solidFill>
                  <a:srgbClr val="14141C"/>
                </a:solidFill>
                <a:latin typeface="Helvetica Neue"/>
              </a:rPr>
              <a:t>•  Where ING is furthest above its peers</a:t>
            </a:r>
          </a:p>
          <a:p>
            <a:pPr algn="l">
              <a:lnSpc>
                <a:spcPct val="105000"/>
              </a:lnSpc>
              <a:spcAft>
                <a:spcPts val="1000"/>
              </a:spcAft>
            </a:pPr>
            <a:r>
              <a:rPr sz="1300" b="0" dirty="0">
                <a:solidFill>
                  <a:srgbClr val="585868"/>
                </a:solidFill>
                <a:latin typeface="Helvetica Neue"/>
              </a:rPr>
              <a:t>     Deadline language: 4.0 markers vs peers 0.6 (+3.69 SD) — the largest gap in the set · Persuasion levers used: 3.7 vs 1.7 (+2.46 SD, rubric) · The offer feels worth having: 5.0 vs 3.7 (+1.46 SD, rubric) · Claims fast digital onboarding: 0.67 vs 0.15 (+1.42 SD) · Page height: 11,149px vs 6,412px (+1.42 SD).</a:t>
            </a:r>
          </a:p>
          <a:p>
            <a:pPr algn="l">
              <a:lnSpc>
                <a:spcPct val="105000"/>
              </a:lnSpc>
              <a:spcAft>
                <a:spcPts val="200"/>
              </a:spcAft>
            </a:pPr>
            <a:r>
              <a:rPr sz="1500" b="1" dirty="0">
                <a:solidFill>
                  <a:srgbClr val="14141C"/>
                </a:solidFill>
                <a:latin typeface="Helvetica Neue"/>
              </a:rPr>
              <a:t>•  </a:t>
            </a:r>
            <a:r>
              <a:rPr sz="1500" b="1" dirty="0">
                <a:solidFill>
                  <a:srgbClr val="14141C"/>
                </a:solidFill>
                <a:latin typeface="Helvetica Neue"/>
              </a:rPr>
              <a:t>Where ING is below</a:t>
            </a:r>
          </a:p>
          <a:p>
            <a:pPr algn="l">
              <a:lnSpc>
                <a:spcPct val="105000"/>
              </a:lnSpc>
              <a:spcAft>
                <a:spcPts val="1000"/>
              </a:spcAft>
            </a:pPr>
            <a:r>
              <a:rPr sz="1300" b="0" dirty="0">
                <a:solidFill>
                  <a:srgbClr val="585868"/>
                </a:solidFill>
                <a:latin typeface="Helvetica Neue"/>
              </a:rPr>
              <a:t>     Animation: 0.33 vs peers 0.62 (-0.58 SD) — the one measured place ING sits below the set. Calls to action are withheld, and we can now say why and by how much: the HTML count reads 1, while reading the stored screenshot of the same page shows at least nine — Se lancer, Découvrez l’offre, Découvrir ING+ deals, and six clickable pack and product cards. They render client-side, so they are not in the file the counter reads. The feature measured our capture, not the page.</a:t>
            </a:r>
          </a:p>
          <a:p>
            <a:pPr algn="l">
              <a:lnSpc>
                <a:spcPct val="105000"/>
              </a:lnSpc>
              <a:spcAft>
                <a:spcPts val="200"/>
              </a:spcAft>
            </a:pPr>
            <a:r>
              <a:rPr sz="1500" b="1" dirty="0">
                <a:solidFill>
                  <a:srgbClr val="14141C"/>
                </a:solidFill>
                <a:latin typeface="Helvetica Neue"/>
              </a:rPr>
              <a:t>•  What separates the two groups</a:t>
            </a:r>
          </a:p>
          <a:p>
            <a:pPr algn="l">
              <a:lnSpc>
                <a:spcPct val="105000"/>
              </a:lnSpc>
              <a:spcAft>
                <a:spcPts val="1000"/>
              </a:spcAft>
            </a:pPr>
            <a:r>
              <a:rPr sz="1300" b="0" dirty="0">
                <a:solidFill>
                  <a:srgbClr val="585868"/>
                </a:solidFill>
                <a:latin typeface="Helvetica Neue"/>
              </a:rPr>
              <a:t>     Traditional pages are brighter (d = -2.36) and show more without scrolling (d = -2.12); challengers are far likelier to show a rate and to frame the account as a subscription (each d = +2.00), and to target expats (d = +1.23).</a:t>
            </a:r>
          </a:p>
          <a:p>
            <a:pPr algn="l">
              <a:lnSpc>
                <a:spcPct val="105000"/>
              </a:lnSpc>
              <a:spcAft>
                <a:spcPts val="200"/>
              </a:spcAft>
            </a:pPr>
            <a:r>
              <a:rPr sz="1500" b="1" dirty="0">
                <a:solidFill>
                  <a:srgbClr val="14141C"/>
                </a:solidFill>
                <a:latin typeface="Helvetica Neue"/>
              </a:rPr>
              <a:t>•  Read as description, not proof</a:t>
            </a:r>
          </a:p>
          <a:p>
            <a:pPr algn="l">
              <a:lnSpc>
                <a:spcPct val="105000"/>
              </a:lnSpc>
              <a:spcAft>
                <a:spcPts val="1000"/>
              </a:spcAft>
            </a:pPr>
            <a:r>
              <a:rPr sz="1300" b="0" dirty="0">
                <a:solidFill>
                  <a:srgbClr val="585868"/>
                </a:solidFill>
                <a:latin typeface="Helvetica Neue"/>
              </a:rPr>
              <a:t>     These are descriptive effect sizes over 14 banks, not significance tests. The rubric-sourced ones rest on a single judged sheet, and the deadline count was re-derived from the stored pages — all 14 banks re-measured with the same rule.</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8</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p:cNvSpPr txBox="1"/>
          <p:nvPr/>
        </p:nvSpPr>
        <p:spPr>
          <a:xfrm>
            <a:off x="548640" y="320040"/>
            <a:ext cx="11064240" cy="640080"/>
          </a:xfrm>
          <a:prstGeom prst="rect">
            <a:avLst/>
          </a:prstGeom>
          <a:noFill/>
        </p:spPr>
        <p:txBody>
          <a:bodyPr wrap="square">
            <a:spAutoFit/>
          </a:bodyPr>
          <a:lstStyle/>
          <a:p>
            <a:pPr algn="l">
              <a:lnSpc>
                <a:spcPct val="105000"/>
              </a:lnSpc>
              <a:spcAft>
                <a:spcPts val="0"/>
              </a:spcAft>
            </a:pPr>
            <a:r>
              <a:rPr sz="2400" b="1">
                <a:solidFill>
                  <a:srgbClr val="14141C"/>
                </a:solidFill>
                <a:latin typeface="Helvetica Neue"/>
              </a:rPr>
              <a:t>KBC leads; ING and Belfius are level</a:t>
            </a:r>
          </a:p>
        </p:txBody>
      </p:sp>
      <p:sp>
        <p:nvSpPr>
          <p:cNvPr id="3" name="Rectangle"/>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p:cNvSpPr txBox="1"/>
          <p:nvPr/>
        </p:nvSpPr>
        <p:spPr>
          <a:xfrm>
            <a:off x="685800" y="1325880"/>
            <a:ext cx="1962150" cy="238720"/>
          </a:xfrm>
          <a:prstGeom prst="rect">
            <a:avLst/>
          </a:prstGeom>
          <a:noFill/>
        </p:spPr>
        <p:txBody>
          <a:bodyPr wrap="square">
            <a:spAutoFit/>
          </a:bodyPr>
          <a:lstStyle/>
          <a:p>
            <a:pPr algn="l">
              <a:lnSpc>
                <a:spcPct val="105000"/>
              </a:lnSpc>
              <a:spcAft>
                <a:spcPts val="0"/>
              </a:spcAft>
            </a:pPr>
            <a:r>
              <a:rPr sz="1200" b="0">
                <a:solidFill>
                  <a:srgbClr val="14141C"/>
                </a:solidFill>
                <a:latin typeface="Helvetica Neue"/>
              </a:rPr>
              <a:t>KBC</a:t>
            </a:r>
          </a:p>
        </p:txBody>
      </p:sp>
      <p:sp>
        <p:nvSpPr>
          <p:cNvPr id="5" name="Rect"/>
          <p:cNvSpPr/>
          <p:nvPr/>
        </p:nvSpPr>
        <p:spPr>
          <a:xfrm>
            <a:off x="2692400" y="1369040"/>
            <a:ext cx="3556000" cy="152400"/>
          </a:xfrm>
          <a:prstGeom prst="rect">
            <a:avLst/>
          </a:prstGeom>
          <a:solidFill>
            <a:srgbClr val="A8A8B8"/>
          </a:solidFill>
          <a:ln>
            <a:noFill/>
          </a:ln>
        </p:spPr>
        <p:txBody>
          <a:bodyPr/>
          <a:lstStyle/>
          <a:p>
            <a:endParaRPr/>
          </a:p>
        </p:txBody>
      </p:sp>
      <p:sp>
        <p:nvSpPr>
          <p:cNvPr id="6" name="TextBox"/>
          <p:cNvSpPr txBox="1"/>
          <p:nvPr/>
        </p:nvSpPr>
        <p:spPr>
          <a:xfrm>
            <a:off x="6299200" y="1325880"/>
            <a:ext cx="749300" cy="238720"/>
          </a:xfrm>
          <a:prstGeom prst="rect">
            <a:avLst/>
          </a:prstGeom>
          <a:noFill/>
        </p:spPr>
        <p:txBody>
          <a:bodyPr wrap="none">
            <a:spAutoFit/>
          </a:bodyPr>
          <a:lstStyle/>
          <a:p>
            <a:pPr algn="r">
              <a:lnSpc>
                <a:spcPct val="105000"/>
              </a:lnSpc>
              <a:spcAft>
                <a:spcPts val="0"/>
              </a:spcAft>
            </a:pPr>
            <a:r>
              <a:rPr sz="1200" b="0">
                <a:solidFill>
                  <a:srgbClr val="14141C"/>
                </a:solidFill>
                <a:latin typeface="Helvetica Neue"/>
              </a:rPr>
              <a:t>21.30%</a:t>
            </a:r>
          </a:p>
        </p:txBody>
      </p:sp>
      <p:sp>
        <p:nvSpPr>
          <p:cNvPr id="7" name="TextBox"/>
          <p:cNvSpPr txBox="1"/>
          <p:nvPr/>
        </p:nvSpPr>
        <p:spPr>
          <a:xfrm>
            <a:off x="685800" y="1577301"/>
            <a:ext cx="1962150" cy="238720"/>
          </a:xfrm>
          <a:prstGeom prst="rect">
            <a:avLst/>
          </a:prstGeom>
          <a:noFill/>
        </p:spPr>
        <p:txBody>
          <a:bodyPr wrap="square">
            <a:spAutoFit/>
          </a:bodyPr>
          <a:lstStyle/>
          <a:p>
            <a:pPr algn="l">
              <a:lnSpc>
                <a:spcPct val="105000"/>
              </a:lnSpc>
              <a:spcAft>
                <a:spcPts val="0"/>
              </a:spcAft>
            </a:pPr>
            <a:r>
              <a:rPr sz="1200" b="1">
                <a:solidFill>
                  <a:srgbClr val="14141C"/>
                </a:solidFill>
                <a:latin typeface="Helvetica Neue"/>
              </a:rPr>
              <a:t>Belfius</a:t>
            </a:r>
          </a:p>
        </p:txBody>
      </p:sp>
      <p:sp>
        <p:nvSpPr>
          <p:cNvPr id="8" name="Rect"/>
          <p:cNvSpPr/>
          <p:nvPr/>
        </p:nvSpPr>
        <p:spPr>
          <a:xfrm>
            <a:off x="2692400" y="1620461"/>
            <a:ext cx="3079750" cy="152400"/>
          </a:xfrm>
          <a:prstGeom prst="rect">
            <a:avLst/>
          </a:prstGeom>
          <a:solidFill>
            <a:srgbClr val="14141C"/>
          </a:solidFill>
          <a:ln>
            <a:noFill/>
          </a:ln>
        </p:spPr>
        <p:txBody>
          <a:bodyPr/>
          <a:lstStyle/>
          <a:p>
            <a:endParaRPr/>
          </a:p>
        </p:txBody>
      </p:sp>
      <p:sp>
        <p:nvSpPr>
          <p:cNvPr id="9" name="TextBox"/>
          <p:cNvSpPr txBox="1"/>
          <p:nvPr/>
        </p:nvSpPr>
        <p:spPr>
          <a:xfrm>
            <a:off x="6299200" y="1577301"/>
            <a:ext cx="749300" cy="238720"/>
          </a:xfrm>
          <a:prstGeom prst="rect">
            <a:avLst/>
          </a:prstGeom>
          <a:noFill/>
        </p:spPr>
        <p:txBody>
          <a:bodyPr wrap="none">
            <a:spAutoFit/>
          </a:bodyPr>
          <a:lstStyle/>
          <a:p>
            <a:pPr algn="r">
              <a:lnSpc>
                <a:spcPct val="105000"/>
              </a:lnSpc>
              <a:spcAft>
                <a:spcPts val="0"/>
              </a:spcAft>
            </a:pPr>
            <a:r>
              <a:rPr sz="1200" b="0">
                <a:solidFill>
                  <a:srgbClr val="14141C"/>
                </a:solidFill>
                <a:latin typeface="Helvetica Neue"/>
              </a:rPr>
              <a:t>18.44%</a:t>
            </a:r>
          </a:p>
        </p:txBody>
      </p:sp>
      <p:sp>
        <p:nvSpPr>
          <p:cNvPr id="10" name="TextBox"/>
          <p:cNvSpPr txBox="1"/>
          <p:nvPr/>
        </p:nvSpPr>
        <p:spPr>
          <a:xfrm>
            <a:off x="685800" y="1828721"/>
            <a:ext cx="1962150" cy="238720"/>
          </a:xfrm>
          <a:prstGeom prst="rect">
            <a:avLst/>
          </a:prstGeom>
          <a:noFill/>
        </p:spPr>
        <p:txBody>
          <a:bodyPr wrap="square">
            <a:spAutoFit/>
          </a:bodyPr>
          <a:lstStyle/>
          <a:p>
            <a:pPr algn="l">
              <a:lnSpc>
                <a:spcPct val="105000"/>
              </a:lnSpc>
              <a:spcAft>
                <a:spcPts val="0"/>
              </a:spcAft>
            </a:pPr>
            <a:r>
              <a:rPr sz="1200" b="1">
                <a:solidFill>
                  <a:srgbClr val="FF6200"/>
                </a:solidFill>
                <a:latin typeface="Helvetica Neue"/>
              </a:rPr>
              <a:t>ING</a:t>
            </a:r>
          </a:p>
        </p:txBody>
      </p:sp>
      <p:sp>
        <p:nvSpPr>
          <p:cNvPr id="11" name="Rect"/>
          <p:cNvSpPr/>
          <p:nvPr/>
        </p:nvSpPr>
        <p:spPr>
          <a:xfrm>
            <a:off x="2692400" y="1871881"/>
            <a:ext cx="3028950" cy="152400"/>
          </a:xfrm>
          <a:prstGeom prst="rect">
            <a:avLst/>
          </a:prstGeom>
          <a:solidFill>
            <a:srgbClr val="FF6200"/>
          </a:solidFill>
          <a:ln>
            <a:noFill/>
          </a:ln>
        </p:spPr>
        <p:txBody>
          <a:bodyPr/>
          <a:lstStyle/>
          <a:p>
            <a:endParaRPr/>
          </a:p>
        </p:txBody>
      </p:sp>
      <p:sp>
        <p:nvSpPr>
          <p:cNvPr id="12" name="TextBox"/>
          <p:cNvSpPr txBox="1"/>
          <p:nvPr/>
        </p:nvSpPr>
        <p:spPr>
          <a:xfrm>
            <a:off x="6299200" y="1828721"/>
            <a:ext cx="749300" cy="238720"/>
          </a:xfrm>
          <a:prstGeom prst="rect">
            <a:avLst/>
          </a:prstGeom>
          <a:noFill/>
        </p:spPr>
        <p:txBody>
          <a:bodyPr wrap="none">
            <a:spAutoFit/>
          </a:bodyPr>
          <a:lstStyle/>
          <a:p>
            <a:pPr algn="r">
              <a:lnSpc>
                <a:spcPct val="105000"/>
              </a:lnSpc>
              <a:spcAft>
                <a:spcPts val="0"/>
              </a:spcAft>
            </a:pPr>
            <a:r>
              <a:rPr sz="1200" b="0">
                <a:solidFill>
                  <a:srgbClr val="FF6200"/>
                </a:solidFill>
                <a:latin typeface="Helvetica Neue"/>
              </a:rPr>
              <a:t>18.13%</a:t>
            </a:r>
          </a:p>
        </p:txBody>
      </p:sp>
      <p:sp>
        <p:nvSpPr>
          <p:cNvPr id="13" name="TextBox"/>
          <p:cNvSpPr txBox="1"/>
          <p:nvPr/>
        </p:nvSpPr>
        <p:spPr>
          <a:xfrm>
            <a:off x="685800" y="2080141"/>
            <a:ext cx="1962150" cy="238720"/>
          </a:xfrm>
          <a:prstGeom prst="rect">
            <a:avLst/>
          </a:prstGeom>
          <a:noFill/>
        </p:spPr>
        <p:txBody>
          <a:bodyPr wrap="square">
            <a:spAutoFit/>
          </a:bodyPr>
          <a:lstStyle/>
          <a:p>
            <a:pPr algn="l">
              <a:lnSpc>
                <a:spcPct val="105000"/>
              </a:lnSpc>
              <a:spcAft>
                <a:spcPts val="0"/>
              </a:spcAft>
            </a:pPr>
            <a:r>
              <a:rPr sz="1200" b="0">
                <a:solidFill>
                  <a:srgbClr val="14141C"/>
                </a:solidFill>
                <a:latin typeface="Helvetica Neue"/>
              </a:rPr>
              <a:t>BNP Paribas Fortis</a:t>
            </a:r>
          </a:p>
        </p:txBody>
      </p:sp>
      <p:sp>
        <p:nvSpPr>
          <p:cNvPr id="14" name="Rect"/>
          <p:cNvSpPr/>
          <p:nvPr/>
        </p:nvSpPr>
        <p:spPr>
          <a:xfrm>
            <a:off x="2692400" y="2123301"/>
            <a:ext cx="2571750" cy="152400"/>
          </a:xfrm>
          <a:prstGeom prst="rect">
            <a:avLst/>
          </a:prstGeom>
          <a:solidFill>
            <a:srgbClr val="A8A8B8"/>
          </a:solidFill>
          <a:ln>
            <a:noFill/>
          </a:ln>
        </p:spPr>
        <p:txBody>
          <a:bodyPr/>
          <a:lstStyle/>
          <a:p>
            <a:endParaRPr/>
          </a:p>
        </p:txBody>
      </p:sp>
      <p:sp>
        <p:nvSpPr>
          <p:cNvPr id="15" name="TextBox"/>
          <p:cNvSpPr txBox="1"/>
          <p:nvPr/>
        </p:nvSpPr>
        <p:spPr>
          <a:xfrm>
            <a:off x="6299200" y="2080141"/>
            <a:ext cx="749300" cy="238720"/>
          </a:xfrm>
          <a:prstGeom prst="rect">
            <a:avLst/>
          </a:prstGeom>
          <a:noFill/>
        </p:spPr>
        <p:txBody>
          <a:bodyPr wrap="none">
            <a:spAutoFit/>
          </a:bodyPr>
          <a:lstStyle/>
          <a:p>
            <a:pPr algn="r">
              <a:lnSpc>
                <a:spcPct val="105000"/>
              </a:lnSpc>
              <a:spcAft>
                <a:spcPts val="0"/>
              </a:spcAft>
            </a:pPr>
            <a:r>
              <a:rPr sz="1200" b="0">
                <a:solidFill>
                  <a:srgbClr val="14141C"/>
                </a:solidFill>
                <a:latin typeface="Helvetica Neue"/>
              </a:rPr>
              <a:t>15.40%</a:t>
            </a:r>
          </a:p>
        </p:txBody>
      </p:sp>
      <p:sp>
        <p:nvSpPr>
          <p:cNvPr id="16" name="TextBox"/>
          <p:cNvSpPr txBox="1"/>
          <p:nvPr/>
        </p:nvSpPr>
        <p:spPr>
          <a:xfrm>
            <a:off x="685800" y="2331562"/>
            <a:ext cx="1962150" cy="238720"/>
          </a:xfrm>
          <a:prstGeom prst="rect">
            <a:avLst/>
          </a:prstGeom>
          <a:noFill/>
        </p:spPr>
        <p:txBody>
          <a:bodyPr wrap="square">
            <a:spAutoFit/>
          </a:bodyPr>
          <a:lstStyle/>
          <a:p>
            <a:pPr algn="l">
              <a:lnSpc>
                <a:spcPct val="105000"/>
              </a:lnSpc>
              <a:spcAft>
                <a:spcPts val="0"/>
              </a:spcAft>
            </a:pPr>
            <a:r>
              <a:rPr sz="1200" b="0">
                <a:solidFill>
                  <a:srgbClr val="14141C"/>
                </a:solidFill>
                <a:latin typeface="Helvetica Neue"/>
              </a:rPr>
              <a:t>Argenta</a:t>
            </a:r>
          </a:p>
        </p:txBody>
      </p:sp>
      <p:sp>
        <p:nvSpPr>
          <p:cNvPr id="17" name="Rect"/>
          <p:cNvSpPr/>
          <p:nvPr/>
        </p:nvSpPr>
        <p:spPr>
          <a:xfrm>
            <a:off x="2692400" y="2374722"/>
            <a:ext cx="1530350" cy="152400"/>
          </a:xfrm>
          <a:prstGeom prst="rect">
            <a:avLst/>
          </a:prstGeom>
          <a:solidFill>
            <a:srgbClr val="A8A8B8"/>
          </a:solidFill>
          <a:ln>
            <a:noFill/>
          </a:ln>
        </p:spPr>
        <p:txBody>
          <a:bodyPr/>
          <a:lstStyle/>
          <a:p>
            <a:endParaRPr/>
          </a:p>
        </p:txBody>
      </p:sp>
      <p:sp>
        <p:nvSpPr>
          <p:cNvPr id="18" name="TextBox"/>
          <p:cNvSpPr txBox="1"/>
          <p:nvPr/>
        </p:nvSpPr>
        <p:spPr>
          <a:xfrm>
            <a:off x="6299200" y="2331562"/>
            <a:ext cx="749300" cy="238720"/>
          </a:xfrm>
          <a:prstGeom prst="rect">
            <a:avLst/>
          </a:prstGeom>
          <a:noFill/>
        </p:spPr>
        <p:txBody>
          <a:bodyPr wrap="none">
            <a:spAutoFit/>
          </a:bodyPr>
          <a:lstStyle/>
          <a:p>
            <a:pPr algn="r">
              <a:lnSpc>
                <a:spcPct val="105000"/>
              </a:lnSpc>
              <a:spcAft>
                <a:spcPts val="0"/>
              </a:spcAft>
            </a:pPr>
            <a:r>
              <a:rPr sz="1200" b="0">
                <a:solidFill>
                  <a:srgbClr val="14141C"/>
                </a:solidFill>
                <a:latin typeface="Helvetica Neue"/>
              </a:rPr>
              <a:t>9.18%</a:t>
            </a:r>
          </a:p>
        </p:txBody>
      </p:sp>
      <p:sp>
        <p:nvSpPr>
          <p:cNvPr id="19" name="TextBox"/>
          <p:cNvSpPr txBox="1"/>
          <p:nvPr/>
        </p:nvSpPr>
        <p:spPr>
          <a:xfrm>
            <a:off x="685800" y="2582982"/>
            <a:ext cx="1962150" cy="238720"/>
          </a:xfrm>
          <a:prstGeom prst="rect">
            <a:avLst/>
          </a:prstGeom>
          <a:noFill/>
        </p:spPr>
        <p:txBody>
          <a:bodyPr wrap="square">
            <a:spAutoFit/>
          </a:bodyPr>
          <a:lstStyle/>
          <a:p>
            <a:pPr algn="l">
              <a:lnSpc>
                <a:spcPct val="105000"/>
              </a:lnSpc>
              <a:spcAft>
                <a:spcPts val="0"/>
              </a:spcAft>
            </a:pPr>
            <a:r>
              <a:rPr sz="1200" b="0">
                <a:solidFill>
                  <a:srgbClr val="14141C"/>
                </a:solidFill>
                <a:latin typeface="Helvetica Neue"/>
              </a:rPr>
              <a:t>Crelan</a:t>
            </a:r>
          </a:p>
        </p:txBody>
      </p:sp>
      <p:sp>
        <p:nvSpPr>
          <p:cNvPr id="20" name="Rect"/>
          <p:cNvSpPr/>
          <p:nvPr/>
        </p:nvSpPr>
        <p:spPr>
          <a:xfrm>
            <a:off x="2692400" y="2626142"/>
            <a:ext cx="1181100" cy="152400"/>
          </a:xfrm>
          <a:prstGeom prst="rect">
            <a:avLst/>
          </a:prstGeom>
          <a:solidFill>
            <a:srgbClr val="A8A8B8"/>
          </a:solidFill>
          <a:ln>
            <a:noFill/>
          </a:ln>
        </p:spPr>
        <p:txBody>
          <a:bodyPr/>
          <a:lstStyle/>
          <a:p>
            <a:endParaRPr/>
          </a:p>
        </p:txBody>
      </p:sp>
      <p:sp>
        <p:nvSpPr>
          <p:cNvPr id="21" name="TextBox"/>
          <p:cNvSpPr txBox="1"/>
          <p:nvPr/>
        </p:nvSpPr>
        <p:spPr>
          <a:xfrm>
            <a:off x="6299200" y="2582982"/>
            <a:ext cx="749300" cy="238720"/>
          </a:xfrm>
          <a:prstGeom prst="rect">
            <a:avLst/>
          </a:prstGeom>
          <a:noFill/>
        </p:spPr>
        <p:txBody>
          <a:bodyPr wrap="none">
            <a:spAutoFit/>
          </a:bodyPr>
          <a:lstStyle/>
          <a:p>
            <a:pPr algn="r">
              <a:lnSpc>
                <a:spcPct val="105000"/>
              </a:lnSpc>
              <a:spcAft>
                <a:spcPts val="0"/>
              </a:spcAft>
            </a:pPr>
            <a:r>
              <a:rPr sz="1200" b="0">
                <a:solidFill>
                  <a:srgbClr val="14141C"/>
                </a:solidFill>
                <a:latin typeface="Helvetica Neue"/>
              </a:rPr>
              <a:t>7.07%</a:t>
            </a:r>
          </a:p>
        </p:txBody>
      </p:sp>
      <p:sp>
        <p:nvSpPr>
          <p:cNvPr id="22" name="TextBox"/>
          <p:cNvSpPr txBox="1"/>
          <p:nvPr/>
        </p:nvSpPr>
        <p:spPr>
          <a:xfrm>
            <a:off x="685800" y="2834402"/>
            <a:ext cx="1962150" cy="238720"/>
          </a:xfrm>
          <a:prstGeom prst="rect">
            <a:avLst/>
          </a:prstGeom>
          <a:noFill/>
        </p:spPr>
        <p:txBody>
          <a:bodyPr wrap="square">
            <a:spAutoFit/>
          </a:bodyPr>
          <a:lstStyle/>
          <a:p>
            <a:pPr algn="l">
              <a:lnSpc>
                <a:spcPct val="105000"/>
              </a:lnSpc>
              <a:spcAft>
                <a:spcPts val="0"/>
              </a:spcAft>
            </a:pPr>
            <a:r>
              <a:rPr sz="1200" b="0">
                <a:solidFill>
                  <a:srgbClr val="14141C"/>
                </a:solidFill>
                <a:latin typeface="Helvetica Neue"/>
              </a:rPr>
              <a:t>Beobank</a:t>
            </a:r>
          </a:p>
        </p:txBody>
      </p:sp>
      <p:sp>
        <p:nvSpPr>
          <p:cNvPr id="23" name="Rect"/>
          <p:cNvSpPr/>
          <p:nvPr/>
        </p:nvSpPr>
        <p:spPr>
          <a:xfrm>
            <a:off x="2692400" y="2877562"/>
            <a:ext cx="742950" cy="152400"/>
          </a:xfrm>
          <a:prstGeom prst="rect">
            <a:avLst/>
          </a:prstGeom>
          <a:solidFill>
            <a:srgbClr val="A8A8B8"/>
          </a:solidFill>
          <a:ln>
            <a:noFill/>
          </a:ln>
        </p:spPr>
        <p:txBody>
          <a:bodyPr/>
          <a:lstStyle/>
          <a:p>
            <a:endParaRPr/>
          </a:p>
        </p:txBody>
      </p:sp>
      <p:sp>
        <p:nvSpPr>
          <p:cNvPr id="24" name="TextBox"/>
          <p:cNvSpPr txBox="1"/>
          <p:nvPr/>
        </p:nvSpPr>
        <p:spPr>
          <a:xfrm>
            <a:off x="6299200" y="2834402"/>
            <a:ext cx="749300" cy="238720"/>
          </a:xfrm>
          <a:prstGeom prst="rect">
            <a:avLst/>
          </a:prstGeom>
          <a:noFill/>
        </p:spPr>
        <p:txBody>
          <a:bodyPr wrap="none">
            <a:spAutoFit/>
          </a:bodyPr>
          <a:lstStyle/>
          <a:p>
            <a:pPr algn="r">
              <a:lnSpc>
                <a:spcPct val="105000"/>
              </a:lnSpc>
              <a:spcAft>
                <a:spcPts val="0"/>
              </a:spcAft>
            </a:pPr>
            <a:r>
              <a:rPr sz="1200" b="0">
                <a:solidFill>
                  <a:srgbClr val="14141C"/>
                </a:solidFill>
                <a:latin typeface="Helvetica Neue"/>
              </a:rPr>
              <a:t>4.46%</a:t>
            </a:r>
          </a:p>
        </p:txBody>
      </p:sp>
      <p:sp>
        <p:nvSpPr>
          <p:cNvPr id="25" name="TextBox"/>
          <p:cNvSpPr txBox="1"/>
          <p:nvPr/>
        </p:nvSpPr>
        <p:spPr>
          <a:xfrm>
            <a:off x="685800" y="3085823"/>
            <a:ext cx="1962150" cy="23872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CBC *</a:t>
            </a:r>
          </a:p>
        </p:txBody>
      </p:sp>
      <p:sp>
        <p:nvSpPr>
          <p:cNvPr id="26" name="Rect"/>
          <p:cNvSpPr/>
          <p:nvPr/>
        </p:nvSpPr>
        <p:spPr>
          <a:xfrm>
            <a:off x="2692400" y="3128983"/>
            <a:ext cx="342900" cy="152400"/>
          </a:xfrm>
          <a:prstGeom prst="rect">
            <a:avLst/>
          </a:prstGeom>
          <a:solidFill>
            <a:srgbClr val="D8D8E0"/>
          </a:solidFill>
          <a:ln>
            <a:noFill/>
          </a:ln>
        </p:spPr>
        <p:txBody>
          <a:bodyPr/>
          <a:lstStyle/>
          <a:p>
            <a:endParaRPr/>
          </a:p>
        </p:txBody>
      </p:sp>
      <p:sp>
        <p:nvSpPr>
          <p:cNvPr id="27" name="TextBox"/>
          <p:cNvSpPr txBox="1"/>
          <p:nvPr/>
        </p:nvSpPr>
        <p:spPr>
          <a:xfrm>
            <a:off x="6299200" y="3085823"/>
            <a:ext cx="749300" cy="238720"/>
          </a:xfrm>
          <a:prstGeom prst="rect">
            <a:avLst/>
          </a:prstGeom>
          <a:noFill/>
        </p:spPr>
        <p:txBody>
          <a:bodyPr wrap="none">
            <a:spAutoFit/>
          </a:bodyPr>
          <a:lstStyle/>
          <a:p>
            <a:pPr algn="r">
              <a:lnSpc>
                <a:spcPct val="105000"/>
              </a:lnSpc>
              <a:spcAft>
                <a:spcPts val="0"/>
              </a:spcAft>
            </a:pPr>
            <a:r>
              <a:rPr sz="1200" b="0">
                <a:solidFill>
                  <a:srgbClr val="585868"/>
                </a:solidFill>
                <a:latin typeface="Helvetica Neue"/>
              </a:rPr>
              <a:t>2.05%</a:t>
            </a:r>
          </a:p>
        </p:txBody>
      </p:sp>
      <p:sp>
        <p:nvSpPr>
          <p:cNvPr id="28" name="TextBox"/>
          <p:cNvSpPr txBox="1"/>
          <p:nvPr/>
        </p:nvSpPr>
        <p:spPr>
          <a:xfrm>
            <a:off x="685800" y="3337243"/>
            <a:ext cx="1962150" cy="238720"/>
          </a:xfrm>
          <a:prstGeom prst="rect">
            <a:avLst/>
          </a:prstGeom>
          <a:noFill/>
        </p:spPr>
        <p:txBody>
          <a:bodyPr wrap="square">
            <a:spAutoFit/>
          </a:bodyPr>
          <a:lstStyle/>
          <a:p>
            <a:pPr algn="l">
              <a:lnSpc>
                <a:spcPct val="105000"/>
              </a:lnSpc>
              <a:spcAft>
                <a:spcPts val="0"/>
              </a:spcAft>
            </a:pPr>
            <a:r>
              <a:rPr sz="1200" b="0">
                <a:solidFill>
                  <a:srgbClr val="14141C"/>
                </a:solidFill>
                <a:latin typeface="Helvetica Neue"/>
              </a:rPr>
              <a:t>Revolut</a:t>
            </a:r>
          </a:p>
        </p:txBody>
      </p:sp>
      <p:sp>
        <p:nvSpPr>
          <p:cNvPr id="29" name="Rect"/>
          <p:cNvSpPr/>
          <p:nvPr/>
        </p:nvSpPr>
        <p:spPr>
          <a:xfrm>
            <a:off x="2692400" y="3380403"/>
            <a:ext cx="273050" cy="152400"/>
          </a:xfrm>
          <a:prstGeom prst="rect">
            <a:avLst/>
          </a:prstGeom>
          <a:solidFill>
            <a:srgbClr val="A8A8B8"/>
          </a:solidFill>
          <a:ln>
            <a:noFill/>
          </a:ln>
        </p:spPr>
        <p:txBody>
          <a:bodyPr/>
          <a:lstStyle/>
          <a:p>
            <a:endParaRPr/>
          </a:p>
        </p:txBody>
      </p:sp>
      <p:sp>
        <p:nvSpPr>
          <p:cNvPr id="30" name="TextBox"/>
          <p:cNvSpPr txBox="1"/>
          <p:nvPr/>
        </p:nvSpPr>
        <p:spPr>
          <a:xfrm>
            <a:off x="6299200" y="3337243"/>
            <a:ext cx="749300" cy="238720"/>
          </a:xfrm>
          <a:prstGeom prst="rect">
            <a:avLst/>
          </a:prstGeom>
          <a:noFill/>
        </p:spPr>
        <p:txBody>
          <a:bodyPr wrap="none">
            <a:spAutoFit/>
          </a:bodyPr>
          <a:lstStyle/>
          <a:p>
            <a:pPr algn="r">
              <a:lnSpc>
                <a:spcPct val="105000"/>
              </a:lnSpc>
              <a:spcAft>
                <a:spcPts val="0"/>
              </a:spcAft>
            </a:pPr>
            <a:r>
              <a:rPr sz="1200" b="0">
                <a:solidFill>
                  <a:srgbClr val="14141C"/>
                </a:solidFill>
                <a:latin typeface="Helvetica Neue"/>
              </a:rPr>
              <a:t>1.64%</a:t>
            </a:r>
          </a:p>
        </p:txBody>
      </p:sp>
      <p:sp>
        <p:nvSpPr>
          <p:cNvPr id="31" name="TextBox"/>
          <p:cNvSpPr txBox="1"/>
          <p:nvPr/>
        </p:nvSpPr>
        <p:spPr>
          <a:xfrm>
            <a:off x="685800" y="3588663"/>
            <a:ext cx="1962150" cy="23872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VDK Bank *</a:t>
            </a:r>
          </a:p>
        </p:txBody>
      </p:sp>
      <p:sp>
        <p:nvSpPr>
          <p:cNvPr id="32" name="Rect"/>
          <p:cNvSpPr/>
          <p:nvPr/>
        </p:nvSpPr>
        <p:spPr>
          <a:xfrm>
            <a:off x="2692400" y="3631823"/>
            <a:ext cx="209550" cy="152400"/>
          </a:xfrm>
          <a:prstGeom prst="rect">
            <a:avLst/>
          </a:prstGeom>
          <a:solidFill>
            <a:srgbClr val="D8D8E0"/>
          </a:solidFill>
          <a:ln>
            <a:noFill/>
          </a:ln>
        </p:spPr>
        <p:txBody>
          <a:bodyPr/>
          <a:lstStyle/>
          <a:p>
            <a:endParaRPr/>
          </a:p>
        </p:txBody>
      </p:sp>
      <p:sp>
        <p:nvSpPr>
          <p:cNvPr id="33" name="TextBox"/>
          <p:cNvSpPr txBox="1"/>
          <p:nvPr/>
        </p:nvSpPr>
        <p:spPr>
          <a:xfrm>
            <a:off x="6299200" y="3588663"/>
            <a:ext cx="749300" cy="238720"/>
          </a:xfrm>
          <a:prstGeom prst="rect">
            <a:avLst/>
          </a:prstGeom>
          <a:noFill/>
        </p:spPr>
        <p:txBody>
          <a:bodyPr wrap="none">
            <a:spAutoFit/>
          </a:bodyPr>
          <a:lstStyle/>
          <a:p>
            <a:pPr algn="r">
              <a:lnSpc>
                <a:spcPct val="105000"/>
              </a:lnSpc>
              <a:spcAft>
                <a:spcPts val="0"/>
              </a:spcAft>
            </a:pPr>
            <a:r>
              <a:rPr sz="1200" b="0">
                <a:solidFill>
                  <a:srgbClr val="585868"/>
                </a:solidFill>
                <a:latin typeface="Helvetica Neue"/>
              </a:rPr>
              <a:t>1.24%</a:t>
            </a:r>
          </a:p>
        </p:txBody>
      </p:sp>
      <p:sp>
        <p:nvSpPr>
          <p:cNvPr id="34" name="TextBox"/>
          <p:cNvSpPr txBox="1"/>
          <p:nvPr/>
        </p:nvSpPr>
        <p:spPr>
          <a:xfrm>
            <a:off x="685800" y="3840084"/>
            <a:ext cx="1962150" cy="23872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Keytrade Bank *</a:t>
            </a:r>
          </a:p>
        </p:txBody>
      </p:sp>
      <p:sp>
        <p:nvSpPr>
          <p:cNvPr id="35" name="Rect"/>
          <p:cNvSpPr/>
          <p:nvPr/>
        </p:nvSpPr>
        <p:spPr>
          <a:xfrm>
            <a:off x="2692400" y="3883244"/>
            <a:ext cx="69850" cy="152400"/>
          </a:xfrm>
          <a:prstGeom prst="rect">
            <a:avLst/>
          </a:prstGeom>
          <a:solidFill>
            <a:srgbClr val="D8D8E0"/>
          </a:solidFill>
          <a:ln>
            <a:noFill/>
          </a:ln>
        </p:spPr>
        <p:txBody>
          <a:bodyPr/>
          <a:lstStyle/>
          <a:p>
            <a:endParaRPr/>
          </a:p>
        </p:txBody>
      </p:sp>
      <p:sp>
        <p:nvSpPr>
          <p:cNvPr id="36" name="TextBox"/>
          <p:cNvSpPr txBox="1"/>
          <p:nvPr/>
        </p:nvSpPr>
        <p:spPr>
          <a:xfrm>
            <a:off x="6299200" y="3840084"/>
            <a:ext cx="749300" cy="238720"/>
          </a:xfrm>
          <a:prstGeom prst="rect">
            <a:avLst/>
          </a:prstGeom>
          <a:noFill/>
        </p:spPr>
        <p:txBody>
          <a:bodyPr wrap="none">
            <a:spAutoFit/>
          </a:bodyPr>
          <a:lstStyle/>
          <a:p>
            <a:pPr algn="r">
              <a:lnSpc>
                <a:spcPct val="105000"/>
              </a:lnSpc>
              <a:spcAft>
                <a:spcPts val="0"/>
              </a:spcAft>
            </a:pPr>
            <a:r>
              <a:rPr sz="1200" b="0">
                <a:solidFill>
                  <a:srgbClr val="585868"/>
                </a:solidFill>
                <a:latin typeface="Helvetica Neue"/>
              </a:rPr>
              <a:t>0.41%</a:t>
            </a:r>
          </a:p>
        </p:txBody>
      </p:sp>
      <p:sp>
        <p:nvSpPr>
          <p:cNvPr id="37" name="TextBox"/>
          <p:cNvSpPr txBox="1"/>
          <p:nvPr/>
        </p:nvSpPr>
        <p:spPr>
          <a:xfrm>
            <a:off x="685800" y="4091504"/>
            <a:ext cx="1962150" cy="23872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Hello bank! *</a:t>
            </a:r>
          </a:p>
        </p:txBody>
      </p:sp>
      <p:sp>
        <p:nvSpPr>
          <p:cNvPr id="38" name="Rect"/>
          <p:cNvSpPr/>
          <p:nvPr/>
        </p:nvSpPr>
        <p:spPr>
          <a:xfrm>
            <a:off x="2692400" y="4134664"/>
            <a:ext cx="63500" cy="152400"/>
          </a:xfrm>
          <a:prstGeom prst="rect">
            <a:avLst/>
          </a:prstGeom>
          <a:solidFill>
            <a:srgbClr val="D8D8E0"/>
          </a:solidFill>
          <a:ln>
            <a:noFill/>
          </a:ln>
        </p:spPr>
        <p:txBody>
          <a:bodyPr/>
          <a:lstStyle/>
          <a:p>
            <a:endParaRPr/>
          </a:p>
        </p:txBody>
      </p:sp>
      <p:sp>
        <p:nvSpPr>
          <p:cNvPr id="39" name="TextBox"/>
          <p:cNvSpPr txBox="1"/>
          <p:nvPr/>
        </p:nvSpPr>
        <p:spPr>
          <a:xfrm>
            <a:off x="6299200" y="4091504"/>
            <a:ext cx="749300" cy="238720"/>
          </a:xfrm>
          <a:prstGeom prst="rect">
            <a:avLst/>
          </a:prstGeom>
          <a:noFill/>
        </p:spPr>
        <p:txBody>
          <a:bodyPr wrap="none">
            <a:spAutoFit/>
          </a:bodyPr>
          <a:lstStyle/>
          <a:p>
            <a:pPr algn="r">
              <a:lnSpc>
                <a:spcPct val="105000"/>
              </a:lnSpc>
              <a:spcAft>
                <a:spcPts val="0"/>
              </a:spcAft>
            </a:pPr>
            <a:r>
              <a:rPr sz="1200" b="0">
                <a:solidFill>
                  <a:srgbClr val="585868"/>
                </a:solidFill>
                <a:latin typeface="Helvetica Neue"/>
              </a:rPr>
              <a:t>0.37%</a:t>
            </a:r>
          </a:p>
        </p:txBody>
      </p:sp>
      <p:sp>
        <p:nvSpPr>
          <p:cNvPr id="40" name="TextBox"/>
          <p:cNvSpPr txBox="1"/>
          <p:nvPr/>
        </p:nvSpPr>
        <p:spPr>
          <a:xfrm>
            <a:off x="685800" y="4342924"/>
            <a:ext cx="1962150" cy="23872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N26 *</a:t>
            </a:r>
          </a:p>
        </p:txBody>
      </p:sp>
      <p:sp>
        <p:nvSpPr>
          <p:cNvPr id="41" name="Rect"/>
          <p:cNvSpPr/>
          <p:nvPr/>
        </p:nvSpPr>
        <p:spPr>
          <a:xfrm>
            <a:off x="2692400" y="4386084"/>
            <a:ext cx="50800" cy="152400"/>
          </a:xfrm>
          <a:prstGeom prst="rect">
            <a:avLst/>
          </a:prstGeom>
          <a:solidFill>
            <a:srgbClr val="D8D8E0"/>
          </a:solidFill>
          <a:ln>
            <a:noFill/>
          </a:ln>
        </p:spPr>
        <p:txBody>
          <a:bodyPr/>
          <a:lstStyle/>
          <a:p>
            <a:endParaRPr/>
          </a:p>
        </p:txBody>
      </p:sp>
      <p:sp>
        <p:nvSpPr>
          <p:cNvPr id="42" name="TextBox"/>
          <p:cNvSpPr txBox="1"/>
          <p:nvPr/>
        </p:nvSpPr>
        <p:spPr>
          <a:xfrm>
            <a:off x="6299200" y="4342924"/>
            <a:ext cx="749300" cy="238720"/>
          </a:xfrm>
          <a:prstGeom prst="rect">
            <a:avLst/>
          </a:prstGeom>
          <a:noFill/>
        </p:spPr>
        <p:txBody>
          <a:bodyPr wrap="none">
            <a:spAutoFit/>
          </a:bodyPr>
          <a:lstStyle/>
          <a:p>
            <a:pPr algn="r">
              <a:lnSpc>
                <a:spcPct val="105000"/>
              </a:lnSpc>
              <a:spcAft>
                <a:spcPts val="0"/>
              </a:spcAft>
            </a:pPr>
            <a:r>
              <a:rPr sz="1200" b="0">
                <a:solidFill>
                  <a:srgbClr val="585868"/>
                </a:solidFill>
                <a:latin typeface="Helvetica Neue"/>
              </a:rPr>
              <a:t>0.29%</a:t>
            </a:r>
          </a:p>
        </p:txBody>
      </p:sp>
      <p:sp>
        <p:nvSpPr>
          <p:cNvPr id="43" name="TextBox"/>
          <p:cNvSpPr txBox="1"/>
          <p:nvPr/>
        </p:nvSpPr>
        <p:spPr>
          <a:xfrm>
            <a:off x="685800" y="4594345"/>
            <a:ext cx="1962150" cy="23872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bunq *</a:t>
            </a:r>
          </a:p>
        </p:txBody>
      </p:sp>
      <p:sp>
        <p:nvSpPr>
          <p:cNvPr id="44" name="Rect"/>
          <p:cNvSpPr/>
          <p:nvPr/>
        </p:nvSpPr>
        <p:spPr>
          <a:xfrm>
            <a:off x="2692400" y="4637505"/>
            <a:ext cx="19050" cy="152400"/>
          </a:xfrm>
          <a:prstGeom prst="rect">
            <a:avLst/>
          </a:prstGeom>
          <a:solidFill>
            <a:srgbClr val="D8D8E0"/>
          </a:solidFill>
          <a:ln>
            <a:noFill/>
          </a:ln>
        </p:spPr>
        <p:txBody>
          <a:bodyPr/>
          <a:lstStyle/>
          <a:p>
            <a:endParaRPr/>
          </a:p>
        </p:txBody>
      </p:sp>
      <p:sp>
        <p:nvSpPr>
          <p:cNvPr id="45" name="TextBox"/>
          <p:cNvSpPr txBox="1"/>
          <p:nvPr/>
        </p:nvSpPr>
        <p:spPr>
          <a:xfrm>
            <a:off x="6299200" y="4594345"/>
            <a:ext cx="749300" cy="238720"/>
          </a:xfrm>
          <a:prstGeom prst="rect">
            <a:avLst/>
          </a:prstGeom>
          <a:noFill/>
        </p:spPr>
        <p:txBody>
          <a:bodyPr wrap="none">
            <a:spAutoFit/>
          </a:bodyPr>
          <a:lstStyle/>
          <a:p>
            <a:pPr algn="r">
              <a:lnSpc>
                <a:spcPct val="105000"/>
              </a:lnSpc>
              <a:spcAft>
                <a:spcPts val="0"/>
              </a:spcAft>
            </a:pPr>
            <a:r>
              <a:rPr sz="1200" b="0">
                <a:solidFill>
                  <a:srgbClr val="585868"/>
                </a:solidFill>
                <a:latin typeface="Helvetica Neue"/>
              </a:rPr>
              <a:t>0.01%</a:t>
            </a:r>
          </a:p>
        </p:txBody>
      </p:sp>
      <p:sp>
        <p:nvSpPr>
          <p:cNvPr id="46" name="RoundRect"/>
          <p:cNvSpPr/>
          <p:nvPr/>
        </p:nvSpPr>
        <p:spPr>
          <a:xfrm>
            <a:off x="7458075" y="1329055"/>
            <a:ext cx="3790950" cy="3526234"/>
          </a:xfrm>
          <a:prstGeom prst="roundRect">
            <a:avLst>
              <a:gd name="adj" fmla="val 2791"/>
            </a:avLst>
          </a:prstGeom>
          <a:solidFill>
            <a:srgbClr val="F7F7F9"/>
          </a:solidFill>
          <a:ln w="6350">
            <a:solidFill>
              <a:srgbClr val="D8D8E0"/>
            </a:solidFill>
            <a:prstDash val="solid"/>
          </a:ln>
        </p:spPr>
        <p:txBody>
          <a:bodyPr/>
          <a:lstStyle/>
          <a:p>
            <a:endParaRPr/>
          </a:p>
        </p:txBody>
      </p:sp>
      <p:sp>
        <p:nvSpPr>
          <p:cNvPr id="47" name="TextBox"/>
          <p:cNvSpPr txBox="1"/>
          <p:nvPr/>
        </p:nvSpPr>
        <p:spPr>
          <a:xfrm>
            <a:off x="7766050" y="1637030"/>
            <a:ext cx="3270250" cy="23872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GAP BELFIUS – ING</a:t>
            </a:r>
          </a:p>
        </p:txBody>
      </p:sp>
      <p:sp>
        <p:nvSpPr>
          <p:cNvPr id="48" name="TextBox"/>
          <p:cNvSpPr txBox="1"/>
          <p:nvPr/>
        </p:nvSpPr>
        <p:spPr>
          <a:xfrm>
            <a:off x="7766050" y="1977351"/>
            <a:ext cx="3270250" cy="695920"/>
          </a:xfrm>
          <a:prstGeom prst="rect">
            <a:avLst/>
          </a:prstGeom>
          <a:noFill/>
        </p:spPr>
        <p:txBody>
          <a:bodyPr wrap="square">
            <a:spAutoFit/>
          </a:bodyPr>
          <a:lstStyle/>
          <a:p>
            <a:pPr algn="l">
              <a:lnSpc>
                <a:spcPct val="105000"/>
              </a:lnSpc>
              <a:spcAft>
                <a:spcPts val="0"/>
              </a:spcAft>
            </a:pPr>
            <a:r>
              <a:rPr sz="4800" b="0">
                <a:solidFill>
                  <a:srgbClr val="FF6200"/>
                </a:solidFill>
                <a:latin typeface="Helvetica Neue"/>
              </a:rPr>
              <a:t>0.31 pts</a:t>
            </a:r>
          </a:p>
        </p:txBody>
      </p:sp>
      <p:sp>
        <p:nvSpPr>
          <p:cNvPr id="49" name="TextBox"/>
          <p:cNvSpPr txBox="1"/>
          <p:nvPr/>
        </p:nvSpPr>
        <p:spPr>
          <a:xfrm>
            <a:off x="7766050" y="2774871"/>
            <a:ext cx="3270250" cy="1020763"/>
          </a:xfrm>
          <a:prstGeom prst="rect">
            <a:avLst/>
          </a:prstGeom>
          <a:noFill/>
        </p:spPr>
        <p:txBody>
          <a:bodyPr wrap="square">
            <a:spAutoFit/>
          </a:bodyPr>
          <a:lstStyle/>
          <a:p>
            <a:pPr algn="l">
              <a:lnSpc>
                <a:spcPct val="105000"/>
              </a:lnSpc>
              <a:spcAft>
                <a:spcPts val="0"/>
              </a:spcAft>
            </a:pPr>
            <a:r>
              <a:rPr sz="1400" b="0">
                <a:solidFill>
                  <a:srgbClr val="14141C"/>
                </a:solidFill>
                <a:latin typeface="Helvetica Neue"/>
              </a:rPr>
              <a:t>Removing one raw point per week from Belfius brings it to 18.15% — ING’s own figure. Read them as level, not ING in third.</a:t>
            </a:r>
          </a:p>
        </p:txBody>
      </p:sp>
      <p:sp>
        <p:nvSpPr>
          <p:cNvPr id="50" name="Rect"/>
          <p:cNvSpPr/>
          <p:nvPr/>
        </p:nvSpPr>
        <p:spPr>
          <a:xfrm>
            <a:off x="7766050" y="3897234"/>
            <a:ext cx="3048000" cy="12700"/>
          </a:xfrm>
          <a:prstGeom prst="rect">
            <a:avLst/>
          </a:prstGeom>
          <a:solidFill>
            <a:srgbClr val="D8D8E0"/>
          </a:solidFill>
          <a:ln>
            <a:noFill/>
          </a:ln>
        </p:spPr>
        <p:txBody>
          <a:bodyPr/>
          <a:lstStyle/>
          <a:p>
            <a:endParaRPr/>
          </a:p>
        </p:txBody>
      </p:sp>
      <p:sp>
        <p:nvSpPr>
          <p:cNvPr id="51" name="TextBox"/>
          <p:cNvSpPr txBox="1"/>
          <p:nvPr/>
        </p:nvSpPr>
        <p:spPr>
          <a:xfrm>
            <a:off x="7766050" y="4049634"/>
            <a:ext cx="3270250" cy="523081"/>
          </a:xfrm>
          <a:prstGeom prst="rect">
            <a:avLst/>
          </a:prstGeom>
          <a:noFill/>
        </p:spPr>
        <p:txBody>
          <a:bodyPr wrap="square">
            <a:spAutoFit/>
          </a:bodyPr>
          <a:lstStyle/>
          <a:p>
            <a:pPr algn="l">
              <a:lnSpc>
                <a:spcPct val="105000"/>
              </a:lnSpc>
              <a:spcAft>
                <a:spcPts val="0"/>
              </a:spcAft>
            </a:pPr>
            <a:r>
              <a:rPr sz="1400" b="1">
                <a:solidFill>
                  <a:srgbClr val="14141C"/>
                </a:solidFill>
                <a:latin typeface="Helvetica Neue"/>
              </a:rPr>
              <a:t>Incumbents 97.6% · challengers 2.3% of brand search</a:t>
            </a:r>
          </a:p>
        </p:txBody>
      </p:sp>
      <p:sp>
        <p:nvSpPr>
          <p:cNvPr id="52" name="TextBox"/>
          <p:cNvSpPr txBox="1"/>
          <p:nvPr/>
        </p:nvSpPr>
        <p:spPr>
          <a:xfrm>
            <a:off x="685800" y="6236208"/>
            <a:ext cx="10881360" cy="45720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Share of brand search, 261 weeks, Sep 2021 – Sep 2026 · * too low-volume to read share or change</a:t>
            </a:r>
          </a:p>
        </p:txBody>
      </p:sp>
      <p:sp>
        <p:nvSpPr>
          <p:cNvPr id="53" name="TextBox"/>
          <p:cNvSpPr txBox="1"/>
          <p:nvPr/>
        </p:nvSpPr>
        <p:spPr>
          <a:xfrm>
            <a:off x="548640" y="6400800"/>
            <a:ext cx="8229600" cy="274320"/>
          </a:xfrm>
          <a:prstGeom prst="rect">
            <a:avLst/>
          </a:prstGeom>
          <a:noFill/>
        </p:spPr>
        <p:txBody>
          <a:bodyPr wrap="square">
            <a:spAutoFit/>
          </a:bodyPr>
          <a:lstStyle/>
          <a:p>
            <a:pPr algn="l">
              <a:lnSpc>
                <a:spcPct val="105000"/>
              </a:lnSpc>
              <a:spcAft>
                <a:spcPts val="0"/>
              </a:spcAft>
            </a:pPr>
            <a:r>
              <a:rPr sz="1000" b="0">
                <a:solidFill>
                  <a:srgbClr val="585868"/>
                </a:solidFill>
                <a:latin typeface="Helvetica Neue"/>
              </a:rPr>
              <a:t>Banking Campaigns Comparator · ING DACI / Customer AI · September 2026</a:t>
            </a:r>
          </a:p>
        </p:txBody>
      </p:sp>
      <p:sp>
        <p:nvSpPr>
          <p:cNvPr id="54" name="TextBox"/>
          <p:cNvSpPr txBox="1"/>
          <p:nvPr/>
        </p:nvSpPr>
        <p:spPr>
          <a:xfrm>
            <a:off x="11094415" y="6400800"/>
            <a:ext cx="548640" cy="274320"/>
          </a:xfrm>
          <a:prstGeom prst="rect">
            <a:avLst/>
          </a:prstGeom>
          <a:noFill/>
        </p:spPr>
        <p:txBody>
          <a:bodyPr wrap="square">
            <a:spAutoFit/>
          </a:bodyPr>
          <a:lstStyle/>
          <a:p>
            <a:pPr algn="r">
              <a:lnSpc>
                <a:spcPct val="105000"/>
              </a:lnSpc>
              <a:spcAft>
                <a:spcPts val="0"/>
              </a:spcAft>
            </a:pPr>
            <a:r>
              <a:rPr sz="1000" b="0">
                <a:solidFill>
                  <a:srgbClr val="585868"/>
                </a:solidFill>
                <a:latin typeface="Helvetica Neue"/>
              </a:rPr>
              <a:t>9</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p:cNvSpPr txBox="1"/>
          <p:nvPr/>
        </p:nvSpPr>
        <p:spPr>
          <a:xfrm>
            <a:off x="548640" y="320040"/>
            <a:ext cx="11064240" cy="640080"/>
          </a:xfrm>
          <a:prstGeom prst="rect">
            <a:avLst/>
          </a:prstGeom>
          <a:noFill/>
        </p:spPr>
        <p:txBody>
          <a:bodyPr wrap="square">
            <a:spAutoFit/>
          </a:bodyPr>
          <a:lstStyle/>
          <a:p>
            <a:pPr algn="l">
              <a:lnSpc>
                <a:spcPct val="105000"/>
              </a:lnSpc>
              <a:spcAft>
                <a:spcPts val="0"/>
              </a:spcAft>
            </a:pPr>
            <a:r>
              <a:rPr sz="2400" b="1">
                <a:solidFill>
                  <a:srgbClr val="14141C"/>
                </a:solidFill>
                <a:latin typeface="Helvetica Neue"/>
              </a:rPr>
              <a:t>Where the banks to benchmark come from</a:t>
            </a:r>
          </a:p>
        </p:txBody>
      </p:sp>
      <p:sp>
        <p:nvSpPr>
          <p:cNvPr id="3" name="Rectangle"/>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4" name="Table"/>
          <p:cNvGraphicFramePr>
            <a:graphicFrameLocks noGrp="1"/>
          </p:cNvGraphicFramePr>
          <p:nvPr/>
        </p:nvGraphicFramePr>
        <p:xfrm>
          <a:off x="685800" y="1564580"/>
          <a:ext cx="10566400" cy="3233439"/>
        </p:xfrm>
        <a:graphic>
          <a:graphicData uri="http://schemas.openxmlformats.org/drawingml/2006/table">
            <a:tbl>
              <a:tblPr/>
              <a:tblGrid>
                <a:gridCol w="2113280">
                  <a:extLst>
                    <a:ext uri="{9D8B030D-6E8A-4147-A177-3AD203B41FA5}">
                      <a16:colId xmlns:a16="http://schemas.microsoft.com/office/drawing/2014/main" val="20000"/>
                    </a:ext>
                  </a:extLst>
                </a:gridCol>
                <a:gridCol w="1162304">
                  <a:extLst>
                    <a:ext uri="{9D8B030D-6E8A-4147-A177-3AD203B41FA5}">
                      <a16:colId xmlns:a16="http://schemas.microsoft.com/office/drawing/2014/main" val="20001"/>
                    </a:ext>
                  </a:extLst>
                </a:gridCol>
                <a:gridCol w="1162304">
                  <a:extLst>
                    <a:ext uri="{9D8B030D-6E8A-4147-A177-3AD203B41FA5}">
                      <a16:colId xmlns:a16="http://schemas.microsoft.com/office/drawing/2014/main" val="20002"/>
                    </a:ext>
                  </a:extLst>
                </a:gridCol>
                <a:gridCol w="1056640">
                  <a:extLst>
                    <a:ext uri="{9D8B030D-6E8A-4147-A177-3AD203B41FA5}">
                      <a16:colId xmlns:a16="http://schemas.microsoft.com/office/drawing/2014/main" val="20003"/>
                    </a:ext>
                  </a:extLst>
                </a:gridCol>
                <a:gridCol w="1901952">
                  <a:extLst>
                    <a:ext uri="{9D8B030D-6E8A-4147-A177-3AD203B41FA5}">
                      <a16:colId xmlns:a16="http://schemas.microsoft.com/office/drawing/2014/main" val="20004"/>
                    </a:ext>
                  </a:extLst>
                </a:gridCol>
                <a:gridCol w="3169920">
                  <a:extLst>
                    <a:ext uri="{9D8B030D-6E8A-4147-A177-3AD203B41FA5}">
                      <a16:colId xmlns:a16="http://schemas.microsoft.com/office/drawing/2014/main" val="20005"/>
                    </a:ext>
                  </a:extLst>
                </a:gridCol>
              </a:tblGrid>
              <a:tr h="359271">
                <a:tc>
                  <a:txBody>
                    <a:bodyPr/>
                    <a:lstStyle/>
                    <a:p>
                      <a:pPr marL="0" indent="0" algn="l">
                        <a:lnSpc>
                          <a:spcPts val="1820"/>
                        </a:lnSpc>
                        <a:buNone/>
                      </a:pPr>
                      <a:r>
                        <a:rPr lang="en-US" sz="1300" b="1" dirty="0">
                          <a:solidFill>
                            <a:srgbClr val="14141C"/>
                          </a:solidFill>
                          <a:latin typeface="Helvetica Neue"/>
                        </a:rPr>
                        <a:t>Bank</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D8D8E0"/>
                    </a:solidFill>
                  </a:tcPr>
                </a:tc>
                <a:tc>
                  <a:txBody>
                    <a:bodyPr/>
                    <a:lstStyle/>
                    <a:p>
                      <a:pPr marL="0" indent="0" algn="r">
                        <a:lnSpc>
                          <a:spcPts val="1820"/>
                        </a:lnSpc>
                        <a:buNone/>
                      </a:pPr>
                      <a:r>
                        <a:rPr lang="en-US" sz="1300" b="1" dirty="0">
                          <a:solidFill>
                            <a:srgbClr val="14141C"/>
                          </a:solidFill>
                          <a:latin typeface="Helvetica Neue"/>
                        </a:rPr>
                        <a:t>2021–22</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D8D8E0"/>
                    </a:solidFill>
                  </a:tcPr>
                </a:tc>
                <a:tc>
                  <a:txBody>
                    <a:bodyPr/>
                    <a:lstStyle/>
                    <a:p>
                      <a:pPr marL="0" indent="0" algn="r">
                        <a:lnSpc>
                          <a:spcPts val="1820"/>
                        </a:lnSpc>
                        <a:buNone/>
                      </a:pPr>
                      <a:r>
                        <a:rPr lang="en-US" sz="1300" b="1" dirty="0">
                          <a:solidFill>
                            <a:srgbClr val="14141C"/>
                          </a:solidFill>
                          <a:latin typeface="Helvetica Neue"/>
                        </a:rPr>
                        <a:t>2025–26</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D8D8E0"/>
                    </a:solidFill>
                  </a:tcPr>
                </a:tc>
                <a:tc>
                  <a:txBody>
                    <a:bodyPr/>
                    <a:lstStyle/>
                    <a:p>
                      <a:pPr marL="0" indent="0" algn="r">
                        <a:lnSpc>
                          <a:spcPts val="1820"/>
                        </a:lnSpc>
                        <a:buNone/>
                      </a:pPr>
                      <a:r>
                        <a:rPr lang="en-US" sz="1300" b="1" dirty="0">
                          <a:solidFill>
                            <a:srgbClr val="14141C"/>
                          </a:solidFill>
                          <a:latin typeface="Helvetica Neue"/>
                        </a:rPr>
                        <a:t>Change</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D8D8E0"/>
                    </a:solidFill>
                  </a:tcPr>
                </a:tc>
                <a:tc>
                  <a:txBody>
                    <a:bodyPr/>
                    <a:lstStyle/>
                    <a:p>
                      <a:pPr marL="0" indent="0" algn="l">
                        <a:lnSpc>
                          <a:spcPts val="1820"/>
                        </a:lnSpc>
                        <a:buNone/>
                      </a:pPr>
                      <a:r>
                        <a:rPr lang="en-US" sz="1300" b="1" dirty="0">
                          <a:solidFill>
                            <a:srgbClr val="14141C"/>
                          </a:solidFill>
                          <a:latin typeface="Helvetica Neue"/>
                        </a:rPr>
                        <a:t>Direction</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D8D8E0"/>
                    </a:solidFill>
                  </a:tcPr>
                </a:tc>
                <a:tc>
                  <a:txBody>
                    <a:bodyPr/>
                    <a:lstStyle/>
                    <a:p>
                      <a:pPr marL="0" indent="0" algn="l">
                        <a:lnSpc>
                          <a:spcPts val="1820"/>
                        </a:lnSpc>
                        <a:buNone/>
                      </a:pPr>
                      <a:r>
                        <a:rPr lang="en-US" sz="1300" b="1" dirty="0">
                          <a:solidFill>
                            <a:srgbClr val="14141C"/>
                          </a:solidFill>
                          <a:latin typeface="Helvetica Neue"/>
                        </a:rPr>
                        <a:t>Selected as</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D8D8E0"/>
                    </a:solidFill>
                  </a:tcPr>
                </a:tc>
                <a:extLst>
                  <a:ext uri="{0D108BD9-81ED-4DB2-BD59-A6C34878D82A}">
                    <a16:rowId xmlns:a16="http://schemas.microsoft.com/office/drawing/2014/main" val="10000"/>
                  </a:ext>
                </a:extLst>
              </a:tr>
              <a:tr h="359271">
                <a:tc>
                  <a:txBody>
                    <a:bodyPr/>
                    <a:lstStyle/>
                    <a:p>
                      <a:pPr marL="0" indent="0" algn="l">
                        <a:lnSpc>
                          <a:spcPts val="1820"/>
                        </a:lnSpc>
                        <a:buNone/>
                      </a:pPr>
                      <a:r>
                        <a:rPr lang="en-US" sz="1300" b="0" dirty="0">
                          <a:solidFill>
                            <a:srgbClr val="14141C"/>
                          </a:solidFill>
                          <a:latin typeface="Helvetica Neue"/>
                        </a:rPr>
                        <a:t>KBC</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r">
                        <a:lnSpc>
                          <a:spcPts val="1820"/>
                        </a:lnSpc>
                        <a:buNone/>
                      </a:pPr>
                      <a:r>
                        <a:rPr lang="en-US" sz="1300" b="0" dirty="0">
                          <a:solidFill>
                            <a:srgbClr val="14141C"/>
                          </a:solidFill>
                          <a:latin typeface="Helvetica Neue"/>
                        </a:rPr>
                        <a:t>21.75%</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r">
                        <a:lnSpc>
                          <a:spcPts val="1820"/>
                        </a:lnSpc>
                        <a:buNone/>
                      </a:pPr>
                      <a:r>
                        <a:rPr lang="en-US" sz="1300" b="0" dirty="0">
                          <a:solidFill>
                            <a:srgbClr val="14141C"/>
                          </a:solidFill>
                          <a:latin typeface="Helvetica Neue"/>
                        </a:rPr>
                        <a:t>20.13%</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r">
                        <a:lnSpc>
                          <a:spcPts val="1820"/>
                        </a:lnSpc>
                        <a:buNone/>
                      </a:pPr>
                      <a:r>
                        <a:rPr lang="en-US" sz="1300" b="0" dirty="0">
                          <a:solidFill>
                            <a:srgbClr val="14141C"/>
                          </a:solidFill>
                          <a:latin typeface="Helvetica Neue"/>
                        </a:rPr>
                        <a:t>−1.62</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l">
                        <a:lnSpc>
                          <a:spcPts val="1820"/>
                        </a:lnSpc>
                        <a:buNone/>
                      </a:pPr>
                      <a:r>
                        <a:rPr lang="en-US" sz="1300" b="0" dirty="0">
                          <a:solidFill>
                            <a:srgbClr val="14141C"/>
                          </a:solidFill>
                          <a:latin typeface="Helvetica Neue"/>
                        </a:rPr>
                        <a:t>Down −2.8%/yr</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l">
                        <a:lnSpc>
                          <a:spcPts val="1820"/>
                        </a:lnSpc>
                        <a:buNone/>
                      </a:pPr>
                      <a:r>
                        <a:rPr lang="en-US" sz="1300" b="1" dirty="0">
                          <a:solidFill>
                            <a:srgbClr val="FF6200"/>
                          </a:solidFill>
                          <a:latin typeface="Helvetica Neue"/>
                        </a:rPr>
                        <a:t>Largest traditional share</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extLst>
                  <a:ext uri="{0D108BD9-81ED-4DB2-BD59-A6C34878D82A}">
                    <a16:rowId xmlns:a16="http://schemas.microsoft.com/office/drawing/2014/main" val="10001"/>
                  </a:ext>
                </a:extLst>
              </a:tr>
              <a:tr h="359271">
                <a:tc>
                  <a:txBody>
                    <a:bodyPr/>
                    <a:lstStyle/>
                    <a:p>
                      <a:pPr marL="0" indent="0" algn="l">
                        <a:lnSpc>
                          <a:spcPts val="1820"/>
                        </a:lnSpc>
                        <a:buNone/>
                      </a:pPr>
                      <a:r>
                        <a:rPr lang="en-US" sz="1300" b="0" dirty="0">
                          <a:solidFill>
                            <a:srgbClr val="14141C"/>
                          </a:solidFill>
                          <a:latin typeface="Helvetica Neue"/>
                        </a:rPr>
                        <a:t>Belfius</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18.21%</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18.79%</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+0.58</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l">
                        <a:lnSpc>
                          <a:spcPts val="1820"/>
                        </a:lnSpc>
                        <a:buNone/>
                      </a:pPr>
                      <a:r>
                        <a:rPr lang="en-US" sz="1300" b="0" dirty="0">
                          <a:solidFill>
                            <a:srgbClr val="14141C"/>
                          </a:solidFill>
                          <a:latin typeface="Helvetica Neue"/>
                        </a:rPr>
                        <a:t>Flat +0.9%/yr</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l">
                        <a:lnSpc>
                          <a:spcPts val="1820"/>
                        </a:lnSpc>
                        <a:buNone/>
                      </a:pPr>
                      <a:endParaRP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extLst>
                  <a:ext uri="{0D108BD9-81ED-4DB2-BD59-A6C34878D82A}">
                    <a16:rowId xmlns:a16="http://schemas.microsoft.com/office/drawing/2014/main" val="10002"/>
                  </a:ext>
                </a:extLst>
              </a:tr>
              <a:tr h="359271">
                <a:tc>
                  <a:txBody>
                    <a:bodyPr/>
                    <a:lstStyle/>
                    <a:p>
                      <a:pPr marL="0" indent="0" algn="l">
                        <a:lnSpc>
                          <a:spcPts val="1820"/>
                        </a:lnSpc>
                        <a:buNone/>
                      </a:pPr>
                      <a:r>
                        <a:rPr lang="en-US" sz="1300" b="0" dirty="0">
                          <a:solidFill>
                            <a:srgbClr val="14141C"/>
                          </a:solidFill>
                          <a:latin typeface="Helvetica Neue"/>
                        </a:rPr>
                        <a:t>ING</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19.28%</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16.79%</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−2.49</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l">
                        <a:lnSpc>
                          <a:spcPts val="1820"/>
                        </a:lnSpc>
                        <a:buNone/>
                      </a:pPr>
                      <a:r>
                        <a:rPr lang="en-US" sz="1300" b="0" dirty="0">
                          <a:solidFill>
                            <a:srgbClr val="14141C"/>
                          </a:solidFill>
                          <a:latin typeface="Helvetica Neue"/>
                        </a:rPr>
                        <a:t>Down −3.7%/yr</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l">
                        <a:lnSpc>
                          <a:spcPts val="1820"/>
                        </a:lnSpc>
                        <a:buNone/>
                      </a:pPr>
                      <a:r>
                        <a:rPr lang="en-US" sz="1300" b="0" dirty="0">
                          <a:solidFill>
                            <a:srgbClr val="FF6200"/>
                          </a:solidFill>
                          <a:latin typeface="Helvetica Neue"/>
                        </a:rPr>
                        <a:t>Subject of the study</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extLst>
                  <a:ext uri="{0D108BD9-81ED-4DB2-BD59-A6C34878D82A}">
                    <a16:rowId xmlns:a16="http://schemas.microsoft.com/office/drawing/2014/main" val="10003"/>
                  </a:ext>
                </a:extLst>
              </a:tr>
              <a:tr h="359271">
                <a:tc>
                  <a:txBody>
                    <a:bodyPr/>
                    <a:lstStyle/>
                    <a:p>
                      <a:pPr marL="0" indent="0" algn="l">
                        <a:lnSpc>
                          <a:spcPts val="1820"/>
                        </a:lnSpc>
                        <a:buNone/>
                      </a:pPr>
                      <a:r>
                        <a:rPr lang="en-US" sz="1300" b="0" dirty="0">
                          <a:solidFill>
                            <a:srgbClr val="14141C"/>
                          </a:solidFill>
                          <a:latin typeface="Helvetica Neue"/>
                        </a:rPr>
                        <a:t>BNP Paribas Fortis</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17.99%</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13.60%</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−4.39</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l">
                        <a:lnSpc>
                          <a:spcPts val="1820"/>
                        </a:lnSpc>
                        <a:buNone/>
                      </a:pPr>
                      <a:r>
                        <a:rPr lang="en-US" sz="1300" b="0" dirty="0">
                          <a:solidFill>
                            <a:srgbClr val="14141C"/>
                          </a:solidFill>
                          <a:latin typeface="Helvetica Neue"/>
                        </a:rPr>
                        <a:t>Down −6.2%/yr</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l">
                        <a:lnSpc>
                          <a:spcPts val="1820"/>
                        </a:lnSpc>
                        <a:buNone/>
                      </a:pPr>
                      <a:endParaRP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extLst>
                  <a:ext uri="{0D108BD9-81ED-4DB2-BD59-A6C34878D82A}">
                    <a16:rowId xmlns:a16="http://schemas.microsoft.com/office/drawing/2014/main" val="10004"/>
                  </a:ext>
                </a:extLst>
              </a:tr>
              <a:tr h="359271">
                <a:tc>
                  <a:txBody>
                    <a:bodyPr/>
                    <a:lstStyle/>
                    <a:p>
                      <a:pPr marL="0" indent="0" algn="l">
                        <a:lnSpc>
                          <a:spcPts val="1820"/>
                        </a:lnSpc>
                        <a:buNone/>
                      </a:pPr>
                      <a:r>
                        <a:rPr lang="en-US" sz="1300" b="0" dirty="0">
                          <a:solidFill>
                            <a:srgbClr val="14141C"/>
                          </a:solidFill>
                          <a:latin typeface="Helvetica Neue"/>
                        </a:rPr>
                        <a:t>Argenta</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8.32%</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9.42%</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+1.10</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l">
                        <a:lnSpc>
                          <a:spcPts val="1820"/>
                        </a:lnSpc>
                        <a:buNone/>
                      </a:pPr>
                      <a:r>
                        <a:rPr lang="en-US" sz="1300" b="0" dirty="0">
                          <a:solidFill>
                            <a:srgbClr val="14141C"/>
                          </a:solidFill>
                          <a:latin typeface="Helvetica Neue"/>
                        </a:rPr>
                        <a:t>Flat +2.0%/yr</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l">
                        <a:lnSpc>
                          <a:spcPts val="1820"/>
                        </a:lnSpc>
                        <a:buNone/>
                      </a:pPr>
                      <a:endParaRP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extLst>
                  <a:ext uri="{0D108BD9-81ED-4DB2-BD59-A6C34878D82A}">
                    <a16:rowId xmlns:a16="http://schemas.microsoft.com/office/drawing/2014/main" val="10005"/>
                  </a:ext>
                </a:extLst>
              </a:tr>
              <a:tr h="359271">
                <a:tc>
                  <a:txBody>
                    <a:bodyPr/>
                    <a:lstStyle/>
                    <a:p>
                      <a:pPr marL="0" indent="0" algn="l">
                        <a:lnSpc>
                          <a:spcPts val="1820"/>
                        </a:lnSpc>
                        <a:buNone/>
                      </a:pPr>
                      <a:r>
                        <a:rPr lang="en-US" sz="1300" b="0" dirty="0">
                          <a:solidFill>
                            <a:srgbClr val="14141C"/>
                          </a:solidFill>
                          <a:latin typeface="Helvetica Neue"/>
                        </a:rPr>
                        <a:t>Crelan</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r">
                        <a:lnSpc>
                          <a:spcPts val="1820"/>
                        </a:lnSpc>
                        <a:buNone/>
                      </a:pPr>
                      <a:r>
                        <a:rPr lang="en-US" sz="1300" b="0" dirty="0">
                          <a:solidFill>
                            <a:srgbClr val="14141C"/>
                          </a:solidFill>
                          <a:latin typeface="Helvetica Neue"/>
                        </a:rPr>
                        <a:t>5.12%</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r">
                        <a:lnSpc>
                          <a:spcPts val="1820"/>
                        </a:lnSpc>
                        <a:buNone/>
                      </a:pPr>
                      <a:r>
                        <a:rPr lang="en-US" sz="1300" b="0" dirty="0">
                          <a:solidFill>
                            <a:srgbClr val="14141C"/>
                          </a:solidFill>
                          <a:latin typeface="Helvetica Neue"/>
                        </a:rPr>
                        <a:t>8.96%</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r">
                        <a:lnSpc>
                          <a:spcPts val="1820"/>
                        </a:lnSpc>
                        <a:buNone/>
                      </a:pPr>
                      <a:r>
                        <a:rPr lang="en-US" sz="1300" b="0" dirty="0">
                          <a:solidFill>
                            <a:srgbClr val="14141C"/>
                          </a:solidFill>
                          <a:latin typeface="Helvetica Neue"/>
                        </a:rPr>
                        <a:t>+3.84</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l">
                        <a:lnSpc>
                          <a:spcPts val="1820"/>
                        </a:lnSpc>
                        <a:buNone/>
                      </a:pPr>
                      <a:r>
                        <a:rPr lang="en-US" sz="1300" b="0" dirty="0">
                          <a:solidFill>
                            <a:srgbClr val="14141C"/>
                          </a:solidFill>
                          <a:latin typeface="Helvetica Neue"/>
                        </a:rPr>
                        <a:t>Up +16.4%/yr</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l">
                        <a:lnSpc>
                          <a:spcPts val="1820"/>
                        </a:lnSpc>
                        <a:buNone/>
                      </a:pPr>
                      <a:r>
                        <a:rPr lang="en-US" sz="1300" b="1" dirty="0">
                          <a:solidFill>
                            <a:srgbClr val="FF6200"/>
                          </a:solidFill>
                          <a:latin typeface="Helvetica Neue"/>
                        </a:rPr>
                        <a:t>Fastest-rising traditional</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extLst>
                  <a:ext uri="{0D108BD9-81ED-4DB2-BD59-A6C34878D82A}">
                    <a16:rowId xmlns:a16="http://schemas.microsoft.com/office/drawing/2014/main" val="10006"/>
                  </a:ext>
                </a:extLst>
              </a:tr>
              <a:tr h="359271">
                <a:tc>
                  <a:txBody>
                    <a:bodyPr/>
                    <a:lstStyle/>
                    <a:p>
                      <a:pPr marL="0" indent="0" algn="l">
                        <a:lnSpc>
                          <a:spcPts val="1820"/>
                        </a:lnSpc>
                        <a:buNone/>
                      </a:pPr>
                      <a:r>
                        <a:rPr lang="en-US" sz="1300" b="0" dirty="0">
                          <a:solidFill>
                            <a:srgbClr val="14141C"/>
                          </a:solidFill>
                          <a:latin typeface="Helvetica Neue"/>
                        </a:rPr>
                        <a:t>Beobank †</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4.38%</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4.34%</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−0.04</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l">
                        <a:lnSpc>
                          <a:spcPts val="1820"/>
                        </a:lnSpc>
                        <a:buNone/>
                      </a:pPr>
                      <a:r>
                        <a:rPr lang="en-US" sz="1300" b="0" dirty="0">
                          <a:solidFill>
                            <a:srgbClr val="14141C"/>
                          </a:solidFill>
                          <a:latin typeface="Helvetica Neue"/>
                        </a:rPr>
                        <a:t>Flat −1.3%/yr</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l">
                        <a:lnSpc>
                          <a:spcPts val="1820"/>
                        </a:lnSpc>
                        <a:buNone/>
                      </a:pPr>
                      <a:endParaRP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extLst>
                  <a:ext uri="{0D108BD9-81ED-4DB2-BD59-A6C34878D82A}">
                    <a16:rowId xmlns:a16="http://schemas.microsoft.com/office/drawing/2014/main" val="10007"/>
                  </a:ext>
                </a:extLst>
              </a:tr>
              <a:tr h="359271">
                <a:tc>
                  <a:txBody>
                    <a:bodyPr/>
                    <a:lstStyle/>
                    <a:p>
                      <a:pPr marL="0" indent="0" algn="l">
                        <a:lnSpc>
                          <a:spcPts val="1820"/>
                        </a:lnSpc>
                        <a:buNone/>
                      </a:pPr>
                      <a:r>
                        <a:rPr lang="en-US" sz="1300" b="0" dirty="0">
                          <a:solidFill>
                            <a:srgbClr val="14141C"/>
                          </a:solidFill>
                          <a:latin typeface="Helvetica Neue"/>
                        </a:rPr>
                        <a:t>Revolut</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r">
                        <a:lnSpc>
                          <a:spcPts val="1820"/>
                        </a:lnSpc>
                        <a:buNone/>
                      </a:pPr>
                      <a:r>
                        <a:rPr lang="en-US" sz="1300" b="0" dirty="0">
                          <a:solidFill>
                            <a:srgbClr val="14141C"/>
                          </a:solidFill>
                          <a:latin typeface="Helvetica Neue"/>
                        </a:rPr>
                        <a:t>0.59%</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r">
                        <a:lnSpc>
                          <a:spcPts val="1820"/>
                        </a:lnSpc>
                        <a:buNone/>
                      </a:pPr>
                      <a:r>
                        <a:rPr lang="en-US" sz="1300" b="0" dirty="0">
                          <a:solidFill>
                            <a:srgbClr val="14141C"/>
                          </a:solidFill>
                          <a:latin typeface="Helvetica Neue"/>
                        </a:rPr>
                        <a:t>3.22%</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r">
                        <a:lnSpc>
                          <a:spcPts val="1820"/>
                        </a:lnSpc>
                        <a:buNone/>
                      </a:pPr>
                      <a:r>
                        <a:rPr lang="en-US" sz="1300" b="0" dirty="0">
                          <a:solidFill>
                            <a:srgbClr val="14141C"/>
                          </a:solidFill>
                          <a:latin typeface="Helvetica Neue"/>
                        </a:rPr>
                        <a:t>+2.63</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l">
                        <a:lnSpc>
                          <a:spcPts val="1820"/>
                        </a:lnSpc>
                        <a:buNone/>
                      </a:pPr>
                      <a:r>
                        <a:rPr lang="en-US" sz="1300" b="0" dirty="0">
                          <a:solidFill>
                            <a:srgbClr val="14141C"/>
                          </a:solidFill>
                          <a:latin typeface="Helvetica Neue"/>
                        </a:rPr>
                        <a:t>Up +37.8%/yr</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l">
                        <a:lnSpc>
                          <a:spcPts val="1820"/>
                        </a:lnSpc>
                        <a:buNone/>
                      </a:pPr>
                      <a:r>
                        <a:rPr lang="en-US" sz="1300" b="1" dirty="0">
                          <a:solidFill>
                            <a:srgbClr val="FF6200"/>
                          </a:solidFill>
                          <a:latin typeface="Helvetica Neue"/>
                        </a:rPr>
                        <a:t>Measurable challenger</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extLst>
                  <a:ext uri="{0D108BD9-81ED-4DB2-BD59-A6C34878D82A}">
                    <a16:rowId xmlns:a16="http://schemas.microsoft.com/office/drawing/2014/main" val="10008"/>
                  </a:ext>
                </a:extLst>
              </a:tr>
            </a:tbl>
          </a:graphicData>
        </a:graphic>
      </p:graphicFrame>
      <p:sp>
        <p:nvSpPr>
          <p:cNvPr id="5" name="TextBox"/>
          <p:cNvSpPr txBox="1"/>
          <p:nvPr/>
        </p:nvSpPr>
        <p:spPr>
          <a:xfrm>
            <a:off x="685800" y="6236208"/>
            <a:ext cx="10881360" cy="45720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Share per 52-week period · flat = within ±2%/yr, a convention, not a test · † direction flips without the first period</a:t>
            </a:r>
          </a:p>
        </p:txBody>
      </p:sp>
      <p:sp>
        <p:nvSpPr>
          <p:cNvPr id="6" name="TextBox"/>
          <p:cNvSpPr txBox="1"/>
          <p:nvPr/>
        </p:nvSpPr>
        <p:spPr>
          <a:xfrm>
            <a:off x="548640" y="6400800"/>
            <a:ext cx="8229600" cy="274320"/>
          </a:xfrm>
          <a:prstGeom prst="rect">
            <a:avLst/>
          </a:prstGeom>
          <a:noFill/>
        </p:spPr>
        <p:txBody>
          <a:bodyPr wrap="square">
            <a:spAutoFit/>
          </a:bodyPr>
          <a:lstStyle/>
          <a:p>
            <a:pPr algn="l">
              <a:lnSpc>
                <a:spcPct val="105000"/>
              </a:lnSpc>
              <a:spcAft>
                <a:spcPts val="0"/>
              </a:spcAft>
            </a:pPr>
            <a:r>
              <a:rPr sz="1000" b="0">
                <a:solidFill>
                  <a:srgbClr val="585868"/>
                </a:solidFill>
                <a:latin typeface="Helvetica Neue"/>
              </a:rPr>
              <a:t>Banking Campaigns Comparator · ING DACI / Customer AI · September 2026</a:t>
            </a:r>
          </a:p>
        </p:txBody>
      </p:sp>
      <p:sp>
        <p:nvSpPr>
          <p:cNvPr id="7" name="TextBox"/>
          <p:cNvSpPr txBox="1"/>
          <p:nvPr/>
        </p:nvSpPr>
        <p:spPr>
          <a:xfrm>
            <a:off x="11094415" y="6400800"/>
            <a:ext cx="548640" cy="274320"/>
          </a:xfrm>
          <a:prstGeom prst="rect">
            <a:avLst/>
          </a:prstGeom>
          <a:noFill/>
        </p:spPr>
        <p:txBody>
          <a:bodyPr wrap="square">
            <a:spAutoFit/>
          </a:bodyPr>
          <a:lstStyle/>
          <a:p>
            <a:pPr algn="r">
              <a:lnSpc>
                <a:spcPct val="105000"/>
              </a:lnSpc>
              <a:spcAft>
                <a:spcPts val="0"/>
              </a:spcAft>
            </a:pPr>
            <a:r>
              <a:rPr sz="1000" b="0">
                <a:solidFill>
                  <a:srgbClr val="585868"/>
                </a:solidFill>
                <a:latin typeface="Helvetica Neue"/>
              </a:rPr>
              <a:t>10</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p:cNvSpPr txBox="1"/>
          <p:nvPr/>
        </p:nvSpPr>
        <p:spPr>
          <a:xfrm>
            <a:off x="548640" y="320040"/>
            <a:ext cx="11064240" cy="640080"/>
          </a:xfrm>
          <a:prstGeom prst="rect">
            <a:avLst/>
          </a:prstGeom>
          <a:noFill/>
        </p:spPr>
        <p:txBody>
          <a:bodyPr wrap="square">
            <a:spAutoFit/>
          </a:bodyPr>
          <a:lstStyle/>
          <a:p>
            <a:pPr algn="l">
              <a:lnSpc>
                <a:spcPct val="105000"/>
              </a:lnSpc>
              <a:spcAft>
                <a:spcPts val="0"/>
              </a:spcAft>
            </a:pPr>
            <a:r>
              <a:rPr sz="2400" b="1">
                <a:solidFill>
                  <a:srgbClr val="14141C"/>
                </a:solidFill>
                <a:latin typeface="Helvetica Neue"/>
              </a:rPr>
              <a:t>What their pages share that ING’s don’t</a:t>
            </a:r>
          </a:p>
        </p:txBody>
      </p:sp>
      <p:sp>
        <p:nvSpPr>
          <p:cNvPr id="3" name="Rectangle"/>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p:cNvSpPr txBox="1"/>
          <p:nvPr/>
        </p:nvSpPr>
        <p:spPr>
          <a:xfrm>
            <a:off x="685800" y="1325880"/>
            <a:ext cx="2400000" cy="238720"/>
          </a:xfrm>
          <a:prstGeom prst="rect">
            <a:avLst/>
          </a:prstGeom>
          <a:noFill/>
        </p:spPr>
        <p:txBody>
          <a:bodyPr wrap="none">
            <a:spAutoFit/>
          </a:bodyPr>
          <a:lstStyle/>
          <a:p>
            <a:pPr algn="l">
              <a:lnSpc>
                <a:spcPct val="105000"/>
              </a:lnSpc>
              <a:spcAft>
                <a:spcPts val="0"/>
              </a:spcAft>
            </a:pPr>
            <a:r>
              <a:rPr sz="1200" b="0">
                <a:solidFill>
                  <a:srgbClr val="14141C"/>
                </a:solidFill>
                <a:latin typeface="Helvetica Neue"/>
              </a:rPr>
              <a:t>●</a:t>
            </a:r>
            <a:r>
              <a:rPr sz="1200" b="0">
                <a:solidFill>
                  <a:srgbClr val="585868"/>
                </a:solidFill>
                <a:latin typeface="Helvetica Neue"/>
              </a:rPr>
              <a:t> Mean of KBC, Crelan, Revolut</a:t>
            </a:r>
          </a:p>
        </p:txBody>
      </p:sp>
      <p:sp>
        <p:nvSpPr>
          <p:cNvPr id="5" name="TextBox"/>
          <p:cNvSpPr txBox="1"/>
          <p:nvPr/>
        </p:nvSpPr>
        <p:spPr>
          <a:xfrm>
            <a:off x="3423000" y="1325880"/>
            <a:ext cx="550000" cy="238720"/>
          </a:xfrm>
          <a:prstGeom prst="rect">
            <a:avLst/>
          </a:prstGeom>
          <a:noFill/>
        </p:spPr>
        <p:txBody>
          <a:bodyPr wrap="none">
            <a:spAutoFit/>
          </a:bodyPr>
          <a:lstStyle/>
          <a:p>
            <a:pPr algn="l">
              <a:lnSpc>
                <a:spcPct val="105000"/>
              </a:lnSpc>
              <a:spcAft>
                <a:spcPts val="0"/>
              </a:spcAft>
            </a:pPr>
            <a:r>
              <a:rPr sz="1200" b="0">
                <a:solidFill>
                  <a:srgbClr val="FF6200"/>
                </a:solidFill>
                <a:latin typeface="Helvetica Neue"/>
              </a:rPr>
              <a:t>●</a:t>
            </a:r>
            <a:r>
              <a:rPr sz="1200" b="0">
                <a:solidFill>
                  <a:srgbClr val="585868"/>
                </a:solidFill>
                <a:latin typeface="Helvetica Neue"/>
              </a:rPr>
              <a:t> ING</a:t>
            </a:r>
          </a:p>
        </p:txBody>
      </p:sp>
      <p:sp>
        <p:nvSpPr>
          <p:cNvPr id="6" name="TextBox"/>
          <p:cNvSpPr txBox="1"/>
          <p:nvPr/>
        </p:nvSpPr>
        <p:spPr>
          <a:xfrm>
            <a:off x="4123000" y="1325880"/>
            <a:ext cx="2878127" cy="238720"/>
          </a:xfrm>
          <a:prstGeom prst="rect">
            <a:avLst/>
          </a:prstGeom>
          <a:noFill/>
        </p:spPr>
        <p:txBody>
          <a:bodyPr wrap="none">
            <a:spAutoFit/>
          </a:bodyPr>
          <a:lstStyle/>
          <a:p>
            <a:pPr algn="l">
              <a:lnSpc>
                <a:spcPct val="105000"/>
              </a:lnSpc>
              <a:spcAft>
                <a:spcPts val="0"/>
              </a:spcAft>
            </a:pPr>
            <a:r>
              <a:rPr sz="1200" b="0">
                <a:solidFill>
                  <a:srgbClr val="585868"/>
                </a:solidFill>
                <a:latin typeface="Helvetica Neue"/>
              </a:rPr>
              <a:t>Vertical tick = market average (z-score 0)</a:t>
            </a:r>
          </a:p>
        </p:txBody>
      </p:sp>
      <p:sp>
        <p:nvSpPr>
          <p:cNvPr id="7" name="TextBox"/>
          <p:cNvSpPr txBox="1"/>
          <p:nvPr/>
        </p:nvSpPr>
        <p:spPr>
          <a:xfrm>
            <a:off x="685800" y="1846580"/>
            <a:ext cx="2747010" cy="274241"/>
          </a:xfrm>
          <a:prstGeom prst="rect">
            <a:avLst/>
          </a:prstGeom>
          <a:noFill/>
        </p:spPr>
        <p:txBody>
          <a:bodyPr wrap="square">
            <a:spAutoFit/>
          </a:bodyPr>
          <a:lstStyle/>
          <a:p>
            <a:pPr algn="l">
              <a:lnSpc>
                <a:spcPct val="105000"/>
              </a:lnSpc>
              <a:spcAft>
                <a:spcPts val="0"/>
              </a:spcAft>
            </a:pPr>
            <a:r>
              <a:rPr sz="1400" b="1">
                <a:solidFill>
                  <a:srgbClr val="14141C"/>
                </a:solidFill>
                <a:latin typeface="Helvetica Neue"/>
              </a:rPr>
              <a:t>Images carry alt text</a:t>
            </a:r>
          </a:p>
        </p:txBody>
      </p:sp>
      <p:sp>
        <p:nvSpPr>
          <p:cNvPr id="8" name="Rect"/>
          <p:cNvSpPr/>
          <p:nvPr/>
        </p:nvSpPr>
        <p:spPr>
          <a:xfrm>
            <a:off x="3606800" y="1964651"/>
            <a:ext cx="4826000" cy="12700"/>
          </a:xfrm>
          <a:prstGeom prst="rect">
            <a:avLst/>
          </a:prstGeom>
          <a:solidFill>
            <a:srgbClr val="D8D8E0"/>
          </a:solidFill>
          <a:ln>
            <a:noFill/>
          </a:ln>
        </p:spPr>
        <p:txBody>
          <a:bodyPr/>
          <a:lstStyle/>
          <a:p>
            <a:endParaRPr/>
          </a:p>
        </p:txBody>
      </p:sp>
      <p:sp>
        <p:nvSpPr>
          <p:cNvPr id="9" name="Rect"/>
          <p:cNvSpPr/>
          <p:nvPr/>
        </p:nvSpPr>
        <p:spPr>
          <a:xfrm>
            <a:off x="4978400" y="1844001"/>
            <a:ext cx="12700" cy="254000"/>
          </a:xfrm>
          <a:prstGeom prst="rect">
            <a:avLst/>
          </a:prstGeom>
          <a:solidFill>
            <a:srgbClr val="A8A8B8"/>
          </a:solidFill>
          <a:ln>
            <a:noFill/>
          </a:ln>
        </p:spPr>
        <p:txBody>
          <a:bodyPr/>
          <a:lstStyle/>
          <a:p>
            <a:endParaRPr/>
          </a:p>
        </p:txBody>
      </p:sp>
      <p:sp>
        <p:nvSpPr>
          <p:cNvPr id="10" name="Oval"/>
          <p:cNvSpPr/>
          <p:nvPr/>
        </p:nvSpPr>
        <p:spPr>
          <a:xfrm>
            <a:off x="4178300" y="1882101"/>
            <a:ext cx="177800" cy="177800"/>
          </a:xfrm>
          <a:prstGeom prst="ellipse">
            <a:avLst/>
          </a:prstGeom>
          <a:solidFill>
            <a:srgbClr val="FF6200"/>
          </a:solidFill>
          <a:ln>
            <a:noFill/>
          </a:ln>
        </p:spPr>
        <p:txBody>
          <a:bodyPr/>
          <a:lstStyle/>
          <a:p>
            <a:endParaRPr/>
          </a:p>
        </p:txBody>
      </p:sp>
      <p:sp>
        <p:nvSpPr>
          <p:cNvPr id="11" name="Oval"/>
          <p:cNvSpPr/>
          <p:nvPr/>
        </p:nvSpPr>
        <p:spPr>
          <a:xfrm>
            <a:off x="7531100" y="1882101"/>
            <a:ext cx="177800" cy="177800"/>
          </a:xfrm>
          <a:prstGeom prst="ellipse">
            <a:avLst/>
          </a:prstGeom>
          <a:solidFill>
            <a:srgbClr val="14141C"/>
          </a:solidFill>
          <a:ln>
            <a:noFill/>
          </a:ln>
        </p:spPr>
        <p:txBody>
          <a:bodyPr/>
          <a:lstStyle/>
          <a:p>
            <a:endParaRPr/>
          </a:p>
        </p:txBody>
      </p:sp>
      <p:sp>
        <p:nvSpPr>
          <p:cNvPr id="12" name="TextBox"/>
          <p:cNvSpPr txBox="1"/>
          <p:nvPr/>
        </p:nvSpPr>
        <p:spPr>
          <a:xfrm>
            <a:off x="8686800" y="1864341"/>
            <a:ext cx="1500000" cy="238720"/>
          </a:xfrm>
          <a:prstGeom prst="rect">
            <a:avLst/>
          </a:prstGeom>
          <a:noFill/>
        </p:spPr>
        <p:txBody>
          <a:bodyPr wrap="none">
            <a:spAutoFit/>
          </a:bodyPr>
          <a:lstStyle/>
          <a:p>
            <a:pPr algn="l">
              <a:lnSpc>
                <a:spcPct val="105000"/>
              </a:lnSpc>
              <a:spcAft>
                <a:spcPts val="0"/>
              </a:spcAft>
            </a:pPr>
            <a:r>
              <a:rPr sz="1200" b="0">
                <a:solidFill>
                  <a:srgbClr val="14141C"/>
                </a:solidFill>
                <a:latin typeface="Helvetica Neue"/>
              </a:rPr>
              <a:t>+1.91 vs </a:t>
            </a:r>
            <a:r>
              <a:rPr sz="1200" b="0">
                <a:solidFill>
                  <a:srgbClr val="FF6200"/>
                </a:solidFill>
                <a:latin typeface="Helvetica Neue"/>
              </a:rPr>
              <a:t>−0.52</a:t>
            </a:r>
          </a:p>
        </p:txBody>
      </p:sp>
      <p:sp>
        <p:nvSpPr>
          <p:cNvPr id="13" name="TextBox"/>
          <p:cNvSpPr txBox="1"/>
          <p:nvPr/>
        </p:nvSpPr>
        <p:spPr>
          <a:xfrm>
            <a:off x="685800" y="2379980"/>
            <a:ext cx="2747010" cy="274241"/>
          </a:xfrm>
          <a:prstGeom prst="rect">
            <a:avLst/>
          </a:prstGeom>
          <a:noFill/>
        </p:spPr>
        <p:txBody>
          <a:bodyPr wrap="square">
            <a:spAutoFit/>
          </a:bodyPr>
          <a:lstStyle/>
          <a:p>
            <a:pPr algn="l">
              <a:lnSpc>
                <a:spcPct val="105000"/>
              </a:lnSpc>
              <a:spcAft>
                <a:spcPts val="0"/>
              </a:spcAft>
            </a:pPr>
            <a:r>
              <a:rPr sz="1400" b="1">
                <a:solidFill>
                  <a:srgbClr val="14141C"/>
                </a:solidFill>
                <a:latin typeface="Helvetica Neue"/>
              </a:rPr>
              <a:t>Call-to-action contrast</a:t>
            </a:r>
          </a:p>
        </p:txBody>
      </p:sp>
      <p:sp>
        <p:nvSpPr>
          <p:cNvPr id="14" name="Rect"/>
          <p:cNvSpPr/>
          <p:nvPr/>
        </p:nvSpPr>
        <p:spPr>
          <a:xfrm>
            <a:off x="3606800" y="2498051"/>
            <a:ext cx="4826000" cy="12700"/>
          </a:xfrm>
          <a:prstGeom prst="rect">
            <a:avLst/>
          </a:prstGeom>
          <a:solidFill>
            <a:srgbClr val="D8D8E0"/>
          </a:solidFill>
          <a:ln>
            <a:noFill/>
          </a:ln>
        </p:spPr>
        <p:txBody>
          <a:bodyPr/>
          <a:lstStyle/>
          <a:p>
            <a:endParaRPr/>
          </a:p>
        </p:txBody>
      </p:sp>
      <p:sp>
        <p:nvSpPr>
          <p:cNvPr id="15" name="Rect"/>
          <p:cNvSpPr/>
          <p:nvPr/>
        </p:nvSpPr>
        <p:spPr>
          <a:xfrm>
            <a:off x="4978400" y="2377401"/>
            <a:ext cx="12700" cy="254000"/>
          </a:xfrm>
          <a:prstGeom prst="rect">
            <a:avLst/>
          </a:prstGeom>
          <a:solidFill>
            <a:srgbClr val="A8A8B8"/>
          </a:solidFill>
          <a:ln>
            <a:noFill/>
          </a:ln>
        </p:spPr>
        <p:txBody>
          <a:bodyPr/>
          <a:lstStyle/>
          <a:p>
            <a:endParaRPr/>
          </a:p>
        </p:txBody>
      </p:sp>
      <p:sp>
        <p:nvSpPr>
          <p:cNvPr id="16" name="Oval"/>
          <p:cNvSpPr/>
          <p:nvPr/>
        </p:nvSpPr>
        <p:spPr>
          <a:xfrm>
            <a:off x="4425950" y="2415501"/>
            <a:ext cx="177800" cy="177800"/>
          </a:xfrm>
          <a:prstGeom prst="ellipse">
            <a:avLst/>
          </a:prstGeom>
          <a:solidFill>
            <a:srgbClr val="FF6200"/>
          </a:solidFill>
          <a:ln>
            <a:noFill/>
          </a:ln>
        </p:spPr>
        <p:txBody>
          <a:bodyPr/>
          <a:lstStyle/>
          <a:p>
            <a:endParaRPr/>
          </a:p>
        </p:txBody>
      </p:sp>
      <p:sp>
        <p:nvSpPr>
          <p:cNvPr id="17" name="Oval"/>
          <p:cNvSpPr/>
          <p:nvPr/>
        </p:nvSpPr>
        <p:spPr>
          <a:xfrm>
            <a:off x="6451600" y="2415501"/>
            <a:ext cx="177800" cy="177800"/>
          </a:xfrm>
          <a:prstGeom prst="ellipse">
            <a:avLst/>
          </a:prstGeom>
          <a:solidFill>
            <a:srgbClr val="14141C"/>
          </a:solidFill>
          <a:ln>
            <a:noFill/>
          </a:ln>
        </p:spPr>
        <p:txBody>
          <a:bodyPr/>
          <a:lstStyle/>
          <a:p>
            <a:endParaRPr/>
          </a:p>
        </p:txBody>
      </p:sp>
      <p:sp>
        <p:nvSpPr>
          <p:cNvPr id="18" name="TextBox"/>
          <p:cNvSpPr txBox="1"/>
          <p:nvPr/>
        </p:nvSpPr>
        <p:spPr>
          <a:xfrm>
            <a:off x="8686800" y="2397741"/>
            <a:ext cx="1500000" cy="238720"/>
          </a:xfrm>
          <a:prstGeom prst="rect">
            <a:avLst/>
          </a:prstGeom>
          <a:noFill/>
        </p:spPr>
        <p:txBody>
          <a:bodyPr wrap="none">
            <a:spAutoFit/>
          </a:bodyPr>
          <a:lstStyle/>
          <a:p>
            <a:pPr algn="l">
              <a:lnSpc>
                <a:spcPct val="105000"/>
              </a:lnSpc>
              <a:spcAft>
                <a:spcPts val="0"/>
              </a:spcAft>
            </a:pPr>
            <a:r>
              <a:rPr sz="1200" b="0">
                <a:solidFill>
                  <a:srgbClr val="14141C"/>
                </a:solidFill>
                <a:latin typeface="Helvetica Neue"/>
              </a:rPr>
              <a:t>+1.13 vs </a:t>
            </a:r>
            <a:r>
              <a:rPr sz="1200" b="0">
                <a:solidFill>
                  <a:srgbClr val="FF6200"/>
                </a:solidFill>
                <a:latin typeface="Helvetica Neue"/>
              </a:rPr>
              <a:t>−0.34</a:t>
            </a:r>
          </a:p>
        </p:txBody>
      </p:sp>
      <p:sp>
        <p:nvSpPr>
          <p:cNvPr id="19" name="TextBox"/>
          <p:cNvSpPr txBox="1"/>
          <p:nvPr/>
        </p:nvSpPr>
        <p:spPr>
          <a:xfrm>
            <a:off x="685800" y="2913380"/>
            <a:ext cx="2747010" cy="274241"/>
          </a:xfrm>
          <a:prstGeom prst="rect">
            <a:avLst/>
          </a:prstGeom>
          <a:noFill/>
        </p:spPr>
        <p:txBody>
          <a:bodyPr wrap="square">
            <a:spAutoFit/>
          </a:bodyPr>
          <a:lstStyle/>
          <a:p>
            <a:pPr algn="l">
              <a:lnSpc>
                <a:spcPct val="105000"/>
              </a:lnSpc>
              <a:spcAft>
                <a:spcPts val="0"/>
              </a:spcAft>
            </a:pPr>
            <a:r>
              <a:rPr sz="1400" b="1">
                <a:solidFill>
                  <a:srgbClr val="14141C"/>
                </a:solidFill>
                <a:latin typeface="Helvetica Neue"/>
              </a:rPr>
              <a:t>Animated elements</a:t>
            </a:r>
          </a:p>
        </p:txBody>
      </p:sp>
      <p:sp>
        <p:nvSpPr>
          <p:cNvPr id="20" name="Rect"/>
          <p:cNvSpPr/>
          <p:nvPr/>
        </p:nvSpPr>
        <p:spPr>
          <a:xfrm>
            <a:off x="3606800" y="3031451"/>
            <a:ext cx="4826000" cy="12700"/>
          </a:xfrm>
          <a:prstGeom prst="rect">
            <a:avLst/>
          </a:prstGeom>
          <a:solidFill>
            <a:srgbClr val="D8D8E0"/>
          </a:solidFill>
          <a:ln>
            <a:noFill/>
          </a:ln>
        </p:spPr>
        <p:txBody>
          <a:bodyPr/>
          <a:lstStyle/>
          <a:p>
            <a:endParaRPr/>
          </a:p>
        </p:txBody>
      </p:sp>
      <p:sp>
        <p:nvSpPr>
          <p:cNvPr id="21" name="Rect"/>
          <p:cNvSpPr/>
          <p:nvPr/>
        </p:nvSpPr>
        <p:spPr>
          <a:xfrm>
            <a:off x="4978400" y="2910801"/>
            <a:ext cx="12700" cy="254000"/>
          </a:xfrm>
          <a:prstGeom prst="rect">
            <a:avLst/>
          </a:prstGeom>
          <a:solidFill>
            <a:srgbClr val="A8A8B8"/>
          </a:solidFill>
          <a:ln>
            <a:noFill/>
          </a:ln>
        </p:spPr>
        <p:txBody>
          <a:bodyPr/>
          <a:lstStyle/>
          <a:p>
            <a:endParaRPr/>
          </a:p>
        </p:txBody>
      </p:sp>
      <p:sp>
        <p:nvSpPr>
          <p:cNvPr id="22" name="Oval"/>
          <p:cNvSpPr/>
          <p:nvPr/>
        </p:nvSpPr>
        <p:spPr>
          <a:xfrm>
            <a:off x="4140200" y="2948901"/>
            <a:ext cx="177800" cy="177800"/>
          </a:xfrm>
          <a:prstGeom prst="ellipse">
            <a:avLst/>
          </a:prstGeom>
          <a:solidFill>
            <a:srgbClr val="FF6200"/>
          </a:solidFill>
          <a:ln>
            <a:noFill/>
          </a:ln>
        </p:spPr>
        <p:txBody>
          <a:bodyPr/>
          <a:lstStyle/>
          <a:p>
            <a:endParaRPr/>
          </a:p>
        </p:txBody>
      </p:sp>
      <p:sp>
        <p:nvSpPr>
          <p:cNvPr id="23" name="Oval"/>
          <p:cNvSpPr/>
          <p:nvPr/>
        </p:nvSpPr>
        <p:spPr>
          <a:xfrm>
            <a:off x="6064250" y="2948901"/>
            <a:ext cx="177800" cy="177800"/>
          </a:xfrm>
          <a:prstGeom prst="ellipse">
            <a:avLst/>
          </a:prstGeom>
          <a:solidFill>
            <a:srgbClr val="14141C"/>
          </a:solidFill>
          <a:ln>
            <a:noFill/>
          </a:ln>
        </p:spPr>
        <p:txBody>
          <a:bodyPr/>
          <a:lstStyle/>
          <a:p>
            <a:endParaRPr/>
          </a:p>
        </p:txBody>
      </p:sp>
      <p:sp>
        <p:nvSpPr>
          <p:cNvPr id="24" name="TextBox"/>
          <p:cNvSpPr txBox="1"/>
          <p:nvPr/>
        </p:nvSpPr>
        <p:spPr>
          <a:xfrm>
            <a:off x="8686800" y="2931141"/>
            <a:ext cx="1500000" cy="238720"/>
          </a:xfrm>
          <a:prstGeom prst="rect">
            <a:avLst/>
          </a:prstGeom>
          <a:noFill/>
        </p:spPr>
        <p:txBody>
          <a:bodyPr wrap="none">
            <a:spAutoFit/>
          </a:bodyPr>
          <a:lstStyle/>
          <a:p>
            <a:pPr algn="l">
              <a:lnSpc>
                <a:spcPct val="105000"/>
              </a:lnSpc>
              <a:spcAft>
                <a:spcPts val="0"/>
              </a:spcAft>
            </a:pPr>
            <a:r>
              <a:rPr sz="1200" b="0">
                <a:solidFill>
                  <a:srgbClr val="14141C"/>
                </a:solidFill>
                <a:latin typeface="Helvetica Neue"/>
              </a:rPr>
              <a:t>+0.85 vs </a:t>
            </a:r>
            <a:r>
              <a:rPr sz="1200" b="0">
                <a:solidFill>
                  <a:srgbClr val="FF6200"/>
                </a:solidFill>
                <a:latin typeface="Helvetica Neue"/>
              </a:rPr>
              <a:t>−0.55</a:t>
            </a:r>
          </a:p>
        </p:txBody>
      </p:sp>
      <p:sp>
        <p:nvSpPr>
          <p:cNvPr id="25" name="RoundRect"/>
          <p:cNvSpPr/>
          <p:nvPr/>
        </p:nvSpPr>
        <p:spPr>
          <a:xfrm>
            <a:off x="685800" y="3469601"/>
            <a:ext cx="10566400" cy="1150000"/>
          </a:xfrm>
          <a:prstGeom prst="roundRect">
            <a:avLst>
              <a:gd name="adj" fmla="val 2791"/>
            </a:avLst>
          </a:prstGeom>
          <a:solidFill>
            <a:srgbClr val="F7F7F9"/>
          </a:solidFill>
          <a:ln w="6350">
            <a:solidFill>
              <a:srgbClr val="D8D8E0"/>
            </a:solidFill>
            <a:prstDash val="solid"/>
          </a:ln>
        </p:spPr>
        <p:txBody>
          <a:bodyPr/>
          <a:lstStyle/>
          <a:p>
            <a:endParaRPr/>
          </a:p>
        </p:txBody>
      </p:sp>
      <p:sp>
        <p:nvSpPr>
          <p:cNvPr id="26" name="TextBox"/>
          <p:cNvSpPr txBox="1"/>
          <p:nvPr/>
        </p:nvSpPr>
        <p:spPr>
          <a:xfrm>
            <a:off x="958850" y="3672801"/>
            <a:ext cx="10020300" cy="448056"/>
          </a:xfrm>
          <a:prstGeom prst="rect">
            <a:avLst/>
          </a:prstGeom>
          <a:noFill/>
        </p:spPr>
        <p:txBody>
          <a:bodyPr wrap="square">
            <a:spAutoFit/>
          </a:bodyPr>
          <a:lstStyle/>
          <a:p>
            <a:pPr algn="l">
              <a:lnSpc>
                <a:spcPct val="105000"/>
              </a:lnSpc>
              <a:spcAft>
                <a:spcPts val="0"/>
              </a:spcAft>
            </a:pPr>
            <a:r>
              <a:rPr sz="1400" b="1">
                <a:solidFill>
                  <a:srgbClr val="14141C"/>
                </a:solidFill>
                <a:latin typeface="Helvetica Neue"/>
              </a:rPr>
              <a:t>Selected on search attention alone. </a:t>
            </a:r>
            <a:r>
              <a:rPr sz="1400" b="0">
                <a:solidFill>
                  <a:srgbClr val="14141C"/>
                </a:solidFill>
                <a:latin typeface="Helvetica Neue"/>
              </a:rPr>
              <a:t>This shows what their pages measurably do differently — not why they are searched for.</a:t>
            </a:r>
          </a:p>
        </p:txBody>
      </p:sp>
      <p:sp>
        <p:nvSpPr>
          <p:cNvPr id="27" name="TextBox"/>
          <p:cNvSpPr txBox="1"/>
          <p:nvPr/>
        </p:nvSpPr>
        <p:spPr>
          <a:xfrm>
            <a:off x="958850" y="4272801"/>
            <a:ext cx="10020300" cy="23872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Pages measured: KBC 3 · Crelan 1 · Revolut 1. Beyond these three choices the brands diverge: no single recipe.</a:t>
            </a:r>
          </a:p>
        </p:txBody>
      </p:sp>
      <p:sp>
        <p:nvSpPr>
          <p:cNvPr id="28" name="TextBox"/>
          <p:cNvSpPr txBox="1"/>
          <p:nvPr/>
        </p:nvSpPr>
        <p:spPr>
          <a:xfrm>
            <a:off x="685800" y="6236208"/>
            <a:ext cx="10881360" cy="45720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z-scores over the comparable page-feature set · today’s pages, not the pages of 2021–2025</a:t>
            </a:r>
          </a:p>
        </p:txBody>
      </p:sp>
      <p:sp>
        <p:nvSpPr>
          <p:cNvPr id="29" name="TextBox"/>
          <p:cNvSpPr txBox="1"/>
          <p:nvPr/>
        </p:nvSpPr>
        <p:spPr>
          <a:xfrm>
            <a:off x="548640" y="6400800"/>
            <a:ext cx="8229600" cy="274320"/>
          </a:xfrm>
          <a:prstGeom prst="rect">
            <a:avLst/>
          </a:prstGeom>
          <a:noFill/>
        </p:spPr>
        <p:txBody>
          <a:bodyPr wrap="square">
            <a:spAutoFit/>
          </a:bodyPr>
          <a:lstStyle/>
          <a:p>
            <a:pPr algn="l">
              <a:lnSpc>
                <a:spcPct val="105000"/>
              </a:lnSpc>
              <a:spcAft>
                <a:spcPts val="0"/>
              </a:spcAft>
            </a:pPr>
            <a:r>
              <a:rPr sz="1000" b="0">
                <a:solidFill>
                  <a:srgbClr val="585868"/>
                </a:solidFill>
                <a:latin typeface="Helvetica Neue"/>
              </a:rPr>
              <a:t>Banking Campaigns Comparator · ING DACI / Customer AI · September 2026</a:t>
            </a:r>
          </a:p>
        </p:txBody>
      </p:sp>
      <p:sp>
        <p:nvSpPr>
          <p:cNvPr id="30" name="TextBox"/>
          <p:cNvSpPr txBox="1"/>
          <p:nvPr/>
        </p:nvSpPr>
        <p:spPr>
          <a:xfrm>
            <a:off x="11094415" y="6400800"/>
            <a:ext cx="548640" cy="274320"/>
          </a:xfrm>
          <a:prstGeom prst="rect">
            <a:avLst/>
          </a:prstGeom>
          <a:noFill/>
        </p:spPr>
        <p:txBody>
          <a:bodyPr wrap="square">
            <a:spAutoFit/>
          </a:bodyPr>
          <a:lstStyle/>
          <a:p>
            <a:pPr algn="r">
              <a:lnSpc>
                <a:spcPct val="105000"/>
              </a:lnSpc>
              <a:spcAft>
                <a:spcPts val="0"/>
              </a:spcAft>
            </a:pPr>
            <a:r>
              <a:rPr sz="1000" b="0">
                <a:solidFill>
                  <a:srgbClr val="585868"/>
                </a:solidFill>
                <a:latin typeface="Helvetica Neue"/>
              </a:rPr>
              <a:t>11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p:cNvSpPr txBox="1"/>
          <p:nvPr/>
        </p:nvSpPr>
        <p:spPr>
          <a:xfrm>
            <a:off x="548640" y="320040"/>
            <a:ext cx="11064240" cy="640080"/>
          </a:xfrm>
          <a:prstGeom prst="rect">
            <a:avLst/>
          </a:prstGeom>
          <a:noFill/>
        </p:spPr>
        <p:txBody>
          <a:bodyPr wrap="square">
            <a:spAutoFit/>
          </a:bodyPr>
          <a:lstStyle/>
          <a:p>
            <a:pPr algn="l">
              <a:lnSpc>
                <a:spcPct val="105000"/>
              </a:lnSpc>
              <a:spcAft>
                <a:spcPts val="0"/>
              </a:spcAft>
            </a:pPr>
            <a:r>
              <a:rPr sz="2400" b="1">
                <a:solidFill>
                  <a:srgbClr val="14141C"/>
                </a:solidFill>
                <a:latin typeface="Helvetica Neue"/>
              </a:rPr>
              <a:t>Why challengers look small in search</a:t>
            </a:r>
          </a:p>
        </p:txBody>
      </p:sp>
      <p:sp>
        <p:nvSpPr>
          <p:cNvPr id="3" name="Rectangle"/>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p:cNvSpPr txBox="1"/>
          <p:nvPr/>
        </p:nvSpPr>
        <p:spPr>
          <a:xfrm>
            <a:off x="685800" y="1325880"/>
            <a:ext cx="3921643" cy="695920"/>
          </a:xfrm>
          <a:prstGeom prst="rect">
            <a:avLst/>
          </a:prstGeom>
          <a:noFill/>
        </p:spPr>
        <p:txBody>
          <a:bodyPr wrap="none">
            <a:spAutoFit/>
          </a:bodyPr>
          <a:lstStyle/>
          <a:p>
            <a:pPr algn="l">
              <a:lnSpc>
                <a:spcPct val="105000"/>
              </a:lnSpc>
              <a:spcAft>
                <a:spcPts val="0"/>
              </a:spcAft>
            </a:pPr>
            <a:r>
              <a:rPr sz="4800" b="0">
                <a:solidFill>
                  <a:srgbClr val="14141C"/>
                </a:solidFill>
                <a:latin typeface="Helvetica Neue"/>
              </a:rPr>
              <a:t>&gt; 1M</a:t>
            </a:r>
          </a:p>
        </p:txBody>
      </p:sp>
      <p:sp>
        <p:nvSpPr>
          <p:cNvPr id="5" name="TextBox"/>
          <p:cNvSpPr txBox="1"/>
          <p:nvPr/>
        </p:nvSpPr>
        <p:spPr>
          <a:xfrm>
            <a:off x="685800" y="2021801"/>
            <a:ext cx="3921643" cy="23872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Revolut private customers in Belgium, +~25,000/month</a:t>
            </a:r>
          </a:p>
        </p:txBody>
      </p:sp>
      <p:sp>
        <p:nvSpPr>
          <p:cNvPr id="6" name="TextBox"/>
          <p:cNvSpPr txBox="1"/>
          <p:nvPr/>
        </p:nvSpPr>
        <p:spPr>
          <a:xfrm>
            <a:off x="4899620" y="1960880"/>
            <a:ext cx="400000" cy="299641"/>
          </a:xfrm>
          <a:prstGeom prst="rect">
            <a:avLst/>
          </a:prstGeom>
          <a:noFill/>
        </p:spPr>
        <p:txBody>
          <a:bodyPr wrap="none">
            <a:spAutoFit/>
          </a:bodyPr>
          <a:lstStyle/>
          <a:p>
            <a:pPr algn="l">
              <a:lnSpc>
                <a:spcPct val="105000"/>
              </a:lnSpc>
              <a:spcAft>
                <a:spcPts val="0"/>
              </a:spcAft>
            </a:pPr>
            <a:r>
              <a:rPr sz="1800" b="0">
                <a:solidFill>
                  <a:srgbClr val="585868"/>
                </a:solidFill>
                <a:latin typeface="Helvetica Neue"/>
              </a:rPr>
              <a:t>vs</a:t>
            </a:r>
          </a:p>
        </p:txBody>
      </p:sp>
      <p:sp>
        <p:nvSpPr>
          <p:cNvPr id="7" name="TextBox"/>
          <p:cNvSpPr txBox="1"/>
          <p:nvPr/>
        </p:nvSpPr>
        <p:spPr>
          <a:xfrm>
            <a:off x="5529858" y="1325880"/>
            <a:ext cx="1883664" cy="695920"/>
          </a:xfrm>
          <a:prstGeom prst="rect">
            <a:avLst/>
          </a:prstGeom>
          <a:noFill/>
        </p:spPr>
        <p:txBody>
          <a:bodyPr wrap="none">
            <a:spAutoFit/>
          </a:bodyPr>
          <a:lstStyle/>
          <a:p>
            <a:pPr algn="l">
              <a:lnSpc>
                <a:spcPct val="105000"/>
              </a:lnSpc>
              <a:spcAft>
                <a:spcPts val="0"/>
              </a:spcAft>
            </a:pPr>
            <a:r>
              <a:rPr sz="4800" b="0">
                <a:solidFill>
                  <a:srgbClr val="14141C"/>
                </a:solidFill>
                <a:latin typeface="Helvetica Neue"/>
              </a:rPr>
              <a:t>1.64%</a:t>
            </a:r>
          </a:p>
        </p:txBody>
      </p:sp>
      <p:sp>
        <p:nvSpPr>
          <p:cNvPr id="8" name="TextBox"/>
          <p:cNvSpPr txBox="1"/>
          <p:nvPr/>
        </p:nvSpPr>
        <p:spPr>
          <a:xfrm>
            <a:off x="5529858" y="2021801"/>
            <a:ext cx="1883664" cy="23872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of brand search, 9th of 14</a:t>
            </a:r>
          </a:p>
        </p:txBody>
      </p:sp>
      <p:sp>
        <p:nvSpPr>
          <p:cNvPr id="9" name="RoundRect"/>
          <p:cNvSpPr/>
          <p:nvPr/>
        </p:nvSpPr>
        <p:spPr>
          <a:xfrm>
            <a:off x="688975" y="2492296"/>
            <a:ext cx="3380284" cy="1758553"/>
          </a:xfrm>
          <a:prstGeom prst="roundRect">
            <a:avLst>
              <a:gd name="adj" fmla="val 2791"/>
            </a:avLst>
          </a:prstGeom>
          <a:solidFill>
            <a:srgbClr val="F7F7F9"/>
          </a:solidFill>
          <a:ln w="6350">
            <a:solidFill>
              <a:srgbClr val="D8D8E0"/>
            </a:solidFill>
            <a:prstDash val="solid"/>
          </a:ln>
        </p:spPr>
        <p:txBody>
          <a:bodyPr/>
          <a:lstStyle/>
          <a:p>
            <a:endParaRPr/>
          </a:p>
        </p:txBody>
      </p:sp>
      <p:sp>
        <p:nvSpPr>
          <p:cNvPr id="10" name="TextBox"/>
          <p:cNvSpPr txBox="1"/>
          <p:nvPr/>
        </p:nvSpPr>
        <p:spPr>
          <a:xfrm>
            <a:off x="895350" y="2698671"/>
            <a:ext cx="3056560" cy="299641"/>
          </a:xfrm>
          <a:prstGeom prst="rect">
            <a:avLst/>
          </a:prstGeom>
          <a:noFill/>
        </p:spPr>
        <p:txBody>
          <a:bodyPr wrap="square">
            <a:spAutoFit/>
          </a:bodyPr>
          <a:lstStyle/>
          <a:p>
            <a:pPr algn="l">
              <a:lnSpc>
                <a:spcPct val="105000"/>
              </a:lnSpc>
              <a:spcAft>
                <a:spcPts val="0"/>
              </a:spcAft>
            </a:pPr>
            <a:r>
              <a:rPr sz="1800" b="1">
                <a:solidFill>
                  <a:srgbClr val="14141C"/>
                </a:solidFill>
                <a:latin typeface="Helvetica Neue"/>
              </a:rPr>
              <a:t>Navigational searches</a:t>
            </a:r>
          </a:p>
        </p:txBody>
      </p:sp>
      <p:sp>
        <p:nvSpPr>
          <p:cNvPr id="11" name="TextBox"/>
          <p:cNvSpPr txBox="1"/>
          <p:nvPr/>
        </p:nvSpPr>
        <p:spPr>
          <a:xfrm>
            <a:off x="895350" y="3049112"/>
            <a:ext cx="3056560" cy="771922"/>
          </a:xfrm>
          <a:prstGeom prst="rect">
            <a:avLst/>
          </a:prstGeom>
          <a:noFill/>
        </p:spPr>
        <p:txBody>
          <a:bodyPr wrap="square">
            <a:spAutoFit/>
          </a:bodyPr>
          <a:lstStyle/>
          <a:p>
            <a:pPr algn="l">
              <a:lnSpc>
                <a:spcPct val="105000"/>
              </a:lnSpc>
              <a:spcAft>
                <a:spcPts val="0"/>
              </a:spcAft>
            </a:pPr>
            <a:r>
              <a:rPr sz="1400" b="0">
                <a:solidFill>
                  <a:srgbClr val="14141C"/>
                </a:solidFill>
                <a:latin typeface="Helvetica Neue"/>
              </a:rPr>
              <a:t>Incumbent searches include logins, branches, opening hours. A working hypothesis, not verified at query level.</a:t>
            </a:r>
          </a:p>
        </p:txBody>
      </p:sp>
      <p:sp>
        <p:nvSpPr>
          <p:cNvPr id="12" name="RoundRect"/>
          <p:cNvSpPr/>
          <p:nvPr/>
        </p:nvSpPr>
        <p:spPr>
          <a:xfrm>
            <a:off x="4278809" y="2492296"/>
            <a:ext cx="3380284" cy="1758553"/>
          </a:xfrm>
          <a:prstGeom prst="roundRect">
            <a:avLst>
              <a:gd name="adj" fmla="val 2791"/>
            </a:avLst>
          </a:prstGeom>
          <a:solidFill>
            <a:srgbClr val="F7F7F9"/>
          </a:solidFill>
          <a:ln w="6350">
            <a:solidFill>
              <a:srgbClr val="D8D8E0"/>
            </a:solidFill>
            <a:prstDash val="solid"/>
          </a:ln>
        </p:spPr>
        <p:txBody>
          <a:bodyPr/>
          <a:lstStyle/>
          <a:p>
            <a:endParaRPr/>
          </a:p>
        </p:txBody>
      </p:sp>
      <p:sp>
        <p:nvSpPr>
          <p:cNvPr id="13" name="TextBox"/>
          <p:cNvSpPr txBox="1"/>
          <p:nvPr/>
        </p:nvSpPr>
        <p:spPr>
          <a:xfrm>
            <a:off x="4485184" y="2698671"/>
            <a:ext cx="3056560" cy="299641"/>
          </a:xfrm>
          <a:prstGeom prst="rect">
            <a:avLst/>
          </a:prstGeom>
          <a:noFill/>
        </p:spPr>
        <p:txBody>
          <a:bodyPr wrap="square">
            <a:spAutoFit/>
          </a:bodyPr>
          <a:lstStyle/>
          <a:p>
            <a:pPr algn="l">
              <a:lnSpc>
                <a:spcPct val="105000"/>
              </a:lnSpc>
              <a:spcAft>
                <a:spcPts val="0"/>
              </a:spcAft>
            </a:pPr>
            <a:r>
              <a:rPr sz="1800" b="1">
                <a:solidFill>
                  <a:srgbClr val="14141C"/>
                </a:solidFill>
                <a:latin typeface="Helvetica Neue"/>
              </a:rPr>
              <a:t>App-first journeys</a:t>
            </a:r>
          </a:p>
        </p:txBody>
      </p:sp>
      <p:sp>
        <p:nvSpPr>
          <p:cNvPr id="14" name="TextBox"/>
          <p:cNvSpPr txBox="1"/>
          <p:nvPr/>
        </p:nvSpPr>
        <p:spPr>
          <a:xfrm>
            <a:off x="4485184" y="3049112"/>
            <a:ext cx="3056560" cy="771922"/>
          </a:xfrm>
          <a:prstGeom prst="rect">
            <a:avLst/>
          </a:prstGeom>
          <a:noFill/>
        </p:spPr>
        <p:txBody>
          <a:bodyPr wrap="square">
            <a:spAutoFit/>
          </a:bodyPr>
          <a:lstStyle/>
          <a:p>
            <a:pPr algn="l">
              <a:lnSpc>
                <a:spcPct val="105000"/>
              </a:lnSpc>
              <a:spcAft>
                <a:spcPts val="0"/>
              </a:spcAft>
            </a:pPr>
            <a:r>
              <a:rPr sz="1400" b="0">
                <a:solidFill>
                  <a:srgbClr val="14141C"/>
                </a:solidFill>
                <a:latin typeface="Helvetica Neue"/>
              </a:rPr>
              <a:t>Sign-up via app stores and referral links, then daily app use without searching the name.</a:t>
            </a:r>
          </a:p>
        </p:txBody>
      </p:sp>
      <p:sp>
        <p:nvSpPr>
          <p:cNvPr id="15" name="RoundRect"/>
          <p:cNvSpPr/>
          <p:nvPr/>
        </p:nvSpPr>
        <p:spPr>
          <a:xfrm>
            <a:off x="7868741" y="2492296"/>
            <a:ext cx="3380284" cy="1758553"/>
          </a:xfrm>
          <a:prstGeom prst="roundRect">
            <a:avLst>
              <a:gd name="adj" fmla="val 2791"/>
            </a:avLst>
          </a:prstGeom>
          <a:solidFill>
            <a:srgbClr val="F7F7F9"/>
          </a:solidFill>
          <a:ln w="6350">
            <a:solidFill>
              <a:srgbClr val="D8D8E0"/>
            </a:solidFill>
            <a:prstDash val="solid"/>
          </a:ln>
        </p:spPr>
        <p:txBody>
          <a:bodyPr/>
          <a:lstStyle/>
          <a:p>
            <a:endParaRPr/>
          </a:p>
        </p:txBody>
      </p:sp>
      <p:sp>
        <p:nvSpPr>
          <p:cNvPr id="16" name="TextBox"/>
          <p:cNvSpPr txBox="1"/>
          <p:nvPr/>
        </p:nvSpPr>
        <p:spPr>
          <a:xfrm>
            <a:off x="8075116" y="2698671"/>
            <a:ext cx="3056560" cy="299641"/>
          </a:xfrm>
          <a:prstGeom prst="rect">
            <a:avLst/>
          </a:prstGeom>
          <a:noFill/>
        </p:spPr>
        <p:txBody>
          <a:bodyPr wrap="square">
            <a:spAutoFit/>
          </a:bodyPr>
          <a:lstStyle/>
          <a:p>
            <a:pPr algn="l">
              <a:lnSpc>
                <a:spcPct val="105000"/>
              </a:lnSpc>
              <a:spcAft>
                <a:spcPts val="0"/>
              </a:spcAft>
            </a:pPr>
            <a:r>
              <a:rPr sz="1800" b="1">
                <a:solidFill>
                  <a:srgbClr val="14141C"/>
                </a:solidFill>
                <a:latin typeface="Helvetica Neue"/>
              </a:rPr>
              <a:t>Measurement floor</a:t>
            </a:r>
          </a:p>
        </p:txBody>
      </p:sp>
      <p:sp>
        <p:nvSpPr>
          <p:cNvPr id="17" name="TextBox"/>
          <p:cNvSpPr txBox="1"/>
          <p:nvPr/>
        </p:nvSpPr>
        <p:spPr>
          <a:xfrm>
            <a:off x="8075116" y="3049112"/>
            <a:ext cx="3056560" cy="771922"/>
          </a:xfrm>
          <a:prstGeom prst="rect">
            <a:avLst/>
          </a:prstGeom>
          <a:noFill/>
        </p:spPr>
        <p:txBody>
          <a:bodyPr wrap="square">
            <a:spAutoFit/>
          </a:bodyPr>
          <a:lstStyle/>
          <a:p>
            <a:pPr algn="l">
              <a:lnSpc>
                <a:spcPct val="105000"/>
              </a:lnSpc>
              <a:spcAft>
                <a:spcPts val="0"/>
              </a:spcAft>
            </a:pPr>
            <a:r>
              <a:rPr sz="1400" b="0">
                <a:solidFill>
                  <a:srgbClr val="14141C"/>
                </a:solidFill>
                <a:latin typeface="Helvetica Neue"/>
              </a:rPr>
              <a:t>Six brands never clear 10/100 in their own request; their share is partly rounding.</a:t>
            </a:r>
          </a:p>
        </p:txBody>
      </p:sp>
      <p:sp>
        <p:nvSpPr>
          <p:cNvPr id="18" name="TextBox"/>
          <p:cNvSpPr txBox="1"/>
          <p:nvPr/>
        </p:nvSpPr>
        <p:spPr>
          <a:xfrm>
            <a:off x="685800" y="4508024"/>
            <a:ext cx="10883392" cy="299641"/>
          </a:xfrm>
          <a:prstGeom prst="rect">
            <a:avLst/>
          </a:prstGeom>
          <a:noFill/>
        </p:spPr>
        <p:txBody>
          <a:bodyPr wrap="square">
            <a:spAutoFit/>
          </a:bodyPr>
          <a:lstStyle/>
          <a:p>
            <a:pPr algn="l">
              <a:lnSpc>
                <a:spcPct val="105000"/>
              </a:lnSpc>
              <a:spcAft>
                <a:spcPts val="0"/>
              </a:spcAft>
            </a:pPr>
            <a:r>
              <a:rPr sz="1800" b="1">
                <a:solidFill>
                  <a:srgbClr val="14141C"/>
                </a:solidFill>
                <a:latin typeface="Helvetica Neue"/>
              </a:rPr>
              <a:t>Read challenger shares as a floor on attention, not a customer count.</a:t>
            </a:r>
          </a:p>
        </p:txBody>
      </p:sp>
      <p:sp>
        <p:nvSpPr>
          <p:cNvPr id="19" name="TextBox"/>
          <p:cNvSpPr txBox="1"/>
          <p:nvPr/>
        </p:nvSpPr>
        <p:spPr>
          <a:xfrm>
            <a:off x="685800" y="6236208"/>
            <a:ext cx="10881360" cy="45720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Customer figure: Belga News Agency, 11 Mar 2026 (retrieved 21 Sep 2026) · never compared to a market-share figure</a:t>
            </a:r>
          </a:p>
        </p:txBody>
      </p:sp>
      <p:sp>
        <p:nvSpPr>
          <p:cNvPr id="20" name="TextBox"/>
          <p:cNvSpPr txBox="1"/>
          <p:nvPr/>
        </p:nvSpPr>
        <p:spPr>
          <a:xfrm>
            <a:off x="548640" y="6400800"/>
            <a:ext cx="8229600" cy="274320"/>
          </a:xfrm>
          <a:prstGeom prst="rect">
            <a:avLst/>
          </a:prstGeom>
          <a:noFill/>
        </p:spPr>
        <p:txBody>
          <a:bodyPr wrap="square">
            <a:spAutoFit/>
          </a:bodyPr>
          <a:lstStyle/>
          <a:p>
            <a:pPr algn="l">
              <a:lnSpc>
                <a:spcPct val="105000"/>
              </a:lnSpc>
              <a:spcAft>
                <a:spcPts val="0"/>
              </a:spcAft>
            </a:pPr>
            <a:r>
              <a:rPr sz="1000" b="0">
                <a:solidFill>
                  <a:srgbClr val="585868"/>
                </a:solidFill>
                <a:latin typeface="Helvetica Neue"/>
              </a:rPr>
              <a:t>Banking Campaigns Comparator · ING DACI / Customer AI · September 2026</a:t>
            </a:r>
          </a:p>
        </p:txBody>
      </p:sp>
      <p:sp>
        <p:nvSpPr>
          <p:cNvPr id="21" name="TextBox"/>
          <p:cNvSpPr txBox="1"/>
          <p:nvPr/>
        </p:nvSpPr>
        <p:spPr>
          <a:xfrm>
            <a:off x="11094415" y="6400800"/>
            <a:ext cx="548640" cy="274320"/>
          </a:xfrm>
          <a:prstGeom prst="rect">
            <a:avLst/>
          </a:prstGeom>
          <a:noFill/>
        </p:spPr>
        <p:txBody>
          <a:bodyPr wrap="square">
            <a:spAutoFit/>
          </a:bodyPr>
          <a:lstStyle/>
          <a:p>
            <a:pPr algn="r">
              <a:lnSpc>
                <a:spcPct val="105000"/>
              </a:lnSpc>
              <a:spcAft>
                <a:spcPts val="0"/>
              </a:spcAft>
            </a:pPr>
            <a:r>
              <a:rPr sz="1000" b="0">
                <a:solidFill>
                  <a:srgbClr val="585868"/>
                </a:solidFill>
                <a:latin typeface="Helvetica Neue"/>
              </a:rPr>
              <a:t>12</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11064240" cy="731520"/>
          </a:xfrm>
          <a:prstGeom prst="rect">
            <a:avLst/>
          </a:prstGeom>
          <a:noFill/>
          <a:ln/>
        </p:spPr>
        <p:txBody>
          <a:bodyPr wrap="square" lIns="0" tIns="0" rIns="0" bIns="0" rtlCol="0" anchor="ctr"/>
          <a:lstStyle/>
          <a:p>
            <a:pPr marL="0" indent="0">
              <a:buNone/>
            </a:pPr>
            <a:r>
              <a:rPr lang="en-US" sz="2800" b="1" dirty="0">
                <a:solidFill>
                  <a:srgbClr val="14141C"/>
                </a:solidFill>
                <a:latin typeface="Helvetica Neue" pitchFamily="34" charset="0"/>
                <a:ea typeface="Helvetica Neue" pitchFamily="34" charset="-122"/>
                <a:cs typeface="Helvetica Neue" pitchFamily="34" charset="-120"/>
              </a:rPr>
              <a:t>A recommendation system on top of the measurement</a:t>
            </a:r>
            <a:endParaRPr lang="en-US" sz="2800" dirty="0"/>
          </a:p>
        </p:txBody>
      </p:sp>
      <p:sp>
        <p:nvSpPr>
          <p:cNvPr id="3" name="Shape 1"/>
          <p:cNvSpPr/>
          <p:nvPr/>
        </p:nvSpPr>
        <p:spPr>
          <a:xfrm>
            <a:off x="548640" y="1115568"/>
            <a:ext cx="1463040" cy="64008"/>
          </a:xfrm>
          <a:prstGeom prst="rect">
            <a:avLst/>
          </a:prstGeom>
          <a:solidFill>
            <a:srgbClr val="FF6200"/>
          </a:solidFill>
          <a:ln w="12700">
            <a:solidFill>
              <a:srgbClr val="333333"/>
            </a:solidFill>
            <a:prstDash val="solid"/>
          </a:ln>
        </p:spPr>
      </p:sp>
      <p:sp>
        <p:nvSpPr>
          <p:cNvPr id="4" name="Text 2"/>
          <p:cNvSpPr txBox="1"/>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rgbClr val="585868"/>
                </a:solidFill>
                <a:latin typeface="Helvetica Neue" pitchFamily="34" charset="0"/>
                <a:ea typeface="Helvetica Neue" pitchFamily="34" charset="-122"/>
                <a:cs typeface="Helvetica Neue" pitchFamily="34" charset="-120"/>
              </a:rPr>
              <a:t>Banking Campaigns Comparator · ING DACI / Customer AI · September 2026</a:t>
            </a:r>
            <a:endParaRPr lang="en-US" sz="1000" dirty="0"/>
          </a:p>
        </p:txBody>
      </p:sp>
      <p:sp>
        <p:nvSpPr>
          <p:cNvPr id="5" name="Text 3"/>
          <p:cNvSpPr txBox="1"/>
          <p:nvPr/>
        </p:nvSpPr>
        <p:spPr>
          <a:xfrm>
            <a:off x="11091672" y="6400800"/>
            <a:ext cx="548640" cy="274320"/>
          </a:xfrm>
          <a:prstGeom prst="rect">
            <a:avLst/>
          </a:prstGeom>
          <a:noFill/>
          <a:ln/>
        </p:spPr>
        <p:txBody>
          <a:bodyPr wrap="square" lIns="0" tIns="0" rIns="0" bIns="0" rtlCol="0" anchor="ctr"/>
          <a:lstStyle/>
          <a:p>
            <a:pPr marL="0" indent="0" algn="r">
              <a:buNone/>
            </a:pPr>
            <a:r>
              <a:rPr lang="en-US" sz="1000" dirty="0">
                <a:solidFill>
                  <a:srgbClr val="585868"/>
                </a:solidFill>
                <a:latin typeface="Helvetica Neue" pitchFamily="34" charset="0"/>
                <a:ea typeface="Helvetica Neue" pitchFamily="34" charset="-122"/>
                <a:cs typeface="Helvetica Neue" pitchFamily="34" charset="-120"/>
              </a:rPr>
              <a:t>13</a:t>
            </a:r>
            <a:endParaRPr lang="en-US" sz="1000" dirty="0"/>
          </a:p>
        </p:txBody>
      </p:sp>
      <p:sp>
        <p:nvSpPr>
          <p:cNvPr id="6" name="Shape 4"/>
          <p:cNvSpPr/>
          <p:nvPr/>
        </p:nvSpPr>
        <p:spPr>
          <a:xfrm>
            <a:off x="6112764" y="1394460"/>
            <a:ext cx="5550408" cy="2834640"/>
          </a:xfrm>
          <a:prstGeom prst="rect">
            <a:avLst/>
          </a:prstGeom>
          <a:solidFill>
            <a:srgbClr val="FFFFFF"/>
          </a:solidFill>
          <a:ln w="12700">
            <a:solidFill>
              <a:srgbClr val="E4E4EC"/>
            </a:solidFill>
            <a:prstDash val="solid"/>
          </a:ln>
        </p:spPr>
      </p:sp>
      <p:pic>
        <p:nvPicPr>
          <p:cNvPr id="7" name="Image 0" descr="/Users/nstephane/Dev/AI_Data_Science_training/ing-usecase/docs/deck_assets/rec_controls.png"/>
          <p:cNvPicPr>
            <a:picLocks noChangeAspect="1"/>
          </p:cNvPicPr>
          <p:nvPr/>
        </p:nvPicPr>
        <p:blipFill>
          <a:blip r:embed="rId2"/>
          <a:stretch>
            <a:fillRect/>
          </a:stretch>
        </p:blipFill>
        <p:spPr>
          <a:xfrm>
            <a:off x="6144768" y="1426464"/>
            <a:ext cx="5486400" cy="2770632"/>
          </a:xfrm>
          <a:prstGeom prst="rect">
            <a:avLst/>
          </a:prstGeom>
        </p:spPr>
      </p:pic>
      <p:sp>
        <p:nvSpPr>
          <p:cNvPr id="8" name="Text 5"/>
          <p:cNvSpPr txBox="1"/>
          <p:nvPr/>
        </p:nvSpPr>
        <p:spPr>
          <a:xfrm>
            <a:off x="6144768" y="4297680"/>
            <a:ext cx="5486400" cy="292608"/>
          </a:xfrm>
          <a:prstGeom prst="rect">
            <a:avLst/>
          </a:prstGeom>
          <a:noFill/>
          <a:ln/>
        </p:spPr>
        <p:txBody>
          <a:bodyPr wrap="square" lIns="0" tIns="0" rIns="0" bIns="0" rtlCol="0" anchor="ctr"/>
          <a:lstStyle/>
          <a:p>
            <a:pPr marL="0" indent="0">
              <a:buNone/>
            </a:pPr>
            <a:r>
              <a:rPr lang="en-US" sz="1050" i="1" dirty="0">
                <a:solidFill>
                  <a:srgbClr val="585868"/>
                </a:solidFill>
                <a:latin typeface="Helvetica Neue" pitchFamily="34" charset="0"/>
                <a:ea typeface="Helvetica Neue" pitchFamily="34" charset="-122"/>
                <a:cs typeface="Helvetica Neue" pitchFamily="34" charset="-120"/>
              </a:rPr>
              <a:t>The panel as the team sees it: one button, two opt-in contexts, and the run it produced.</a:t>
            </a:r>
            <a:endParaRPr lang="en-US" sz="1050" dirty="0"/>
          </a:p>
        </p:txBody>
      </p:sp>
      <p:pic>
        <p:nvPicPr>
          <p:cNvPr id="9" name="Image 1" descr="/Users/nstephane/Dev/AI_Data_Science_training/ing-usecase/docs/deck_assets/icons/target.png"/>
          <p:cNvPicPr>
            <a:picLocks noChangeAspect="1"/>
          </p:cNvPicPr>
          <p:nvPr/>
        </p:nvPicPr>
        <p:blipFill>
          <a:blip r:embed="rId3"/>
          <a:stretch>
            <a:fillRect/>
          </a:stretch>
        </p:blipFill>
        <p:spPr>
          <a:xfrm>
            <a:off x="621792" y="1609344"/>
            <a:ext cx="420624" cy="420624"/>
          </a:xfrm>
          <a:prstGeom prst="rect">
            <a:avLst/>
          </a:prstGeom>
        </p:spPr>
      </p:pic>
      <p:sp>
        <p:nvSpPr>
          <p:cNvPr id="10" name="Text 6"/>
          <p:cNvSpPr txBox="1"/>
          <p:nvPr/>
        </p:nvSpPr>
        <p:spPr>
          <a:xfrm>
            <a:off x="1188720" y="1591056"/>
            <a:ext cx="4782312" cy="274320"/>
          </a:xfrm>
          <a:prstGeom prst="rect">
            <a:avLst/>
          </a:prstGeom>
          <a:noFill/>
          <a:ln/>
        </p:spPr>
        <p:txBody>
          <a:bodyPr wrap="square" lIns="0" tIns="0" rIns="0" bIns="0" rtlCol="0" anchor="ctr"/>
          <a:lstStyle/>
          <a:p>
            <a:pPr marL="0" indent="0">
              <a:buNone/>
            </a:pPr>
            <a:r>
              <a:rPr lang="en-US" sz="1350" b="1" dirty="0">
                <a:solidFill>
                  <a:srgbClr val="14141C"/>
                </a:solidFill>
                <a:latin typeface="Helvetica Neue" pitchFamily="34" charset="0"/>
                <a:ea typeface="Helvetica Neue" pitchFamily="34" charset="-122"/>
                <a:cs typeface="Helvetica Neue" pitchFamily="34" charset="-120"/>
              </a:rPr>
              <a:t>One model call over the finished analysis</a:t>
            </a:r>
            <a:endParaRPr lang="en-US" sz="1350" dirty="0"/>
          </a:p>
        </p:txBody>
      </p:sp>
      <p:sp>
        <p:nvSpPr>
          <p:cNvPr id="11" name="Text 7"/>
          <p:cNvSpPr txBox="1"/>
          <p:nvPr/>
        </p:nvSpPr>
        <p:spPr>
          <a:xfrm>
            <a:off x="1188720" y="1883664"/>
            <a:ext cx="4782312" cy="713232"/>
          </a:xfrm>
          <a:prstGeom prst="rect">
            <a:avLst/>
          </a:prstGeom>
          <a:noFill/>
          <a:ln/>
        </p:spPr>
        <p:txBody>
          <a:bodyPr wrap="square" lIns="0" tIns="0" rIns="0" bIns="0" rtlCol="0" anchor="ctr"/>
          <a:lstStyle/>
          <a:p>
            <a:pPr marL="0" indent="0">
              <a:lnSpc>
                <a:spcPts val="1500"/>
              </a:lnSpc>
              <a:buNone/>
            </a:pPr>
            <a:r>
              <a:rPr lang="en-US" sz="1150" dirty="0">
                <a:solidFill>
                  <a:srgbClr val="585868"/>
                </a:solidFill>
                <a:latin typeface="Helvetica Neue" pitchFamily="34" charset="0"/>
                <a:ea typeface="Helvetica Neue" pitchFamily="34" charset="-122"/>
                <a:cs typeface="Helvetica Neue" pitchFamily="34" charset="-120"/>
              </a:rPr>
              <a:t>Reads report.json only — the same numbers the charts are drawn from. This run turned 30 measured features across 14 banks into 11 ordered changes.</a:t>
            </a:r>
            <a:endParaRPr lang="en-US" sz="1150" dirty="0"/>
          </a:p>
        </p:txBody>
      </p:sp>
      <p:pic>
        <p:nvPicPr>
          <p:cNvPr id="12" name="Image 2" descr="/Users/nstephane/Dev/AI_Data_Science_training/ing-usecase/docs/deck_assets/icons/list.png"/>
          <p:cNvPicPr>
            <a:picLocks noChangeAspect="1"/>
          </p:cNvPicPr>
          <p:nvPr/>
        </p:nvPicPr>
        <p:blipFill>
          <a:blip r:embed="rId4"/>
          <a:stretch>
            <a:fillRect/>
          </a:stretch>
        </p:blipFill>
        <p:spPr>
          <a:xfrm>
            <a:off x="621792" y="2907792"/>
            <a:ext cx="420624" cy="420624"/>
          </a:xfrm>
          <a:prstGeom prst="rect">
            <a:avLst/>
          </a:prstGeom>
        </p:spPr>
      </p:pic>
      <p:sp>
        <p:nvSpPr>
          <p:cNvPr id="13" name="Text 8"/>
          <p:cNvSpPr txBox="1"/>
          <p:nvPr/>
        </p:nvSpPr>
        <p:spPr>
          <a:xfrm>
            <a:off x="1188720" y="2889504"/>
            <a:ext cx="4782312" cy="274320"/>
          </a:xfrm>
          <a:prstGeom prst="rect">
            <a:avLst/>
          </a:prstGeom>
          <a:noFill/>
          <a:ln/>
        </p:spPr>
        <p:txBody>
          <a:bodyPr wrap="square" lIns="0" tIns="0" rIns="0" bIns="0" rtlCol="0" anchor="ctr"/>
          <a:lstStyle/>
          <a:p>
            <a:pPr marL="0" indent="0">
              <a:buNone/>
            </a:pPr>
            <a:r>
              <a:rPr lang="en-US" sz="1350" b="1" dirty="0">
                <a:solidFill>
                  <a:srgbClr val="14141C"/>
                </a:solidFill>
                <a:latin typeface="Helvetica Neue" pitchFamily="34" charset="0"/>
                <a:ea typeface="Helvetica Neue" pitchFamily="34" charset="-122"/>
                <a:cs typeface="Helvetica Neue" pitchFamily="34" charset="-120"/>
              </a:rPr>
              <a:t>Ordered by priority, not by confidence</a:t>
            </a:r>
            <a:endParaRPr lang="en-US" sz="1350" dirty="0"/>
          </a:p>
        </p:txBody>
      </p:sp>
      <p:sp>
        <p:nvSpPr>
          <p:cNvPr id="14" name="Text 9"/>
          <p:cNvSpPr txBox="1"/>
          <p:nvPr/>
        </p:nvSpPr>
        <p:spPr>
          <a:xfrm>
            <a:off x="1188720" y="3182112"/>
            <a:ext cx="4782312" cy="713232"/>
          </a:xfrm>
          <a:prstGeom prst="rect">
            <a:avLst/>
          </a:prstGeom>
          <a:noFill/>
          <a:ln/>
        </p:spPr>
        <p:txBody>
          <a:bodyPr wrap="square" lIns="0" tIns="0" rIns="0" bIns="0" rtlCol="0" anchor="ctr"/>
          <a:lstStyle/>
          <a:p>
            <a:pPr marL="0" indent="0">
              <a:lnSpc>
                <a:spcPts val="1500"/>
              </a:lnSpc>
              <a:buNone/>
            </a:pPr>
            <a:r>
              <a:rPr lang="en-US" sz="1150" dirty="0">
                <a:solidFill>
                  <a:srgbClr val="585868"/>
                </a:solidFill>
                <a:latin typeface="Helvetica Neue" pitchFamily="34" charset="0"/>
                <a:ea typeface="Helvetica Neue" pitchFamily="34" charset="-122"/>
                <a:cs typeface="Helvetica Neue" pitchFamily="34" charset="-120"/>
              </a:rPr>
              <a:t>3 high, 6 medium, 2 low. The order is the argument: what the measurement most supports acting on first.</a:t>
            </a:r>
            <a:endParaRPr lang="en-US" sz="1150" dirty="0"/>
          </a:p>
        </p:txBody>
      </p:sp>
      <p:pic>
        <p:nvPicPr>
          <p:cNvPr id="15" name="Image 3" descr="/Users/nstephane/Dev/AI_Data_Science_training/ing-usecase/docs/deck_assets/icons/shield.png"/>
          <p:cNvPicPr>
            <a:picLocks noChangeAspect="1"/>
          </p:cNvPicPr>
          <p:nvPr/>
        </p:nvPicPr>
        <p:blipFill>
          <a:blip r:embed="rId5"/>
          <a:stretch>
            <a:fillRect/>
          </a:stretch>
        </p:blipFill>
        <p:spPr>
          <a:xfrm>
            <a:off x="621792" y="4206240"/>
            <a:ext cx="420624" cy="420624"/>
          </a:xfrm>
          <a:prstGeom prst="rect">
            <a:avLst/>
          </a:prstGeom>
        </p:spPr>
      </p:pic>
      <p:sp>
        <p:nvSpPr>
          <p:cNvPr id="16" name="Text 10"/>
          <p:cNvSpPr txBox="1"/>
          <p:nvPr/>
        </p:nvSpPr>
        <p:spPr>
          <a:xfrm>
            <a:off x="1188720" y="4187952"/>
            <a:ext cx="4782312" cy="274320"/>
          </a:xfrm>
          <a:prstGeom prst="rect">
            <a:avLst/>
          </a:prstGeom>
          <a:noFill/>
          <a:ln/>
        </p:spPr>
        <p:txBody>
          <a:bodyPr wrap="square" lIns="0" tIns="0" rIns="0" bIns="0" rtlCol="0" anchor="ctr"/>
          <a:lstStyle/>
          <a:p>
            <a:pPr marL="0" indent="0">
              <a:buNone/>
            </a:pPr>
            <a:r>
              <a:rPr lang="en-US" sz="1350" b="1" dirty="0">
                <a:solidFill>
                  <a:srgbClr val="14141C"/>
                </a:solidFill>
                <a:latin typeface="Helvetica Neue" pitchFamily="34" charset="0"/>
                <a:ea typeface="Helvetica Neue" pitchFamily="34" charset="-122"/>
                <a:cs typeface="Helvetica Neue" pitchFamily="34" charset="-120"/>
              </a:rPr>
              <a:t>Two contexts, both opt-in and both marked</a:t>
            </a:r>
            <a:endParaRPr lang="en-US" sz="1350" dirty="0"/>
          </a:p>
        </p:txBody>
      </p:sp>
      <p:sp>
        <p:nvSpPr>
          <p:cNvPr id="17" name="Text 11"/>
          <p:cNvSpPr txBox="1"/>
          <p:nvPr/>
        </p:nvSpPr>
        <p:spPr>
          <a:xfrm>
            <a:off x="1188720" y="4480560"/>
            <a:ext cx="4782312" cy="713232"/>
          </a:xfrm>
          <a:prstGeom prst="rect">
            <a:avLst/>
          </a:prstGeom>
          <a:noFill/>
          <a:ln/>
        </p:spPr>
        <p:txBody>
          <a:bodyPr wrap="square" lIns="0" tIns="0" rIns="0" bIns="0" rtlCol="0" anchor="ctr"/>
          <a:lstStyle/>
          <a:p>
            <a:pPr marL="0" indent="0">
              <a:lnSpc>
                <a:spcPts val="1500"/>
              </a:lnSpc>
              <a:buNone/>
            </a:pPr>
            <a:r>
              <a:rPr lang="en-US" sz="1150" dirty="0">
                <a:solidFill>
                  <a:srgbClr val="585868"/>
                </a:solidFill>
                <a:latin typeface="Helvetica Neue" pitchFamily="34" charset="0"/>
                <a:ea typeface="Helvetica Neue" pitchFamily="34" charset="-122"/>
                <a:cs typeface="Helvetica Neue" pitchFamily="34" charset="-120"/>
              </a:rPr>
              <a:t>Search interest for timing, and news themes for reputation (3 of the 11 here). Context is never allowed to stand as evidence that a page performed.</a:t>
            </a:r>
            <a:endParaRPr lang="en-US" sz="1150" dirty="0"/>
          </a:p>
        </p:txBody>
      </p:sp>
      <p:sp>
        <p:nvSpPr>
          <p:cNvPr id="18" name="Shape 12"/>
          <p:cNvSpPr/>
          <p:nvPr/>
        </p:nvSpPr>
        <p:spPr>
          <a:xfrm>
            <a:off x="6144768" y="4809744"/>
            <a:ext cx="5486400" cy="1225296"/>
          </a:xfrm>
          <a:prstGeom prst="roundRect">
            <a:avLst>
              <a:gd name="adj" fmla="val 4478"/>
            </a:avLst>
          </a:prstGeom>
          <a:solidFill>
            <a:srgbClr val="FAFAFC"/>
          </a:solidFill>
          <a:ln w="12700">
            <a:solidFill>
              <a:srgbClr val="E4E4EC"/>
            </a:solidFill>
            <a:prstDash val="solid"/>
          </a:ln>
        </p:spPr>
      </p:sp>
      <p:sp>
        <p:nvSpPr>
          <p:cNvPr id="19" name="Text 13"/>
          <p:cNvSpPr txBox="1"/>
          <p:nvPr/>
        </p:nvSpPr>
        <p:spPr>
          <a:xfrm>
            <a:off x="6400800" y="4992624"/>
            <a:ext cx="4974336" cy="859536"/>
          </a:xfrm>
          <a:prstGeom prst="rect">
            <a:avLst/>
          </a:prstGeom>
          <a:noFill/>
          <a:ln/>
        </p:spPr>
        <p:txBody>
          <a:bodyPr wrap="square" lIns="0" tIns="0" rIns="0" bIns="0" rtlCol="0" anchor="ctr"/>
          <a:lstStyle/>
          <a:p>
            <a:pPr marL="0" indent="0">
              <a:lnSpc>
                <a:spcPts val="1700"/>
              </a:lnSpc>
              <a:buNone/>
            </a:pPr>
            <a:r>
              <a:rPr lang="en-US" sz="1200" b="1" dirty="0">
                <a:solidFill>
                  <a:srgbClr val="FF6200"/>
                </a:solidFill>
                <a:latin typeface="Helvetica Neue" pitchFamily="34" charset="0"/>
                <a:ea typeface="Helvetica Neue" pitchFamily="34" charset="-122"/>
                <a:cs typeface="Helvetica Neue" pitchFamily="34" charset="-120"/>
              </a:rPr>
              <a:t>It writes what to change. It does not re-derive a single number — that direction is one-way by design.</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11064240" cy="640080"/>
          </a:xfrm>
          <a:prstGeom prst="rect">
            <a:avLst/>
          </a:prstGeom>
          <a:noFill/>
          <a:ln/>
        </p:spPr>
        <p:txBody>
          <a:bodyPr wrap="square" lIns="0" tIns="0" rIns="0" bIns="0" rtlCol="0" anchor="ctr"/>
          <a:lstStyle/>
          <a:p>
            <a:pPr marL="0" indent="0">
              <a:buNone/>
            </a:pPr>
            <a:r>
              <a:rPr lang="en-US" sz="2800" b="1" dirty="0">
                <a:solidFill>
                  <a:srgbClr val="14141C"/>
                </a:solidFill>
                <a:latin typeface="Helvetica Neue" pitchFamily="34" charset="0"/>
                <a:ea typeface="Helvetica Neue" pitchFamily="34" charset="-122"/>
                <a:cs typeface="Helvetica Neue" pitchFamily="34" charset="-120"/>
              </a:rPr>
              <a:t>Every recommendation carries the evidence it was argued from</a:t>
            </a:r>
            <a:endParaRPr lang="en-US" sz="2800" dirty="0"/>
          </a:p>
        </p:txBody>
      </p:sp>
      <p:sp>
        <p:nvSpPr>
          <p:cNvPr id="3" name="Shape 1"/>
          <p:cNvSpPr/>
          <p:nvPr/>
        </p:nvSpPr>
        <p:spPr>
          <a:xfrm>
            <a:off x="548640" y="960120"/>
            <a:ext cx="1463040" cy="54864"/>
          </a:xfrm>
          <a:prstGeom prst="rect">
            <a:avLst/>
          </a:prstGeom>
          <a:solidFill>
            <a:srgbClr val="FF6200"/>
          </a:solidFill>
          <a:ln w="12700">
            <a:solidFill>
              <a:srgbClr val="333333"/>
            </a:solidFill>
            <a:prstDash val="solid"/>
          </a:ln>
        </p:spPr>
      </p:sp>
      <p:sp>
        <p:nvSpPr>
          <p:cNvPr id="4" name="Text 2"/>
          <p:cNvSpPr txBox="1"/>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rgbClr val="585868"/>
                </a:solidFill>
                <a:latin typeface="Helvetica Neue" pitchFamily="34" charset="0"/>
                <a:ea typeface="Helvetica Neue" pitchFamily="34" charset="-122"/>
                <a:cs typeface="Helvetica Neue" pitchFamily="34" charset="-120"/>
              </a:rPr>
              <a:t>Banking Campaigns Comparator · ING DACI / Customer AI · September 2026</a:t>
            </a:r>
            <a:endParaRPr lang="en-US" sz="1000" dirty="0"/>
          </a:p>
        </p:txBody>
      </p:sp>
      <p:sp>
        <p:nvSpPr>
          <p:cNvPr id="5" name="Text 3"/>
          <p:cNvSpPr txBox="1"/>
          <p:nvPr/>
        </p:nvSpPr>
        <p:spPr>
          <a:xfrm>
            <a:off x="11091672" y="6400800"/>
            <a:ext cx="548640" cy="274320"/>
          </a:xfrm>
          <a:prstGeom prst="rect">
            <a:avLst/>
          </a:prstGeom>
          <a:noFill/>
          <a:ln/>
        </p:spPr>
        <p:txBody>
          <a:bodyPr wrap="square" lIns="0" tIns="0" rIns="0" bIns="0" rtlCol="0" anchor="ctr"/>
          <a:lstStyle/>
          <a:p>
            <a:pPr marL="0" indent="0" algn="r">
              <a:buNone/>
            </a:pPr>
            <a:r>
              <a:rPr lang="en-US" sz="1000" dirty="0">
                <a:solidFill>
                  <a:srgbClr val="585868"/>
                </a:solidFill>
                <a:latin typeface="Helvetica Neue" pitchFamily="34" charset="0"/>
                <a:ea typeface="Helvetica Neue" pitchFamily="34" charset="-122"/>
                <a:cs typeface="Helvetica Neue" pitchFamily="34" charset="-120"/>
              </a:rPr>
              <a:t>14</a:t>
            </a:r>
            <a:endParaRPr lang="en-US" sz="1000" dirty="0"/>
          </a:p>
        </p:txBody>
      </p:sp>
      <p:sp>
        <p:nvSpPr>
          <p:cNvPr id="6" name="Shape 4"/>
          <p:cNvSpPr/>
          <p:nvPr/>
        </p:nvSpPr>
        <p:spPr>
          <a:xfrm>
            <a:off x="626364" y="1229868"/>
            <a:ext cx="6373368" cy="4178808"/>
          </a:xfrm>
          <a:prstGeom prst="rect">
            <a:avLst/>
          </a:prstGeom>
          <a:solidFill>
            <a:srgbClr val="FFFFFF"/>
          </a:solidFill>
          <a:ln w="12700">
            <a:solidFill>
              <a:srgbClr val="E4E4EC"/>
            </a:solidFill>
            <a:prstDash val="solid"/>
          </a:ln>
        </p:spPr>
      </p:sp>
      <p:pic>
        <p:nvPicPr>
          <p:cNvPr id="7" name="Image 0" descr="/Users/nstephane/Dev/AI_Data_Science_training/ing-usecase/docs/deck_assets/rec_cards.png"/>
          <p:cNvPicPr>
            <a:picLocks noChangeAspect="1"/>
          </p:cNvPicPr>
          <p:nvPr/>
        </p:nvPicPr>
        <p:blipFill>
          <a:blip r:embed="rId2"/>
          <a:stretch>
            <a:fillRect/>
          </a:stretch>
        </p:blipFill>
        <p:spPr>
          <a:xfrm>
            <a:off x="658368" y="1261872"/>
            <a:ext cx="6309360" cy="4114800"/>
          </a:xfrm>
          <a:prstGeom prst="rect">
            <a:avLst/>
          </a:prstGeom>
        </p:spPr>
      </p:pic>
      <p:sp>
        <p:nvSpPr>
          <p:cNvPr id="8" name="Text 5"/>
          <p:cNvSpPr txBox="1"/>
          <p:nvPr/>
        </p:nvSpPr>
        <p:spPr>
          <a:xfrm>
            <a:off x="658368" y="5486400"/>
            <a:ext cx="6309360" cy="292608"/>
          </a:xfrm>
          <a:prstGeom prst="rect">
            <a:avLst/>
          </a:prstGeom>
          <a:noFill/>
          <a:ln/>
        </p:spPr>
        <p:txBody>
          <a:bodyPr wrap="square" lIns="0" tIns="0" rIns="0" bIns="0" rtlCol="0" anchor="ctr"/>
          <a:lstStyle/>
          <a:p>
            <a:pPr marL="0" indent="0">
              <a:buNone/>
            </a:pPr>
            <a:r>
              <a:rPr lang="en-US" sz="1050" i="1" dirty="0">
                <a:solidFill>
                  <a:srgbClr val="585868"/>
                </a:solidFill>
                <a:latin typeface="Helvetica Neue" pitchFamily="34" charset="0"/>
                <a:ea typeface="Helvetica Neue" pitchFamily="34" charset="-122"/>
                <a:cs typeface="Helvetica Neue" pitchFamily="34" charset="-120"/>
              </a:rPr>
              <a:t>Three of the eleven, as the team reviews them.</a:t>
            </a:r>
            <a:endParaRPr lang="en-US" sz="1050" dirty="0"/>
          </a:p>
        </p:txBody>
      </p:sp>
      <p:pic>
        <p:nvPicPr>
          <p:cNvPr id="9" name="Image 1" descr="/Users/nstephane/Dev/AI_Data_Science_training/ing-usecase/docs/deck_assets/icons/list.png"/>
          <p:cNvPicPr>
            <a:picLocks noChangeAspect="1"/>
          </p:cNvPicPr>
          <p:nvPr/>
        </p:nvPicPr>
        <p:blipFill>
          <a:blip r:embed="rId3"/>
          <a:stretch>
            <a:fillRect/>
          </a:stretch>
        </p:blipFill>
        <p:spPr>
          <a:xfrm>
            <a:off x="7260336" y="1371600"/>
            <a:ext cx="420624" cy="420624"/>
          </a:xfrm>
          <a:prstGeom prst="rect">
            <a:avLst/>
          </a:prstGeom>
        </p:spPr>
      </p:pic>
      <p:sp>
        <p:nvSpPr>
          <p:cNvPr id="10" name="Text 6"/>
          <p:cNvSpPr txBox="1"/>
          <p:nvPr/>
        </p:nvSpPr>
        <p:spPr>
          <a:xfrm>
            <a:off x="7827264" y="1353312"/>
            <a:ext cx="3694176" cy="274320"/>
          </a:xfrm>
          <a:prstGeom prst="rect">
            <a:avLst/>
          </a:prstGeom>
          <a:noFill/>
          <a:ln/>
        </p:spPr>
        <p:txBody>
          <a:bodyPr wrap="square" lIns="0" tIns="0" rIns="0" bIns="0" rtlCol="0" anchor="ctr"/>
          <a:lstStyle/>
          <a:p>
            <a:pPr marL="0" indent="0">
              <a:buNone/>
            </a:pPr>
            <a:r>
              <a:rPr lang="en-US" sz="1350" b="1" dirty="0">
                <a:solidFill>
                  <a:srgbClr val="14141C"/>
                </a:solidFill>
                <a:latin typeface="Helvetica Neue" pitchFamily="34" charset="0"/>
                <a:ea typeface="Helvetica Neue" pitchFamily="34" charset="-122"/>
                <a:cs typeface="Helvetica Neue" pitchFamily="34" charset="-120"/>
              </a:rPr>
              <a:t>Finding and action, kept apart</a:t>
            </a:r>
            <a:endParaRPr lang="en-US" sz="1350" dirty="0"/>
          </a:p>
        </p:txBody>
      </p:sp>
      <p:sp>
        <p:nvSpPr>
          <p:cNvPr id="11" name="Text 7"/>
          <p:cNvSpPr txBox="1"/>
          <p:nvPr/>
        </p:nvSpPr>
        <p:spPr>
          <a:xfrm>
            <a:off x="7827264" y="1645920"/>
            <a:ext cx="3694176" cy="713232"/>
          </a:xfrm>
          <a:prstGeom prst="rect">
            <a:avLst/>
          </a:prstGeom>
          <a:noFill/>
          <a:ln/>
        </p:spPr>
        <p:txBody>
          <a:bodyPr wrap="square" lIns="0" tIns="0" rIns="0" bIns="0" rtlCol="0" anchor="ctr"/>
          <a:lstStyle/>
          <a:p>
            <a:pPr marL="0" indent="0">
              <a:lnSpc>
                <a:spcPts val="1500"/>
              </a:lnSpc>
              <a:buNone/>
            </a:pPr>
            <a:r>
              <a:rPr lang="en-US" sz="1150" dirty="0">
                <a:solidFill>
                  <a:srgbClr val="585868"/>
                </a:solidFill>
                <a:latin typeface="Helvetica Neue" pitchFamily="34" charset="0"/>
                <a:ea typeface="Helvetica Neue" pitchFamily="34" charset="-122"/>
                <a:cs typeface="Helvetica Neue" pitchFamily="34" charset="-120"/>
              </a:rPr>
              <a:t>What the data shows sits above what to do. A reader can reject our suggested action and still keep the measured finding.</a:t>
            </a:r>
            <a:endParaRPr lang="en-US" sz="1150" dirty="0"/>
          </a:p>
        </p:txBody>
      </p:sp>
      <p:pic>
        <p:nvPicPr>
          <p:cNvPr id="12" name="Image 2" descr="/Users/nstephane/Dev/AI_Data_Science_training/ing-usecase/docs/deck_assets/icons/target.png"/>
          <p:cNvPicPr>
            <a:picLocks noChangeAspect="1"/>
          </p:cNvPicPr>
          <p:nvPr/>
        </p:nvPicPr>
        <p:blipFill>
          <a:blip r:embed="rId4"/>
          <a:stretch>
            <a:fillRect/>
          </a:stretch>
        </p:blipFill>
        <p:spPr>
          <a:xfrm>
            <a:off x="7260336" y="2944368"/>
            <a:ext cx="420624" cy="420624"/>
          </a:xfrm>
          <a:prstGeom prst="rect">
            <a:avLst/>
          </a:prstGeom>
        </p:spPr>
      </p:pic>
      <p:sp>
        <p:nvSpPr>
          <p:cNvPr id="13" name="Text 8"/>
          <p:cNvSpPr txBox="1"/>
          <p:nvPr/>
        </p:nvSpPr>
        <p:spPr>
          <a:xfrm>
            <a:off x="7827264" y="2926080"/>
            <a:ext cx="3694176" cy="274320"/>
          </a:xfrm>
          <a:prstGeom prst="rect">
            <a:avLst/>
          </a:prstGeom>
          <a:noFill/>
          <a:ln/>
        </p:spPr>
        <p:txBody>
          <a:bodyPr wrap="square" lIns="0" tIns="0" rIns="0" bIns="0" rtlCol="0" anchor="ctr"/>
          <a:lstStyle/>
          <a:p>
            <a:pPr marL="0" indent="0">
              <a:buNone/>
            </a:pPr>
            <a:r>
              <a:rPr lang="en-US" sz="1350" b="1" dirty="0">
                <a:solidFill>
                  <a:srgbClr val="14141C"/>
                </a:solidFill>
                <a:latin typeface="Helvetica Neue" pitchFamily="34" charset="0"/>
                <a:ea typeface="Helvetica Neue" pitchFamily="34" charset="-122"/>
                <a:cs typeface="Helvetica Neue" pitchFamily="34" charset="-120"/>
              </a:rPr>
              <a:t>Named features, checked before release</a:t>
            </a:r>
            <a:endParaRPr lang="en-US" sz="1350" dirty="0"/>
          </a:p>
        </p:txBody>
      </p:sp>
      <p:sp>
        <p:nvSpPr>
          <p:cNvPr id="14" name="Text 9"/>
          <p:cNvSpPr txBox="1"/>
          <p:nvPr/>
        </p:nvSpPr>
        <p:spPr>
          <a:xfrm>
            <a:off x="7827264" y="3218688"/>
            <a:ext cx="3694176" cy="713232"/>
          </a:xfrm>
          <a:prstGeom prst="rect">
            <a:avLst/>
          </a:prstGeom>
          <a:noFill/>
          <a:ln/>
        </p:spPr>
        <p:txBody>
          <a:bodyPr wrap="square" lIns="0" tIns="0" rIns="0" bIns="0" rtlCol="0" anchor="ctr"/>
          <a:lstStyle/>
          <a:p>
            <a:pPr marL="0" indent="0">
              <a:lnSpc>
                <a:spcPts val="1500"/>
              </a:lnSpc>
              <a:buNone/>
            </a:pPr>
            <a:r>
              <a:rPr lang="en-US" sz="1150" dirty="0">
                <a:solidFill>
                  <a:srgbClr val="585868"/>
                </a:solidFill>
                <a:latin typeface="Helvetica Neue" pitchFamily="34" charset="0"/>
                <a:ea typeface="Helvetica Neue" pitchFamily="34" charset="-122"/>
                <a:cs typeface="Helvetica Neue" pitchFamily="34" charset="-120"/>
              </a:rPr>
              <a:t>Each card names the measured features it was argued from and the pages it applies to. Those ids are verified against the report — an invented one never leaves the module.</a:t>
            </a:r>
            <a:endParaRPr lang="en-US" sz="1150" dirty="0"/>
          </a:p>
        </p:txBody>
      </p:sp>
      <p:pic>
        <p:nvPicPr>
          <p:cNvPr id="15" name="Image 3" descr="/Users/nstephane/Dev/AI_Data_Science_training/ing-usecase/docs/deck_assets/icons/shield.png"/>
          <p:cNvPicPr>
            <a:picLocks noChangeAspect="1"/>
          </p:cNvPicPr>
          <p:nvPr/>
        </p:nvPicPr>
        <p:blipFill>
          <a:blip r:embed="rId5"/>
          <a:stretch>
            <a:fillRect/>
          </a:stretch>
        </p:blipFill>
        <p:spPr>
          <a:xfrm>
            <a:off x="7260336" y="4517136"/>
            <a:ext cx="420624" cy="420624"/>
          </a:xfrm>
          <a:prstGeom prst="rect">
            <a:avLst/>
          </a:prstGeom>
        </p:spPr>
      </p:pic>
      <p:sp>
        <p:nvSpPr>
          <p:cNvPr id="16" name="Text 10"/>
          <p:cNvSpPr txBox="1"/>
          <p:nvPr/>
        </p:nvSpPr>
        <p:spPr>
          <a:xfrm>
            <a:off x="7827264" y="4498848"/>
            <a:ext cx="3694176" cy="274320"/>
          </a:xfrm>
          <a:prstGeom prst="rect">
            <a:avLst/>
          </a:prstGeom>
          <a:noFill/>
          <a:ln/>
        </p:spPr>
        <p:txBody>
          <a:bodyPr wrap="square" lIns="0" tIns="0" rIns="0" bIns="0" rtlCol="0" anchor="ctr"/>
          <a:lstStyle/>
          <a:p>
            <a:pPr marL="0" indent="0">
              <a:buNone/>
            </a:pPr>
            <a:r>
              <a:rPr lang="en-US" sz="1350" b="1" dirty="0">
                <a:solidFill>
                  <a:srgbClr val="14141C"/>
                </a:solidFill>
                <a:latin typeface="Helvetica Neue" pitchFamily="34" charset="0"/>
                <a:ea typeface="Helvetica Neue" pitchFamily="34" charset="-122"/>
                <a:cs typeface="Helvetica Neue" pitchFamily="34" charset="-120"/>
              </a:rPr>
              <a:t>No figure the analysis did not produce</a:t>
            </a:r>
            <a:endParaRPr lang="en-US" sz="1350" dirty="0"/>
          </a:p>
        </p:txBody>
      </p:sp>
      <p:sp>
        <p:nvSpPr>
          <p:cNvPr id="17" name="Text 11"/>
          <p:cNvSpPr txBox="1"/>
          <p:nvPr/>
        </p:nvSpPr>
        <p:spPr>
          <a:xfrm>
            <a:off x="7827264" y="4791456"/>
            <a:ext cx="3694176" cy="713232"/>
          </a:xfrm>
          <a:prstGeom prst="rect">
            <a:avLst/>
          </a:prstGeom>
          <a:noFill/>
          <a:ln/>
        </p:spPr>
        <p:txBody>
          <a:bodyPr wrap="square" lIns="0" tIns="0" rIns="0" bIns="0" rtlCol="0" anchor="ctr"/>
          <a:lstStyle/>
          <a:p>
            <a:pPr marL="0" indent="0">
              <a:lnSpc>
                <a:spcPts val="1500"/>
              </a:lnSpc>
              <a:buNone/>
            </a:pPr>
            <a:r>
              <a:rPr lang="en-US" sz="1150" dirty="0">
                <a:solidFill>
                  <a:srgbClr val="585868"/>
                </a:solidFill>
                <a:latin typeface="Helvetica Neue" pitchFamily="34" charset="0"/>
                <a:ea typeface="Helvetica Neue" pitchFamily="34" charset="-122"/>
                <a:cs typeface="Helvetica Neue" pitchFamily="34" charset="-120"/>
              </a:rPr>
              <a:t>The prompt receives only numbers already in the report, and the output is not trusted to add any.</a:t>
            </a:r>
            <a:endParaRPr lang="en-US" sz="11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11064240" cy="731520"/>
          </a:xfrm>
          <a:prstGeom prst="rect">
            <a:avLst/>
          </a:prstGeom>
          <a:noFill/>
          <a:ln/>
        </p:spPr>
        <p:txBody>
          <a:bodyPr wrap="square" lIns="0" tIns="0" rIns="0" bIns="0" rtlCol="0" anchor="ctr"/>
          <a:lstStyle/>
          <a:p>
            <a:pPr marL="0" indent="0">
              <a:buNone/>
            </a:pPr>
            <a:r>
              <a:rPr lang="en-US" sz="2800" b="1" dirty="0">
                <a:solidFill>
                  <a:srgbClr val="14141C"/>
                </a:solidFill>
                <a:latin typeface="Helvetica Neue" pitchFamily="34" charset="0"/>
                <a:ea typeface="Helvetica Neue" pitchFamily="34" charset="-122"/>
                <a:cs typeface="Helvetica Neue" pitchFamily="34" charset="-120"/>
              </a:rPr>
              <a:t>What it concluded about ING</a:t>
            </a:r>
            <a:endParaRPr lang="en-US" sz="2800" dirty="0"/>
          </a:p>
        </p:txBody>
      </p:sp>
      <p:sp>
        <p:nvSpPr>
          <p:cNvPr id="3" name="Shape 1"/>
          <p:cNvSpPr/>
          <p:nvPr/>
        </p:nvSpPr>
        <p:spPr>
          <a:xfrm>
            <a:off x="548640" y="1115568"/>
            <a:ext cx="1463040" cy="64008"/>
          </a:xfrm>
          <a:prstGeom prst="rect">
            <a:avLst/>
          </a:prstGeom>
          <a:solidFill>
            <a:srgbClr val="FF6200"/>
          </a:solidFill>
          <a:ln w="12700">
            <a:solidFill>
              <a:srgbClr val="333333"/>
            </a:solidFill>
            <a:prstDash val="solid"/>
          </a:ln>
        </p:spPr>
      </p:sp>
      <p:sp>
        <p:nvSpPr>
          <p:cNvPr id="4" name="Text 2"/>
          <p:cNvSpPr txBox="1"/>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rgbClr val="585868"/>
                </a:solidFill>
                <a:latin typeface="Helvetica Neue" pitchFamily="34" charset="0"/>
                <a:ea typeface="Helvetica Neue" pitchFamily="34" charset="-122"/>
                <a:cs typeface="Helvetica Neue" pitchFamily="34" charset="-120"/>
              </a:rPr>
              <a:t>Banking Campaigns Comparator · ING DACI / Customer AI · September 2026</a:t>
            </a:r>
            <a:endParaRPr lang="en-US" sz="1000" dirty="0"/>
          </a:p>
        </p:txBody>
      </p:sp>
      <p:sp>
        <p:nvSpPr>
          <p:cNvPr id="5" name="Text 3"/>
          <p:cNvSpPr txBox="1"/>
          <p:nvPr/>
        </p:nvSpPr>
        <p:spPr>
          <a:xfrm>
            <a:off x="11091672" y="6400800"/>
            <a:ext cx="548640" cy="274320"/>
          </a:xfrm>
          <a:prstGeom prst="rect">
            <a:avLst/>
          </a:prstGeom>
          <a:noFill/>
          <a:ln/>
        </p:spPr>
        <p:txBody>
          <a:bodyPr wrap="square" lIns="0" tIns="0" rIns="0" bIns="0" rtlCol="0" anchor="ctr"/>
          <a:lstStyle/>
          <a:p>
            <a:pPr marL="0" indent="0" algn="r">
              <a:buNone/>
            </a:pPr>
            <a:r>
              <a:rPr lang="en-US" sz="1000" dirty="0">
                <a:solidFill>
                  <a:srgbClr val="585868"/>
                </a:solidFill>
                <a:latin typeface="Helvetica Neue" pitchFamily="34" charset="0"/>
                <a:ea typeface="Helvetica Neue" pitchFamily="34" charset="-122"/>
                <a:cs typeface="Helvetica Neue" pitchFamily="34" charset="-120"/>
              </a:rPr>
              <a:t>15</a:t>
            </a:r>
            <a:endParaRPr lang="en-US" sz="1000" dirty="0"/>
          </a:p>
        </p:txBody>
      </p:sp>
      <p:sp>
        <p:nvSpPr>
          <p:cNvPr id="6" name="Shape 4"/>
          <p:cNvSpPr/>
          <p:nvPr/>
        </p:nvSpPr>
        <p:spPr>
          <a:xfrm>
            <a:off x="621792" y="1517904"/>
            <a:ext cx="3529584" cy="2212848"/>
          </a:xfrm>
          <a:prstGeom prst="roundRect">
            <a:avLst>
              <a:gd name="adj" fmla="val 2479"/>
            </a:avLst>
          </a:prstGeom>
          <a:solidFill>
            <a:srgbClr val="FAFAFC"/>
          </a:solidFill>
          <a:ln w="12700">
            <a:solidFill>
              <a:srgbClr val="E4E4EC"/>
            </a:solidFill>
            <a:prstDash val="solid"/>
          </a:ln>
        </p:spPr>
      </p:sp>
      <p:sp>
        <p:nvSpPr>
          <p:cNvPr id="7" name="Text 5"/>
          <p:cNvSpPr txBox="1"/>
          <p:nvPr/>
        </p:nvSpPr>
        <p:spPr>
          <a:xfrm>
            <a:off x="877824" y="1682496"/>
            <a:ext cx="3017520" cy="841248"/>
          </a:xfrm>
          <a:prstGeom prst="rect">
            <a:avLst/>
          </a:prstGeom>
          <a:noFill/>
          <a:ln/>
        </p:spPr>
        <p:txBody>
          <a:bodyPr wrap="square" lIns="0" tIns="0" rIns="0" bIns="0" rtlCol="0" anchor="ctr"/>
          <a:lstStyle/>
          <a:p>
            <a:pPr marL="0" indent="0">
              <a:buNone/>
            </a:pPr>
            <a:r>
              <a:rPr lang="en-US" sz="4600" b="1" dirty="0">
                <a:solidFill>
                  <a:srgbClr val="FF6200"/>
                </a:solidFill>
                <a:latin typeface="Helvetica Neue" pitchFamily="34" charset="0"/>
                <a:ea typeface="Helvetica Neue" pitchFamily="34" charset="-122"/>
                <a:cs typeface="Helvetica Neue" pitchFamily="34" charset="-120"/>
              </a:rPr>
              <a:t>4.0</a:t>
            </a:r>
            <a:endParaRPr lang="en-US" sz="4600" dirty="0"/>
          </a:p>
        </p:txBody>
      </p:sp>
      <p:sp>
        <p:nvSpPr>
          <p:cNvPr id="8" name="Text 6"/>
          <p:cNvSpPr txBox="1"/>
          <p:nvPr/>
        </p:nvSpPr>
        <p:spPr>
          <a:xfrm>
            <a:off x="877824" y="2505456"/>
            <a:ext cx="3017520" cy="310896"/>
          </a:xfrm>
          <a:prstGeom prst="rect">
            <a:avLst/>
          </a:prstGeom>
          <a:noFill/>
          <a:ln/>
        </p:spPr>
        <p:txBody>
          <a:bodyPr wrap="square" lIns="0" tIns="0" rIns="0" bIns="0" rtlCol="0" anchor="ctr"/>
          <a:lstStyle/>
          <a:p>
            <a:pPr marL="0" indent="0">
              <a:buNone/>
            </a:pPr>
            <a:r>
              <a:rPr lang="en-US" sz="1200" b="1" dirty="0">
                <a:solidFill>
                  <a:srgbClr val="14141C"/>
                </a:solidFill>
                <a:latin typeface="Helvetica Neue" pitchFamily="34" charset="0"/>
                <a:ea typeface="Helvetica Neue" pitchFamily="34" charset="-122"/>
                <a:cs typeface="Helvetica Neue" pitchFamily="34" charset="-120"/>
              </a:rPr>
              <a:t>urgency markers per page</a:t>
            </a:r>
            <a:endParaRPr lang="en-US" sz="1200" dirty="0"/>
          </a:p>
        </p:txBody>
      </p:sp>
      <p:sp>
        <p:nvSpPr>
          <p:cNvPr id="9" name="Text 7"/>
          <p:cNvSpPr txBox="1"/>
          <p:nvPr/>
        </p:nvSpPr>
        <p:spPr>
          <a:xfrm>
            <a:off x="877824" y="2834640"/>
            <a:ext cx="3017520" cy="786384"/>
          </a:xfrm>
          <a:prstGeom prst="rect">
            <a:avLst/>
          </a:prstGeom>
          <a:noFill/>
          <a:ln/>
        </p:spPr>
        <p:txBody>
          <a:bodyPr wrap="square" lIns="0" tIns="0" rIns="0" bIns="0" rtlCol="0" anchor="ctr"/>
          <a:lstStyle/>
          <a:p>
            <a:pPr marL="0" indent="0">
              <a:lnSpc>
                <a:spcPts val="1400"/>
              </a:lnSpc>
              <a:buNone/>
            </a:pPr>
            <a:r>
              <a:rPr lang="en-US" sz="1050" dirty="0">
                <a:solidFill>
                  <a:srgbClr val="585868"/>
                </a:solidFill>
                <a:latin typeface="Helvetica Neue" pitchFamily="34" charset="0"/>
                <a:ea typeface="Helvetica Neue" pitchFamily="34" charset="-122"/>
                <a:cs typeface="Helvetica Neue" pitchFamily="34" charset="-120"/>
              </a:rPr>
              <a:t>against a peer mean of 0.64 — about 3.7 standard deviations above the set, and ING's strongest measured signature.</a:t>
            </a:r>
            <a:endParaRPr lang="en-US" sz="1050" dirty="0"/>
          </a:p>
        </p:txBody>
      </p:sp>
      <p:sp>
        <p:nvSpPr>
          <p:cNvPr id="10" name="Shape 8"/>
          <p:cNvSpPr/>
          <p:nvPr/>
        </p:nvSpPr>
        <p:spPr>
          <a:xfrm>
            <a:off x="4480560" y="1517904"/>
            <a:ext cx="3529584" cy="2212848"/>
          </a:xfrm>
          <a:prstGeom prst="roundRect">
            <a:avLst>
              <a:gd name="adj" fmla="val 2479"/>
            </a:avLst>
          </a:prstGeom>
          <a:solidFill>
            <a:srgbClr val="FAFAFC"/>
          </a:solidFill>
          <a:ln w="12700">
            <a:solidFill>
              <a:srgbClr val="E4E4EC"/>
            </a:solidFill>
            <a:prstDash val="solid"/>
          </a:ln>
        </p:spPr>
      </p:sp>
      <p:sp>
        <p:nvSpPr>
          <p:cNvPr id="11" name="Text 9"/>
          <p:cNvSpPr txBox="1"/>
          <p:nvPr/>
        </p:nvSpPr>
        <p:spPr>
          <a:xfrm>
            <a:off x="4736592" y="1682496"/>
            <a:ext cx="3017520" cy="841248"/>
          </a:xfrm>
          <a:prstGeom prst="rect">
            <a:avLst/>
          </a:prstGeom>
          <a:noFill/>
          <a:ln/>
        </p:spPr>
        <p:txBody>
          <a:bodyPr wrap="square" lIns="0" tIns="0" rIns="0" bIns="0" rtlCol="0" anchor="ctr"/>
          <a:lstStyle/>
          <a:p>
            <a:pPr marL="0" indent="0">
              <a:buNone/>
            </a:pPr>
            <a:r>
              <a:rPr lang="en-US" sz="4600" b="1" dirty="0">
                <a:solidFill>
                  <a:srgbClr val="FF6200"/>
                </a:solidFill>
                <a:latin typeface="Helvetica Neue" pitchFamily="34" charset="0"/>
                <a:ea typeface="Helvetica Neue" pitchFamily="34" charset="-122"/>
                <a:cs typeface="Helvetica Neue" pitchFamily="34" charset="-120"/>
              </a:rPr>
              <a:t>11,149px</a:t>
            </a:r>
            <a:endParaRPr lang="en-US" sz="4600" dirty="0"/>
          </a:p>
        </p:txBody>
      </p:sp>
      <p:sp>
        <p:nvSpPr>
          <p:cNvPr id="12" name="Text 10"/>
          <p:cNvSpPr txBox="1"/>
          <p:nvPr/>
        </p:nvSpPr>
        <p:spPr>
          <a:xfrm>
            <a:off x="4736592" y="2505456"/>
            <a:ext cx="3017520" cy="310896"/>
          </a:xfrm>
          <a:prstGeom prst="rect">
            <a:avLst/>
          </a:prstGeom>
          <a:noFill/>
          <a:ln/>
        </p:spPr>
        <p:txBody>
          <a:bodyPr wrap="square" lIns="0" tIns="0" rIns="0" bIns="0" rtlCol="0" anchor="ctr"/>
          <a:lstStyle/>
          <a:p>
            <a:pPr marL="0" indent="0">
              <a:buNone/>
            </a:pPr>
            <a:r>
              <a:rPr lang="en-US" sz="1200" b="1" dirty="0">
                <a:solidFill>
                  <a:srgbClr val="14141C"/>
                </a:solidFill>
                <a:latin typeface="Helvetica Neue" pitchFamily="34" charset="0"/>
                <a:ea typeface="Helvetica Neue" pitchFamily="34" charset="-122"/>
                <a:cs typeface="Helvetica Neue" pitchFamily="34" charset="-120"/>
              </a:rPr>
              <a:t>page height, against 6,412px</a:t>
            </a:r>
            <a:endParaRPr lang="en-US" sz="1200" dirty="0"/>
          </a:p>
        </p:txBody>
      </p:sp>
      <p:sp>
        <p:nvSpPr>
          <p:cNvPr id="13" name="Text 11"/>
          <p:cNvSpPr txBox="1"/>
          <p:nvPr/>
        </p:nvSpPr>
        <p:spPr>
          <a:xfrm>
            <a:off x="4736592" y="2834640"/>
            <a:ext cx="3017520" cy="786384"/>
          </a:xfrm>
          <a:prstGeom prst="rect">
            <a:avLst/>
          </a:prstGeom>
          <a:noFill/>
          <a:ln/>
        </p:spPr>
        <p:txBody>
          <a:bodyPr wrap="square" lIns="0" tIns="0" rIns="0" bIns="0" rtlCol="0" anchor="ctr"/>
          <a:lstStyle/>
          <a:p>
            <a:pPr marL="0" indent="0">
              <a:lnSpc>
                <a:spcPts val="1400"/>
              </a:lnSpc>
              <a:buNone/>
            </a:pPr>
            <a:r>
              <a:rPr lang="en-US" sz="1050" dirty="0">
                <a:solidFill>
                  <a:srgbClr val="585868"/>
                </a:solidFill>
                <a:latin typeface="Helvetica Neue" pitchFamily="34" charset="0"/>
                <a:ea typeface="Helvetica Neue" pitchFamily="34" charset="-122"/>
                <a:cs typeface="Helvetica Neue" pitchFamily="34" charset="-120"/>
              </a:rPr>
              <a:t>ING's pages run about 74% longer than the set, so the offer sits further from the top.</a:t>
            </a:r>
            <a:endParaRPr lang="en-US" sz="1050" dirty="0"/>
          </a:p>
        </p:txBody>
      </p:sp>
      <p:sp>
        <p:nvSpPr>
          <p:cNvPr id="14" name="Shape 12"/>
          <p:cNvSpPr/>
          <p:nvPr/>
        </p:nvSpPr>
        <p:spPr>
          <a:xfrm>
            <a:off x="8339328" y="1517904"/>
            <a:ext cx="3529584" cy="2212848"/>
          </a:xfrm>
          <a:prstGeom prst="roundRect">
            <a:avLst>
              <a:gd name="adj" fmla="val 2479"/>
            </a:avLst>
          </a:prstGeom>
          <a:solidFill>
            <a:srgbClr val="FAFAFC"/>
          </a:solidFill>
          <a:ln w="12700">
            <a:solidFill>
              <a:srgbClr val="E4E4EC"/>
            </a:solidFill>
            <a:prstDash val="solid"/>
          </a:ln>
        </p:spPr>
      </p:sp>
      <p:sp>
        <p:nvSpPr>
          <p:cNvPr id="15" name="Text 13"/>
          <p:cNvSpPr txBox="1"/>
          <p:nvPr/>
        </p:nvSpPr>
        <p:spPr>
          <a:xfrm>
            <a:off x="8595360" y="1682496"/>
            <a:ext cx="3017520" cy="841248"/>
          </a:xfrm>
          <a:prstGeom prst="rect">
            <a:avLst/>
          </a:prstGeom>
          <a:noFill/>
          <a:ln/>
        </p:spPr>
        <p:txBody>
          <a:bodyPr wrap="square" lIns="0" tIns="0" rIns="0" bIns="0" rtlCol="0" anchor="ctr"/>
          <a:lstStyle/>
          <a:p>
            <a:pPr marL="0" indent="0">
              <a:buNone/>
            </a:pPr>
            <a:r>
              <a:rPr lang="en-US" sz="4600" b="1" dirty="0">
                <a:solidFill>
                  <a:srgbClr val="FF6200"/>
                </a:solidFill>
                <a:latin typeface="Helvetica Neue" pitchFamily="34" charset="0"/>
                <a:ea typeface="Helvetica Neue" pitchFamily="34" charset="-122"/>
                <a:cs typeface="Helvetica Neue" pitchFamily="34" charset="-120"/>
              </a:rPr>
              <a:t>0.67</a:t>
            </a:r>
            <a:endParaRPr lang="en-US" sz="4600" dirty="0"/>
          </a:p>
        </p:txBody>
      </p:sp>
      <p:sp>
        <p:nvSpPr>
          <p:cNvPr id="16" name="Text 14"/>
          <p:cNvSpPr txBox="1"/>
          <p:nvPr/>
        </p:nvSpPr>
        <p:spPr>
          <a:xfrm>
            <a:off x="8595360" y="2505456"/>
            <a:ext cx="3017520" cy="310896"/>
          </a:xfrm>
          <a:prstGeom prst="rect">
            <a:avLst/>
          </a:prstGeom>
          <a:noFill/>
          <a:ln/>
        </p:spPr>
        <p:txBody>
          <a:bodyPr wrap="square" lIns="0" tIns="0" rIns="0" bIns="0" rtlCol="0" anchor="ctr"/>
          <a:lstStyle/>
          <a:p>
            <a:pPr marL="0" indent="0">
              <a:buNone/>
            </a:pPr>
            <a:r>
              <a:rPr lang="en-US" sz="1200" b="1" dirty="0">
                <a:solidFill>
                  <a:srgbClr val="14141C"/>
                </a:solidFill>
                <a:latin typeface="Helvetica Neue" pitchFamily="34" charset="0"/>
                <a:ea typeface="Helvetica Neue" pitchFamily="34" charset="-122"/>
                <a:cs typeface="Helvetica Neue" pitchFamily="34" charset="-120"/>
              </a:rPr>
              <a:t>‘free’ claims with conditions elsewhere</a:t>
            </a:r>
            <a:endParaRPr lang="en-US" sz="1200" dirty="0"/>
          </a:p>
        </p:txBody>
      </p:sp>
      <p:sp>
        <p:nvSpPr>
          <p:cNvPr id="17" name="Text 15"/>
          <p:cNvSpPr txBox="1"/>
          <p:nvPr/>
        </p:nvSpPr>
        <p:spPr>
          <a:xfrm>
            <a:off x="8595360" y="2834640"/>
            <a:ext cx="3017520" cy="786384"/>
          </a:xfrm>
          <a:prstGeom prst="rect">
            <a:avLst/>
          </a:prstGeom>
          <a:noFill/>
          <a:ln/>
        </p:spPr>
        <p:txBody>
          <a:bodyPr wrap="square" lIns="0" tIns="0" rIns="0" bIns="0" rtlCol="0" anchor="ctr"/>
          <a:lstStyle/>
          <a:p>
            <a:pPr marL="0" indent="0">
              <a:lnSpc>
                <a:spcPts val="1400"/>
              </a:lnSpc>
              <a:buNone/>
            </a:pPr>
            <a:r>
              <a:rPr lang="en-US" sz="1050" dirty="0">
                <a:solidFill>
                  <a:srgbClr val="585868"/>
                </a:solidFill>
                <a:latin typeface="Helvetica Neue" pitchFamily="34" charset="0"/>
                <a:ea typeface="Helvetica Neue" pitchFamily="34" charset="-122"/>
                <a:cs typeface="Helvetica Neue" pitchFamily="34" charset="-120"/>
              </a:rPr>
              <a:t>against a peer mean of 0.23 — the qualifying conditions are not adjacent to the claim they qualify.</a:t>
            </a:r>
            <a:endParaRPr lang="en-US" sz="1050" dirty="0"/>
          </a:p>
        </p:txBody>
      </p:sp>
      <p:sp>
        <p:nvSpPr>
          <p:cNvPr id="18" name="Text 16"/>
          <p:cNvSpPr txBox="1"/>
          <p:nvPr/>
        </p:nvSpPr>
        <p:spPr>
          <a:xfrm>
            <a:off x="621792" y="3968496"/>
            <a:ext cx="10881360" cy="292608"/>
          </a:xfrm>
          <a:prstGeom prst="rect">
            <a:avLst/>
          </a:prstGeom>
          <a:noFill/>
          <a:ln/>
        </p:spPr>
        <p:txBody>
          <a:bodyPr wrap="square" lIns="0" tIns="0" rIns="0" bIns="0" rtlCol="0" anchor="ctr"/>
          <a:lstStyle/>
          <a:p>
            <a:pPr marL="0" indent="0">
              <a:buNone/>
            </a:pPr>
            <a:r>
              <a:rPr lang="en-US" sz="1350" b="1" dirty="0">
                <a:solidFill>
                  <a:srgbClr val="14141C"/>
                </a:solidFill>
                <a:latin typeface="Helvetica Neue" pitchFamily="34" charset="0"/>
                <a:ea typeface="Helvetica Neue" pitchFamily="34" charset="-122"/>
                <a:cs typeface="Helvetica Neue" pitchFamily="34" charset="-120"/>
              </a:rPr>
              <a:t>The three it ranked highest</a:t>
            </a:r>
            <a:endParaRPr lang="en-US" sz="1350" dirty="0"/>
          </a:p>
        </p:txBody>
      </p:sp>
      <p:sp>
        <p:nvSpPr>
          <p:cNvPr id="19" name="Shape 17"/>
          <p:cNvSpPr/>
          <p:nvPr/>
        </p:nvSpPr>
        <p:spPr>
          <a:xfrm>
            <a:off x="640080" y="4416552"/>
            <a:ext cx="155448" cy="155448"/>
          </a:xfrm>
          <a:prstGeom prst="ellipse">
            <a:avLst/>
          </a:prstGeom>
          <a:solidFill>
            <a:srgbClr val="FF6200"/>
          </a:solidFill>
          <a:ln w="12700">
            <a:solidFill>
              <a:srgbClr val="333333"/>
            </a:solidFill>
            <a:prstDash val="solid"/>
          </a:ln>
        </p:spPr>
      </p:sp>
      <p:sp>
        <p:nvSpPr>
          <p:cNvPr id="20" name="Text 18"/>
          <p:cNvSpPr txBox="1"/>
          <p:nvPr/>
        </p:nvSpPr>
        <p:spPr>
          <a:xfrm>
            <a:off x="914400" y="4352544"/>
            <a:ext cx="5074920" cy="292608"/>
          </a:xfrm>
          <a:prstGeom prst="rect">
            <a:avLst/>
          </a:prstGeom>
          <a:noFill/>
          <a:ln/>
        </p:spPr>
        <p:txBody>
          <a:bodyPr wrap="square" lIns="0" tIns="0" rIns="0" bIns="0" rtlCol="0" anchor="ctr"/>
          <a:lstStyle/>
          <a:p>
            <a:pPr marL="0" indent="0">
              <a:buNone/>
            </a:pPr>
            <a:r>
              <a:rPr lang="en-US" sz="1200" b="1" dirty="0">
                <a:solidFill>
                  <a:srgbClr val="14141C"/>
                </a:solidFill>
                <a:latin typeface="Helvetica Neue" pitchFamily="34" charset="0"/>
                <a:ea typeface="Helvetica Neue" pitchFamily="34" charset="-122"/>
                <a:cs typeface="Helvetica Neue" pitchFamily="34" charset="-120"/>
              </a:rPr>
              <a:t>Strip back urgency and deadline language</a:t>
            </a:r>
            <a:endParaRPr lang="en-US" sz="1200" dirty="0"/>
          </a:p>
        </p:txBody>
      </p:sp>
      <p:sp>
        <p:nvSpPr>
          <p:cNvPr id="21" name="Text 19"/>
          <p:cNvSpPr txBox="1"/>
          <p:nvPr/>
        </p:nvSpPr>
        <p:spPr>
          <a:xfrm>
            <a:off x="6108192" y="4352544"/>
            <a:ext cx="5413248" cy="292608"/>
          </a:xfrm>
          <a:prstGeom prst="rect">
            <a:avLst/>
          </a:prstGeom>
          <a:noFill/>
          <a:ln/>
        </p:spPr>
        <p:txBody>
          <a:bodyPr wrap="square" lIns="0" tIns="0" rIns="0" bIns="0" rtlCol="0" anchor="ctr"/>
          <a:lstStyle/>
          <a:p>
            <a:pPr marL="0" indent="0">
              <a:buNone/>
            </a:pPr>
            <a:r>
              <a:rPr lang="en-US" sz="1050" dirty="0">
                <a:solidFill>
                  <a:srgbClr val="585868"/>
                </a:solidFill>
                <a:latin typeface="Helvetica Neue" pitchFamily="34" charset="0"/>
                <a:ea typeface="Helvetica Neue" pitchFamily="34" charset="-122"/>
                <a:cs typeface="Helvetica Neue" pitchFamily="34" charset="-120"/>
              </a:rPr>
              <a:t>urgency_marker_count</a:t>
            </a:r>
            <a:endParaRPr lang="en-US" sz="1050" dirty="0"/>
          </a:p>
        </p:txBody>
      </p:sp>
      <p:sp>
        <p:nvSpPr>
          <p:cNvPr id="22" name="Shape 20"/>
          <p:cNvSpPr/>
          <p:nvPr/>
        </p:nvSpPr>
        <p:spPr>
          <a:xfrm>
            <a:off x="640080" y="4946904"/>
            <a:ext cx="155448" cy="155448"/>
          </a:xfrm>
          <a:prstGeom prst="ellipse">
            <a:avLst/>
          </a:prstGeom>
          <a:solidFill>
            <a:srgbClr val="FF6200"/>
          </a:solidFill>
          <a:ln w="12700">
            <a:solidFill>
              <a:srgbClr val="333333"/>
            </a:solidFill>
            <a:prstDash val="solid"/>
          </a:ln>
        </p:spPr>
      </p:sp>
      <p:sp>
        <p:nvSpPr>
          <p:cNvPr id="23" name="Text 21"/>
          <p:cNvSpPr txBox="1"/>
          <p:nvPr/>
        </p:nvSpPr>
        <p:spPr>
          <a:xfrm>
            <a:off x="914400" y="4882896"/>
            <a:ext cx="5074920" cy="292608"/>
          </a:xfrm>
          <a:prstGeom prst="rect">
            <a:avLst/>
          </a:prstGeom>
          <a:noFill/>
          <a:ln/>
        </p:spPr>
        <p:txBody>
          <a:bodyPr wrap="square" lIns="0" tIns="0" rIns="0" bIns="0" rtlCol="0" anchor="ctr"/>
          <a:lstStyle/>
          <a:p>
            <a:pPr marL="0" indent="0">
              <a:buNone/>
            </a:pPr>
            <a:r>
              <a:rPr lang="en-US" sz="1200" b="1" dirty="0">
                <a:solidFill>
                  <a:srgbClr val="14141C"/>
                </a:solidFill>
                <a:latin typeface="Helvetica Neue" pitchFamily="34" charset="0"/>
                <a:ea typeface="Helvetica Neue" pitchFamily="34" charset="-122"/>
                <a:cs typeface="Helvetica Neue" pitchFamily="34" charset="-120"/>
              </a:rPr>
              <a:t>Bring the offer higher up the page</a:t>
            </a:r>
            <a:endParaRPr lang="en-US" sz="1200" dirty="0"/>
          </a:p>
        </p:txBody>
      </p:sp>
      <p:sp>
        <p:nvSpPr>
          <p:cNvPr id="24" name="Text 22"/>
          <p:cNvSpPr txBox="1"/>
          <p:nvPr/>
        </p:nvSpPr>
        <p:spPr>
          <a:xfrm>
            <a:off x="6108192" y="4882896"/>
            <a:ext cx="5413248" cy="292608"/>
          </a:xfrm>
          <a:prstGeom prst="rect">
            <a:avLst/>
          </a:prstGeom>
          <a:noFill/>
          <a:ln/>
        </p:spPr>
        <p:txBody>
          <a:bodyPr wrap="square" lIns="0" tIns="0" rIns="0" bIns="0" rtlCol="0" anchor="ctr"/>
          <a:lstStyle/>
          <a:p>
            <a:pPr marL="0" indent="0">
              <a:buNone/>
            </a:pPr>
            <a:r>
              <a:rPr lang="en-US" sz="1050" dirty="0">
                <a:solidFill>
                  <a:srgbClr val="585868"/>
                </a:solidFill>
                <a:latin typeface="Helvetica Neue" pitchFamily="34" charset="0"/>
                <a:ea typeface="Helvetica Neue" pitchFamily="34" charset="-122"/>
                <a:cs typeface="Helvetica Neue" pitchFamily="34" charset="-120"/>
              </a:rPr>
              <a:t>page_height_px</a:t>
            </a:r>
            <a:endParaRPr lang="en-US" sz="1050" dirty="0"/>
          </a:p>
        </p:txBody>
      </p:sp>
      <p:sp>
        <p:nvSpPr>
          <p:cNvPr id="25" name="Shape 23"/>
          <p:cNvSpPr/>
          <p:nvPr/>
        </p:nvSpPr>
        <p:spPr>
          <a:xfrm>
            <a:off x="640080" y="5477256"/>
            <a:ext cx="155448" cy="155448"/>
          </a:xfrm>
          <a:prstGeom prst="ellipse">
            <a:avLst/>
          </a:prstGeom>
          <a:solidFill>
            <a:srgbClr val="FF6200"/>
          </a:solidFill>
          <a:ln w="12700">
            <a:solidFill>
              <a:srgbClr val="333333"/>
            </a:solidFill>
            <a:prstDash val="solid"/>
          </a:ln>
        </p:spPr>
      </p:sp>
      <p:sp>
        <p:nvSpPr>
          <p:cNvPr id="26" name="Text 24"/>
          <p:cNvSpPr txBox="1"/>
          <p:nvPr/>
        </p:nvSpPr>
        <p:spPr>
          <a:xfrm>
            <a:off x="914400" y="5413248"/>
            <a:ext cx="5074920" cy="292608"/>
          </a:xfrm>
          <a:prstGeom prst="rect">
            <a:avLst/>
          </a:prstGeom>
          <a:noFill/>
          <a:ln/>
        </p:spPr>
        <p:txBody>
          <a:bodyPr wrap="square" lIns="0" tIns="0" rIns="0" bIns="0" rtlCol="0" anchor="ctr"/>
          <a:lstStyle/>
          <a:p>
            <a:pPr marL="0" indent="0">
              <a:buNone/>
            </a:pPr>
            <a:r>
              <a:rPr lang="en-US" sz="1200" b="1" dirty="0">
                <a:solidFill>
                  <a:srgbClr val="14141C"/>
                </a:solidFill>
                <a:latin typeface="Helvetica Neue" pitchFamily="34" charset="0"/>
                <a:ea typeface="Helvetica Neue" pitchFamily="34" charset="-122"/>
                <a:cs typeface="Helvetica Neue" pitchFamily="34" charset="-120"/>
              </a:rPr>
              <a:t>Disclose the conditions of any free claim next to the claim</a:t>
            </a:r>
            <a:endParaRPr lang="en-US" sz="1200" dirty="0"/>
          </a:p>
        </p:txBody>
      </p:sp>
      <p:sp>
        <p:nvSpPr>
          <p:cNvPr id="27" name="Text 25"/>
          <p:cNvSpPr txBox="1"/>
          <p:nvPr/>
        </p:nvSpPr>
        <p:spPr>
          <a:xfrm>
            <a:off x="6108192" y="5413248"/>
            <a:ext cx="5413248" cy="292608"/>
          </a:xfrm>
          <a:prstGeom prst="rect">
            <a:avLst/>
          </a:prstGeom>
          <a:noFill/>
          <a:ln/>
        </p:spPr>
        <p:txBody>
          <a:bodyPr wrap="square" lIns="0" tIns="0" rIns="0" bIns="0" rtlCol="0" anchor="ctr"/>
          <a:lstStyle/>
          <a:p>
            <a:pPr marL="0" indent="0">
              <a:buNone/>
            </a:pPr>
            <a:r>
              <a:rPr lang="en-US" sz="1050" dirty="0">
                <a:solidFill>
                  <a:srgbClr val="585868"/>
                </a:solidFill>
                <a:latin typeface="Helvetica Neue" pitchFamily="34" charset="0"/>
                <a:ea typeface="Helvetica Neue" pitchFamily="34" charset="-122"/>
                <a:cs typeface="Helvetica Neue" pitchFamily="34" charset="-120"/>
              </a:rPr>
              <a:t>hidden_conditions_behind_free_claim</a:t>
            </a:r>
            <a:endParaRPr lang="en-US" sz="1050" dirty="0"/>
          </a:p>
        </p:txBody>
      </p:sp>
      <p:sp>
        <p:nvSpPr>
          <p:cNvPr id="28" name="Text 26"/>
          <p:cNvSpPr txBox="1"/>
          <p:nvPr/>
        </p:nvSpPr>
        <p:spPr>
          <a:xfrm>
            <a:off x="621792" y="5888736"/>
            <a:ext cx="10881360" cy="420624"/>
          </a:xfrm>
          <a:prstGeom prst="rect">
            <a:avLst/>
          </a:prstGeom>
          <a:noFill/>
          <a:ln/>
        </p:spPr>
        <p:txBody>
          <a:bodyPr wrap="square" lIns="0" tIns="0" rIns="0" bIns="0" rtlCol="0" anchor="ctr"/>
          <a:lstStyle/>
          <a:p>
            <a:pPr marL="0" indent="0">
              <a:lnSpc>
                <a:spcPts val="1400"/>
              </a:lnSpc>
              <a:buNone/>
            </a:pPr>
            <a:r>
              <a:rPr lang="en-US" sz="1050" dirty="0">
                <a:solidFill>
                  <a:srgbClr val="585868"/>
                </a:solidFill>
                <a:latin typeface="Helvetica Neue" pitchFamily="34" charset="0"/>
                <a:ea typeface="Helvetica Neue" pitchFamily="34" charset="-122"/>
                <a:cs typeface="Helvetica Neue" pitchFamily="34" charset="-120"/>
              </a:rPr>
              <a:t>Design observations, not performance findings. The pages span several product families and languages, the judged features come from a single rater, and no click or conversion data exists — so every item is a hypothesis ING could test.</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11064240" cy="640080"/>
          </a:xfrm>
          <a:prstGeom prst="rect">
            <a:avLst/>
          </a:prstGeom>
          <a:noFill/>
          <a:ln/>
        </p:spPr>
        <p:txBody>
          <a:bodyPr wrap="square" lIns="0" tIns="0" rIns="0" bIns="0" rtlCol="0" anchor="ctr"/>
          <a:lstStyle/>
          <a:p>
            <a:pPr marL="0" indent="0">
              <a:buNone/>
            </a:pPr>
            <a:r>
              <a:rPr lang="en-US" sz="2800" b="1" dirty="0">
                <a:solidFill>
                  <a:srgbClr val="14141C"/>
                </a:solidFill>
                <a:latin typeface="Helvetica Neue" pitchFamily="34" charset="0"/>
                <a:ea typeface="Helvetica Neue" pitchFamily="34" charset="-122"/>
                <a:cs typeface="Helvetica Neue" pitchFamily="34" charset="-120"/>
              </a:rPr>
              <a:t>From a list of changes to a site you can actually look at</a:t>
            </a:r>
            <a:endParaRPr lang="en-US" sz="2800" dirty="0"/>
          </a:p>
        </p:txBody>
      </p:sp>
      <p:sp>
        <p:nvSpPr>
          <p:cNvPr id="3" name="Shape 1"/>
          <p:cNvSpPr/>
          <p:nvPr/>
        </p:nvSpPr>
        <p:spPr>
          <a:xfrm>
            <a:off x="548640" y="960120"/>
            <a:ext cx="1463040" cy="54864"/>
          </a:xfrm>
          <a:prstGeom prst="rect">
            <a:avLst/>
          </a:prstGeom>
          <a:solidFill>
            <a:srgbClr val="FF6200"/>
          </a:solidFill>
          <a:ln w="12700">
            <a:solidFill>
              <a:srgbClr val="333333"/>
            </a:solidFill>
            <a:prstDash val="solid"/>
          </a:ln>
        </p:spPr>
      </p:sp>
      <p:sp>
        <p:nvSpPr>
          <p:cNvPr id="4" name="Text 2"/>
          <p:cNvSpPr txBox="1"/>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rgbClr val="585868"/>
                </a:solidFill>
                <a:latin typeface="Helvetica Neue" pitchFamily="34" charset="0"/>
                <a:ea typeface="Helvetica Neue" pitchFamily="34" charset="-122"/>
                <a:cs typeface="Helvetica Neue" pitchFamily="34" charset="-120"/>
              </a:rPr>
              <a:t>Banking Campaigns Comparator · ING DACI / Customer AI · September 2026</a:t>
            </a:r>
            <a:endParaRPr lang="en-US" sz="1000" dirty="0"/>
          </a:p>
        </p:txBody>
      </p:sp>
      <p:sp>
        <p:nvSpPr>
          <p:cNvPr id="5" name="Text 3"/>
          <p:cNvSpPr txBox="1"/>
          <p:nvPr/>
        </p:nvSpPr>
        <p:spPr>
          <a:xfrm>
            <a:off x="11091672" y="6400800"/>
            <a:ext cx="548640" cy="274320"/>
          </a:xfrm>
          <a:prstGeom prst="rect">
            <a:avLst/>
          </a:prstGeom>
          <a:noFill/>
          <a:ln/>
        </p:spPr>
        <p:txBody>
          <a:bodyPr wrap="square" lIns="0" tIns="0" rIns="0" bIns="0" rtlCol="0" anchor="ctr"/>
          <a:lstStyle/>
          <a:p>
            <a:pPr marL="0" indent="0" algn="r">
              <a:buNone/>
            </a:pPr>
            <a:r>
              <a:rPr lang="en-US" sz="1000" dirty="0">
                <a:solidFill>
                  <a:srgbClr val="585868"/>
                </a:solidFill>
                <a:latin typeface="Helvetica Neue" pitchFamily="34" charset="0"/>
                <a:ea typeface="Helvetica Neue" pitchFamily="34" charset="-122"/>
                <a:cs typeface="Helvetica Neue" pitchFamily="34" charset="-120"/>
              </a:rPr>
              <a:t>16</a:t>
            </a:r>
            <a:endParaRPr lang="en-US" sz="1000" dirty="0"/>
          </a:p>
        </p:txBody>
      </p:sp>
      <p:sp>
        <p:nvSpPr>
          <p:cNvPr id="6" name="Shape 4"/>
          <p:cNvSpPr/>
          <p:nvPr/>
        </p:nvSpPr>
        <p:spPr>
          <a:xfrm>
            <a:off x="626364" y="1248156"/>
            <a:ext cx="6739128" cy="2414016"/>
          </a:xfrm>
          <a:prstGeom prst="rect">
            <a:avLst/>
          </a:prstGeom>
          <a:solidFill>
            <a:srgbClr val="FFFFFF"/>
          </a:solidFill>
          <a:ln w="12700">
            <a:solidFill>
              <a:srgbClr val="E4E4EC"/>
            </a:solidFill>
            <a:prstDash val="solid"/>
          </a:ln>
        </p:spPr>
      </p:sp>
      <p:pic>
        <p:nvPicPr>
          <p:cNvPr id="7" name="Image 0" descr="/Users/nstephane/Dev/AI_Data_Science_training/ing-usecase/docs/deck_assets/site_hero.png"/>
          <p:cNvPicPr>
            <a:picLocks noChangeAspect="1"/>
          </p:cNvPicPr>
          <p:nvPr/>
        </p:nvPicPr>
        <p:blipFill>
          <a:blip r:embed="rId2"/>
          <a:stretch>
            <a:fillRect/>
          </a:stretch>
        </p:blipFill>
        <p:spPr>
          <a:xfrm>
            <a:off x="658368" y="1280160"/>
            <a:ext cx="6675120" cy="2350008"/>
          </a:xfrm>
          <a:prstGeom prst="rect">
            <a:avLst/>
          </a:prstGeom>
        </p:spPr>
      </p:pic>
      <p:sp>
        <p:nvSpPr>
          <p:cNvPr id="8" name="Shape 5"/>
          <p:cNvSpPr/>
          <p:nvPr/>
        </p:nvSpPr>
        <p:spPr>
          <a:xfrm>
            <a:off x="626364" y="3808476"/>
            <a:ext cx="5184648" cy="2112264"/>
          </a:xfrm>
          <a:prstGeom prst="rect">
            <a:avLst/>
          </a:prstGeom>
          <a:solidFill>
            <a:srgbClr val="FFFFFF"/>
          </a:solidFill>
          <a:ln w="12700">
            <a:solidFill>
              <a:srgbClr val="E4E4EC"/>
            </a:solidFill>
            <a:prstDash val="solid"/>
          </a:ln>
        </p:spPr>
      </p:sp>
      <p:pic>
        <p:nvPicPr>
          <p:cNvPr id="9" name="Image 1" descr="/Users/nstephane/Dev/AI_Data_Science_training/ing-usecase/docs/deck_assets/site_explained.png"/>
          <p:cNvPicPr>
            <a:picLocks noChangeAspect="1"/>
          </p:cNvPicPr>
          <p:nvPr/>
        </p:nvPicPr>
        <p:blipFill>
          <a:blip r:embed="rId3"/>
          <a:stretch>
            <a:fillRect/>
          </a:stretch>
        </p:blipFill>
        <p:spPr>
          <a:xfrm>
            <a:off x="658368" y="3840480"/>
            <a:ext cx="5120640" cy="2048256"/>
          </a:xfrm>
          <a:prstGeom prst="rect">
            <a:avLst/>
          </a:prstGeom>
        </p:spPr>
      </p:pic>
      <p:sp>
        <p:nvSpPr>
          <p:cNvPr id="10" name="Text 6"/>
          <p:cNvSpPr txBox="1"/>
          <p:nvPr/>
        </p:nvSpPr>
        <p:spPr>
          <a:xfrm>
            <a:off x="658368" y="5998464"/>
            <a:ext cx="6675120" cy="292608"/>
          </a:xfrm>
          <a:prstGeom prst="rect">
            <a:avLst/>
          </a:prstGeom>
          <a:noFill/>
          <a:ln/>
        </p:spPr>
        <p:txBody>
          <a:bodyPr wrap="square" lIns="0" tIns="0" rIns="0" bIns="0" rtlCol="0" anchor="ctr"/>
          <a:lstStyle/>
          <a:p>
            <a:pPr marL="0" indent="0">
              <a:buNone/>
            </a:pPr>
            <a:r>
              <a:rPr lang="en-US" sz="1050" i="1" dirty="0">
                <a:solidFill>
                  <a:srgbClr val="585868"/>
                </a:solidFill>
                <a:latin typeface="Helvetica Neue" pitchFamily="34" charset="0"/>
                <a:ea typeface="Helvetica Neue" pitchFamily="34" charset="-122"/>
                <a:cs typeface="Helvetica Neue" pitchFamily="34" charset="-120"/>
              </a:rPr>
              <a:t>Generated, never published: rates and amounts stay as [TAUX] and [MONTANT] placeholders.</a:t>
            </a:r>
            <a:endParaRPr lang="en-US" sz="1050" dirty="0"/>
          </a:p>
        </p:txBody>
      </p:sp>
      <p:pic>
        <p:nvPicPr>
          <p:cNvPr id="11" name="Image 2" descr="/Users/nstephane/Dev/AI_Data_Science_training/ing-usecase/docs/deck_assets/icons/check.png"/>
          <p:cNvPicPr>
            <a:picLocks noChangeAspect="1"/>
          </p:cNvPicPr>
          <p:nvPr/>
        </p:nvPicPr>
        <p:blipFill>
          <a:blip r:embed="rId4"/>
          <a:stretch>
            <a:fillRect/>
          </a:stretch>
        </p:blipFill>
        <p:spPr>
          <a:xfrm>
            <a:off x="7699248" y="1408176"/>
            <a:ext cx="420624" cy="420624"/>
          </a:xfrm>
          <a:prstGeom prst="rect">
            <a:avLst/>
          </a:prstGeom>
        </p:spPr>
      </p:pic>
      <p:sp>
        <p:nvSpPr>
          <p:cNvPr id="12" name="Text 7"/>
          <p:cNvSpPr txBox="1"/>
          <p:nvPr/>
        </p:nvSpPr>
        <p:spPr>
          <a:xfrm>
            <a:off x="8266176" y="1389888"/>
            <a:ext cx="3273552" cy="274320"/>
          </a:xfrm>
          <a:prstGeom prst="rect">
            <a:avLst/>
          </a:prstGeom>
          <a:noFill/>
          <a:ln/>
        </p:spPr>
        <p:txBody>
          <a:bodyPr wrap="square" lIns="0" tIns="0" rIns="0" bIns="0" rtlCol="0" anchor="ctr"/>
          <a:lstStyle/>
          <a:p>
            <a:pPr marL="0" indent="0">
              <a:buNone/>
            </a:pPr>
            <a:r>
              <a:rPr lang="en-US" sz="1350" b="1" dirty="0">
                <a:solidFill>
                  <a:srgbClr val="14141C"/>
                </a:solidFill>
                <a:latin typeface="Helvetica Neue" pitchFamily="34" charset="0"/>
                <a:ea typeface="Helvetica Neue" pitchFamily="34" charset="-122"/>
                <a:cs typeface="Helvetica Neue" pitchFamily="34" charset="-120"/>
              </a:rPr>
              <a:t>The team chooses what gets built</a:t>
            </a:r>
            <a:endParaRPr lang="en-US" sz="1350" dirty="0"/>
          </a:p>
        </p:txBody>
      </p:sp>
      <p:sp>
        <p:nvSpPr>
          <p:cNvPr id="13" name="Text 8"/>
          <p:cNvSpPr txBox="1"/>
          <p:nvPr/>
        </p:nvSpPr>
        <p:spPr>
          <a:xfrm>
            <a:off x="8266176" y="1682496"/>
            <a:ext cx="3273552" cy="713232"/>
          </a:xfrm>
          <a:prstGeom prst="rect">
            <a:avLst/>
          </a:prstGeom>
          <a:noFill/>
          <a:ln/>
        </p:spPr>
        <p:txBody>
          <a:bodyPr wrap="square" lIns="0" tIns="0" rIns="0" bIns="0" rtlCol="0" anchor="ctr"/>
          <a:lstStyle/>
          <a:p>
            <a:pPr marL="0" indent="0">
              <a:lnSpc>
                <a:spcPts val="1500"/>
              </a:lnSpc>
              <a:buNone/>
            </a:pPr>
            <a:r>
              <a:rPr lang="en-US" sz="1150" dirty="0">
                <a:solidFill>
                  <a:srgbClr val="585868"/>
                </a:solidFill>
                <a:latin typeface="Helvetica Neue" pitchFamily="34" charset="0"/>
                <a:ea typeface="Helvetica Neue" pitchFamily="34" charset="-122"/>
                <a:cs typeface="Helvetica Neue" pitchFamily="34" charset="-120"/>
              </a:rPr>
              <a:t>Every recommendation is a checkbox. Nothing reaches the generator that a person did not tick.</a:t>
            </a:r>
            <a:endParaRPr lang="en-US" sz="1150" dirty="0"/>
          </a:p>
        </p:txBody>
      </p:sp>
      <p:pic>
        <p:nvPicPr>
          <p:cNvPr id="14" name="Image 3" descr="/Users/nstephane/Dev/AI_Data_Science_training/ing-usecase/docs/deck_assets/icons/window.png"/>
          <p:cNvPicPr>
            <a:picLocks noChangeAspect="1"/>
          </p:cNvPicPr>
          <p:nvPr/>
        </p:nvPicPr>
        <p:blipFill>
          <a:blip r:embed="rId5"/>
          <a:stretch>
            <a:fillRect/>
          </a:stretch>
        </p:blipFill>
        <p:spPr>
          <a:xfrm>
            <a:off x="7699248" y="2743200"/>
            <a:ext cx="420624" cy="420624"/>
          </a:xfrm>
          <a:prstGeom prst="rect">
            <a:avLst/>
          </a:prstGeom>
        </p:spPr>
      </p:pic>
      <p:sp>
        <p:nvSpPr>
          <p:cNvPr id="15" name="Text 9"/>
          <p:cNvSpPr txBox="1"/>
          <p:nvPr/>
        </p:nvSpPr>
        <p:spPr>
          <a:xfrm>
            <a:off x="8266176" y="2724912"/>
            <a:ext cx="3273552" cy="274320"/>
          </a:xfrm>
          <a:prstGeom prst="rect">
            <a:avLst/>
          </a:prstGeom>
          <a:noFill/>
          <a:ln/>
        </p:spPr>
        <p:txBody>
          <a:bodyPr wrap="square" lIns="0" tIns="0" rIns="0" bIns="0" rtlCol="0" anchor="ctr"/>
          <a:lstStyle/>
          <a:p>
            <a:pPr marL="0" indent="0">
              <a:buNone/>
            </a:pPr>
            <a:r>
              <a:rPr lang="en-US" sz="1350" b="1" dirty="0">
                <a:solidFill>
                  <a:srgbClr val="14141C"/>
                </a:solidFill>
                <a:latin typeface="Helvetica Neue" pitchFamily="34" charset="0"/>
                <a:ea typeface="Helvetica Neue" pitchFamily="34" charset="-122"/>
                <a:cs typeface="Helvetica Neue" pitchFamily="34" charset="-120"/>
              </a:rPr>
              <a:t>Ten ING-styled pages, in fr-BE or nl-BE</a:t>
            </a:r>
            <a:endParaRPr lang="en-US" sz="1350" dirty="0"/>
          </a:p>
        </p:txBody>
      </p:sp>
      <p:sp>
        <p:nvSpPr>
          <p:cNvPr id="16" name="Text 10"/>
          <p:cNvSpPr txBox="1"/>
          <p:nvPr/>
        </p:nvSpPr>
        <p:spPr>
          <a:xfrm>
            <a:off x="8266176" y="3017520"/>
            <a:ext cx="3273552" cy="713232"/>
          </a:xfrm>
          <a:prstGeom prst="rect">
            <a:avLst/>
          </a:prstGeom>
          <a:noFill/>
          <a:ln/>
        </p:spPr>
        <p:txBody>
          <a:bodyPr wrap="square" lIns="0" tIns="0" rIns="0" bIns="0" rtlCol="0" anchor="ctr"/>
          <a:lstStyle/>
          <a:p>
            <a:pPr marL="0" indent="0">
              <a:lnSpc>
                <a:spcPts val="1500"/>
              </a:lnSpc>
              <a:buNone/>
            </a:pPr>
            <a:r>
              <a:rPr lang="en-US" sz="1150" dirty="0">
                <a:solidFill>
                  <a:srgbClr val="585868"/>
                </a:solidFill>
                <a:latin typeface="Helvetica Neue" pitchFamily="34" charset="0"/>
                <a:ea typeface="Helvetica Neue" pitchFamily="34" charset="-122"/>
                <a:cs typeface="Helvetica Neue" pitchFamily="34" charset="-120"/>
              </a:rPr>
              <a:t>Home, savings, term account, current account, youth, investing, mortgage, opening, why ING, contact.</a:t>
            </a:r>
            <a:endParaRPr lang="en-US" sz="1150" dirty="0"/>
          </a:p>
        </p:txBody>
      </p:sp>
      <p:pic>
        <p:nvPicPr>
          <p:cNvPr id="17" name="Image 4" descr="/Users/nstephane/Dev/AI_Data_Science_training/ing-usecase/docs/deck_assets/icons/list.png"/>
          <p:cNvPicPr>
            <a:picLocks noChangeAspect="1"/>
          </p:cNvPicPr>
          <p:nvPr/>
        </p:nvPicPr>
        <p:blipFill>
          <a:blip r:embed="rId6"/>
          <a:stretch>
            <a:fillRect/>
          </a:stretch>
        </p:blipFill>
        <p:spPr>
          <a:xfrm>
            <a:off x="7699248" y="4078224"/>
            <a:ext cx="420624" cy="420624"/>
          </a:xfrm>
          <a:prstGeom prst="rect">
            <a:avLst/>
          </a:prstGeom>
        </p:spPr>
      </p:pic>
      <p:sp>
        <p:nvSpPr>
          <p:cNvPr id="18" name="Text 11"/>
          <p:cNvSpPr txBox="1"/>
          <p:nvPr/>
        </p:nvSpPr>
        <p:spPr>
          <a:xfrm>
            <a:off x="8266176" y="4059936"/>
            <a:ext cx="3273552" cy="274320"/>
          </a:xfrm>
          <a:prstGeom prst="rect">
            <a:avLst/>
          </a:prstGeom>
          <a:noFill/>
          <a:ln/>
        </p:spPr>
        <p:txBody>
          <a:bodyPr wrap="square" lIns="0" tIns="0" rIns="0" bIns="0" rtlCol="0" anchor="ctr"/>
          <a:lstStyle/>
          <a:p>
            <a:pPr marL="0" indent="0">
              <a:buNone/>
            </a:pPr>
            <a:r>
              <a:rPr lang="en-US" sz="1350" b="1" dirty="0">
                <a:solidFill>
                  <a:srgbClr val="14141C"/>
                </a:solidFill>
                <a:latin typeface="Helvetica Neue" pitchFamily="34" charset="0"/>
                <a:ea typeface="Helvetica Neue" pitchFamily="34" charset="-122"/>
                <a:cs typeface="Helvetica Neue" pitchFamily="34" charset="-120"/>
              </a:rPr>
              <a:t>Each section can name its own source</a:t>
            </a:r>
            <a:endParaRPr lang="en-US" sz="1350" dirty="0"/>
          </a:p>
        </p:txBody>
      </p:sp>
      <p:sp>
        <p:nvSpPr>
          <p:cNvPr id="19" name="Text 12"/>
          <p:cNvSpPr txBox="1"/>
          <p:nvPr/>
        </p:nvSpPr>
        <p:spPr>
          <a:xfrm>
            <a:off x="8266176" y="4352544"/>
            <a:ext cx="3273552" cy="713232"/>
          </a:xfrm>
          <a:prstGeom prst="rect">
            <a:avLst/>
          </a:prstGeom>
          <a:noFill/>
          <a:ln/>
        </p:spPr>
        <p:txBody>
          <a:bodyPr wrap="square" lIns="0" tIns="0" rIns="0" bIns="0" rtlCol="0" anchor="ctr"/>
          <a:lstStyle/>
          <a:p>
            <a:pPr marL="0" indent="0">
              <a:lnSpc>
                <a:spcPts val="1500"/>
              </a:lnSpc>
              <a:buNone/>
            </a:pPr>
            <a:r>
              <a:rPr lang="en-US" sz="1150" dirty="0">
                <a:solidFill>
                  <a:srgbClr val="585868"/>
                </a:solidFill>
                <a:latin typeface="Helvetica Neue" pitchFamily="34" charset="0"/>
                <a:ea typeface="Helvetica Neue" pitchFamily="34" charset="-122"/>
                <a:cs typeface="Helvetica Neue" pitchFamily="34" charset="-120"/>
              </a:rPr>
              <a:t>In explained mode, the orange blocks say which recommendation produced that section and why — so the site is auditable, not just persuasive.</a:t>
            </a:r>
            <a:endParaRPr lang="en-US" sz="1150" dirty="0"/>
          </a:p>
        </p:txBody>
      </p:sp>
      <p:sp>
        <p:nvSpPr>
          <p:cNvPr id="20" name="Text 13"/>
          <p:cNvSpPr txBox="1"/>
          <p:nvPr/>
        </p:nvSpPr>
        <p:spPr>
          <a:xfrm>
            <a:off x="7699248" y="5486400"/>
            <a:ext cx="3840480" cy="603504"/>
          </a:xfrm>
          <a:prstGeom prst="rect">
            <a:avLst/>
          </a:prstGeom>
          <a:noFill/>
          <a:ln/>
        </p:spPr>
        <p:txBody>
          <a:bodyPr wrap="square" lIns="0" tIns="0" rIns="0" bIns="0" rtlCol="0" anchor="ctr"/>
          <a:lstStyle/>
          <a:p>
            <a:pPr marL="0" indent="0">
              <a:lnSpc>
                <a:spcPts val="1500"/>
              </a:lnSpc>
              <a:buNone/>
            </a:pPr>
            <a:r>
              <a:rPr lang="en-US" sz="1150" b="1" dirty="0">
                <a:solidFill>
                  <a:srgbClr val="FF6200"/>
                </a:solidFill>
                <a:latin typeface="Helvetica Neue" pitchFamily="34" charset="0"/>
                <a:ea typeface="Helvetica Neue" pitchFamily="34" charset="-122"/>
                <a:cs typeface="Helvetica Neue" pitchFamily="34" charset="-120"/>
              </a:rPr>
              <a:t>This is what makes the analysis arguable: a stakeholder can look at the change rather than read about it.</a:t>
            </a:r>
            <a:endParaRPr lang="en-US" sz="11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11064240" cy="640080"/>
          </a:xfrm>
          <a:prstGeom prst="rect">
            <a:avLst/>
          </a:prstGeom>
          <a:noFill/>
          <a:ln/>
        </p:spPr>
        <p:txBody>
          <a:bodyPr wrap="square" lIns="0" tIns="0" rIns="0" bIns="0" rtlCol="0" anchor="ctr"/>
          <a:lstStyle/>
          <a:p>
            <a:pPr marL="0" indent="0">
              <a:buNone/>
            </a:pPr>
            <a:r>
              <a:rPr lang="en-US" sz="2800" b="1" dirty="0">
                <a:solidFill>
                  <a:srgbClr val="14141C"/>
                </a:solidFill>
                <a:latin typeface="Helvetica Neue" pitchFamily="34" charset="0"/>
                <a:ea typeface="Helvetica Neue" pitchFamily="34" charset="-122"/>
                <a:cs typeface="Helvetica Neue" pitchFamily="34" charset="-120"/>
              </a:rPr>
              <a:t>The complete pipeline</a:t>
            </a:r>
            <a:endParaRPr lang="en-US" sz="2800" dirty="0"/>
          </a:p>
        </p:txBody>
      </p:sp>
      <p:sp>
        <p:nvSpPr>
          <p:cNvPr id="3" name="Shape 1"/>
          <p:cNvSpPr/>
          <p:nvPr/>
        </p:nvSpPr>
        <p:spPr>
          <a:xfrm>
            <a:off x="548640" y="960120"/>
            <a:ext cx="1463040" cy="54864"/>
          </a:xfrm>
          <a:prstGeom prst="rect">
            <a:avLst/>
          </a:prstGeom>
          <a:solidFill>
            <a:srgbClr val="FF6200"/>
          </a:solidFill>
          <a:ln w="12700">
            <a:solidFill>
              <a:srgbClr val="333333"/>
            </a:solidFill>
            <a:prstDash val="solid"/>
          </a:ln>
        </p:spPr>
      </p:sp>
      <p:sp>
        <p:nvSpPr>
          <p:cNvPr id="4" name="Text 2"/>
          <p:cNvSpPr txBox="1"/>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rgbClr val="585868"/>
                </a:solidFill>
                <a:latin typeface="Helvetica Neue" pitchFamily="34" charset="0"/>
                <a:ea typeface="Helvetica Neue" pitchFamily="34" charset="-122"/>
                <a:cs typeface="Helvetica Neue" pitchFamily="34" charset="-120"/>
              </a:rPr>
              <a:t>Banking Campaigns Comparator · ING DACI / Customer AI · September 2026</a:t>
            </a:r>
            <a:endParaRPr lang="en-US" sz="1000" dirty="0"/>
          </a:p>
        </p:txBody>
      </p:sp>
      <p:sp>
        <p:nvSpPr>
          <p:cNvPr id="5" name="Text 3"/>
          <p:cNvSpPr txBox="1"/>
          <p:nvPr/>
        </p:nvSpPr>
        <p:spPr>
          <a:xfrm>
            <a:off x="11091672" y="6400800"/>
            <a:ext cx="548640" cy="274320"/>
          </a:xfrm>
          <a:prstGeom prst="rect">
            <a:avLst/>
          </a:prstGeom>
          <a:noFill/>
          <a:ln/>
        </p:spPr>
        <p:txBody>
          <a:bodyPr wrap="square" lIns="0" tIns="0" rIns="0" bIns="0" rtlCol="0" anchor="ctr"/>
          <a:lstStyle/>
          <a:p>
            <a:pPr marL="0" indent="0" algn="r">
              <a:buNone/>
            </a:pPr>
            <a:r>
              <a:rPr lang="en-US" sz="1000" dirty="0">
                <a:solidFill>
                  <a:srgbClr val="585868"/>
                </a:solidFill>
                <a:latin typeface="Helvetica Neue" pitchFamily="34" charset="0"/>
                <a:ea typeface="Helvetica Neue" pitchFamily="34" charset="-122"/>
                <a:cs typeface="Helvetica Neue" pitchFamily="34" charset="-120"/>
              </a:rPr>
              <a:t>17</a:t>
            </a:r>
            <a:endParaRPr lang="en-US" sz="1000" dirty="0"/>
          </a:p>
        </p:txBody>
      </p:sp>
      <p:pic>
        <p:nvPicPr>
          <p:cNvPr id="6" name="Image 0" descr="/Users/nstephane/Dev/AI_Data_Science_training/ing-usecase/docs/deck_assets/pipeline_complete.png"/>
          <p:cNvPicPr>
            <a:picLocks noChangeAspect="1"/>
          </p:cNvPicPr>
          <p:nvPr/>
        </p:nvPicPr>
        <p:blipFill>
          <a:blip r:embed="rId2"/>
          <a:stretch>
            <a:fillRect/>
          </a:stretch>
        </p:blipFill>
        <p:spPr>
          <a:xfrm>
            <a:off x="932688" y="1170432"/>
            <a:ext cx="10332720" cy="4681728"/>
          </a:xfrm>
          <a:prstGeom prst="rect">
            <a:avLst/>
          </a:prstGeom>
        </p:spPr>
      </p:pic>
      <p:sp>
        <p:nvSpPr>
          <p:cNvPr id="7" name="Text 4"/>
          <p:cNvSpPr txBox="1"/>
          <p:nvPr/>
        </p:nvSpPr>
        <p:spPr>
          <a:xfrm>
            <a:off x="932688" y="5925312"/>
            <a:ext cx="10332720" cy="292608"/>
          </a:xfrm>
          <a:prstGeom prst="rect">
            <a:avLst/>
          </a:prstGeom>
          <a:noFill/>
          <a:ln/>
        </p:spPr>
        <p:txBody>
          <a:bodyPr wrap="square" lIns="0" tIns="0" rIns="0" bIns="0" rtlCol="0" anchor="ctr"/>
          <a:lstStyle/>
          <a:p>
            <a:pPr marL="0" indent="0">
              <a:buNone/>
            </a:pPr>
            <a:r>
              <a:rPr lang="en-US" sz="1050" i="1" dirty="0">
                <a:solidFill>
                  <a:srgbClr val="585868"/>
                </a:solidFill>
                <a:latin typeface="Helvetica Neue" pitchFamily="34" charset="0"/>
                <a:ea typeface="Helvetica Neue" pitchFamily="34" charset="-122"/>
                <a:cs typeface="Helvetica Neue" pitchFamily="34" charset="-120"/>
              </a:rPr>
              <a:t>Stages 1–5 are the measurement half shown in the main deck. Stages 6–8 are this one.</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What this cannot support</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200"/>
              </a:spcAft>
            </a:pPr>
            <a:r>
              <a:rPr sz="1500" b="1">
                <a:solidFill>
                  <a:srgbClr val="14141C"/>
                </a:solidFill>
                <a:latin typeface="Helvetica Neue"/>
              </a:rPr>
              <a:t>•  No performance data exists here</a:t>
            </a:r>
          </a:p>
          <a:p>
            <a:pPr algn="l">
              <a:lnSpc>
                <a:spcPct val="105000"/>
              </a:lnSpc>
              <a:spcAft>
                <a:spcPts val="1000"/>
              </a:spcAft>
            </a:pPr>
            <a:r>
              <a:rPr sz="1300" b="0">
                <a:solidFill>
                  <a:srgbClr val="585868"/>
                </a:solidFill>
                <a:latin typeface="Helvetica Neue"/>
              </a:rPr>
              <a:t>     Nothing links a design choice to a click, a conversion or a sale. Every recommendation is a hypothesis ING could test.</a:t>
            </a:r>
          </a:p>
          <a:p>
            <a:pPr algn="l">
              <a:lnSpc>
                <a:spcPct val="105000"/>
              </a:lnSpc>
              <a:spcAft>
                <a:spcPts val="200"/>
              </a:spcAft>
            </a:pPr>
            <a:r>
              <a:rPr sz="1500" b="1">
                <a:solidFill>
                  <a:srgbClr val="14141C"/>
                </a:solidFill>
                <a:latin typeface="Helvetica Neue"/>
              </a:rPr>
              <a:t>•  Small groups, by design</a:t>
            </a:r>
          </a:p>
          <a:p>
            <a:pPr algn="l">
              <a:lnSpc>
                <a:spcPct val="105000"/>
              </a:lnSpc>
              <a:spcAft>
                <a:spcPts val="1000"/>
              </a:spcAft>
            </a:pPr>
            <a:r>
              <a:rPr sz="1300" b="0">
                <a:solidFill>
                  <a:srgbClr val="585868"/>
                </a:solidFill>
                <a:latin typeface="Helvetica Neue"/>
              </a:rPr>
              <a:t>     Four challengers against ten traditional banks, and most banks contribute a single page — so a group mean is an anecdote and an effect size describes separation, not significance.</a:t>
            </a:r>
          </a:p>
          <a:p>
            <a:pPr algn="l">
              <a:lnSpc>
                <a:spcPct val="105000"/>
              </a:lnSpc>
              <a:spcAft>
                <a:spcPts val="200"/>
              </a:spcAft>
            </a:pPr>
            <a:r>
              <a:rPr sz="1500" b="1">
                <a:solidFill>
                  <a:srgbClr val="14141C"/>
                </a:solidFill>
                <a:latin typeface="Helvetica Neue"/>
              </a:rPr>
              <a:t>•  The judgement features are thinner than they look</a:t>
            </a:r>
          </a:p>
          <a:p>
            <a:pPr algn="l">
              <a:lnSpc>
                <a:spcPct val="105000"/>
              </a:lnSpc>
              <a:spcAft>
                <a:spcPts val="1000"/>
              </a:spcAft>
            </a:pPr>
            <a:r>
              <a:rPr sz="1300" b="0">
                <a:solidFill>
                  <a:srgbClr val="585868"/>
                </a:solidFill>
                <a:latin typeface="Helvetica Neue"/>
              </a:rPr>
              <a:t>     All thirteen come from one judged sheet by one person, so single-judge bias is present and un-measured - there is no second sheet to measure it against. A finding resting on persuasion levers or accent placement is a hypothesis, not a reading.</a:t>
            </a:r>
          </a:p>
          <a:p>
            <a:pPr algn="l">
              <a:lnSpc>
                <a:spcPct val="105000"/>
              </a:lnSpc>
              <a:spcAft>
                <a:spcPts val="200"/>
              </a:spcAft>
            </a:pPr>
            <a:r>
              <a:rPr sz="1500" b="1">
                <a:solidFill>
                  <a:srgbClr val="14141C"/>
                </a:solidFill>
                <a:latin typeface="Helvetica Neue"/>
              </a:rPr>
              <a:t>•  Search interest is context, and covers part of the market</a:t>
            </a:r>
          </a:p>
          <a:p>
            <a:pPr algn="l">
              <a:lnSpc>
                <a:spcPct val="105000"/>
              </a:lnSpc>
              <a:spcAft>
                <a:spcPts val="1000"/>
              </a:spcAft>
            </a:pPr>
            <a:r>
              <a:rPr sz="1300" b="0">
                <a:solidFill>
                  <a:srgbClr val="585868"/>
                </a:solidFill>
                <a:latin typeface="Helvetica Neue"/>
              </a:rPr>
              <a:t>     It measures what people searched for, not what a campaign achieved, and the pages captured are today's pages.</a:t>
            </a:r>
          </a:p>
          <a:p>
            <a:pPr algn="l">
              <a:lnSpc>
                <a:spcPct val="105000"/>
              </a:lnSpc>
              <a:spcAft>
                <a:spcPts val="200"/>
              </a:spcAft>
            </a:pPr>
            <a:r>
              <a:rPr sz="1500" b="1">
                <a:solidFill>
                  <a:srgbClr val="14141C"/>
                </a:solidFill>
                <a:latin typeface="Helvetica Neue"/>
              </a:rPr>
              <a:t>•  Only the open web is covered</a:t>
            </a:r>
          </a:p>
          <a:p>
            <a:pPr algn="l">
              <a:lnSpc>
                <a:spcPct val="105000"/>
              </a:lnSpc>
              <a:spcAft>
                <a:spcPts val="1000"/>
              </a:spcAft>
            </a:pPr>
            <a:r>
              <a:rPr sz="1300" b="0">
                <a:solidFill>
                  <a:srgbClr val="585868"/>
                </a:solidFill>
                <a:latin typeface="Helvetica Neue"/>
              </a:rPr>
              <a:t>     Social, in-app and email banners are out of scope — and may be where a bank's real communication happens.</a:t>
            </a:r>
          </a:p>
          <a:p>
            <a:pPr algn="l">
              <a:lnSpc>
                <a:spcPct val="105000"/>
              </a:lnSpc>
              <a:spcAft>
                <a:spcPts val="200"/>
              </a:spcAft>
            </a:pPr>
            <a:endParaRPr sz="1300" b="0">
              <a:solidFill>
                <a:srgbClr val="585868"/>
              </a:solidFill>
              <a:latin typeface="Helvetica Neue"/>
            </a:endParaRPr>
          </a:p>
          <a:p>
            <a:pPr algn="l">
              <a:lnSpc>
                <a:spcPct val="105000"/>
              </a:lnSpc>
              <a:spcAft>
                <a:spcPts val="0"/>
              </a:spcAft>
            </a:pPr>
            <a:r>
              <a:rPr sz="1250" b="0">
                <a:solidFill>
                  <a:srgbClr val="585868"/>
                </a:solidFill>
                <a:latin typeface="Helvetica Neue"/>
              </a:rPr>
              <a:t>outputs/limitations.md is regenerated from the dataset on every run, so these cannot quietly go stale.</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18</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414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822960" y="2743200"/>
            <a:ext cx="2011680" cy="91440"/>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828800"/>
            <a:ext cx="10515600" cy="914400"/>
          </a:xfrm>
          <a:prstGeom prst="rect">
            <a:avLst/>
          </a:prstGeom>
          <a:noFill/>
        </p:spPr>
        <p:txBody>
          <a:bodyPr wrap="square">
            <a:spAutoFit/>
          </a:bodyPr>
          <a:lstStyle/>
          <a:p>
            <a:pPr algn="l">
              <a:lnSpc>
                <a:spcPct val="105000"/>
              </a:lnSpc>
              <a:spcAft>
                <a:spcPts val="600"/>
              </a:spcAft>
            </a:pPr>
            <a:r>
              <a:rPr sz="2800" b="1">
                <a:solidFill>
                  <a:srgbClr val="FFFFFF"/>
                </a:solidFill>
                <a:latin typeface="Helvetica Neue"/>
              </a:rPr>
              <a:t>Measure one way. Label the trust. Claim only what the data supports.</a:t>
            </a:r>
          </a:p>
        </p:txBody>
      </p:sp>
      <p:sp>
        <p:nvSpPr>
          <p:cNvPr id="5" name="TextBox 4"/>
          <p:cNvSpPr txBox="1"/>
          <p:nvPr/>
        </p:nvSpPr>
        <p:spPr>
          <a:xfrm>
            <a:off x="822960" y="3063240"/>
            <a:ext cx="10058400" cy="1463040"/>
          </a:xfrm>
          <a:prstGeom prst="rect">
            <a:avLst/>
          </a:prstGeom>
          <a:noFill/>
        </p:spPr>
        <p:txBody>
          <a:bodyPr wrap="square">
            <a:spAutoFit/>
          </a:bodyPr>
          <a:lstStyle/>
          <a:p>
            <a:pPr algn="l">
              <a:lnSpc>
                <a:spcPct val="105000"/>
              </a:lnSpc>
              <a:spcAft>
                <a:spcPts val="600"/>
              </a:spcAft>
            </a:pPr>
            <a:r>
              <a:rPr sz="1400" b="0">
                <a:solidFill>
                  <a:srgbClr val="B8B8C8"/>
                </a:solidFill>
                <a:latin typeface="Helvetica Neue"/>
              </a:rPr>
              <a:t>The pipeline, the contract and the guardrails are in the repository:</a:t>
            </a:r>
          </a:p>
          <a:p>
            <a:pPr algn="l">
              <a:lnSpc>
                <a:spcPct val="105000"/>
              </a:lnSpc>
              <a:spcAft>
                <a:spcPts val="600"/>
              </a:spcAft>
            </a:pPr>
            <a:r>
              <a:rPr sz="1400" b="0">
                <a:solidFill>
                  <a:srgbClr val="B8B8C8"/>
                </a:solidFill>
                <a:latin typeface="Helvetica Neue"/>
              </a:rPr>
              <a:t>README.md · docs/design.md · docs/pipeline.md · web/README.md · docs/decisions.md</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414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822960" y="2331720"/>
            <a:ext cx="2011680" cy="91440"/>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051560"/>
            <a:ext cx="10515600" cy="1280160"/>
          </a:xfrm>
          <a:prstGeom prst="rect">
            <a:avLst/>
          </a:prstGeom>
          <a:noFill/>
        </p:spPr>
        <p:txBody>
          <a:bodyPr wrap="square">
            <a:spAutoFit/>
          </a:bodyPr>
          <a:lstStyle/>
          <a:p>
            <a:pPr algn="l">
              <a:lnSpc>
                <a:spcPct val="105000"/>
              </a:lnSpc>
              <a:spcAft>
                <a:spcPts val="600"/>
              </a:spcAft>
            </a:pPr>
            <a:r>
              <a:rPr sz="4400" b="1">
                <a:solidFill>
                  <a:srgbClr val="FFFFFF"/>
                </a:solidFill>
                <a:latin typeface="Helvetica Neue"/>
              </a:rPr>
              <a:t>Backup</a:t>
            </a:r>
          </a:p>
        </p:txBody>
      </p:sp>
      <p:sp>
        <p:nvSpPr>
          <p:cNvPr id="5" name="TextBox 4"/>
          <p:cNvSpPr txBox="1"/>
          <p:nvPr/>
        </p:nvSpPr>
        <p:spPr>
          <a:xfrm>
            <a:off x="822960" y="2606040"/>
            <a:ext cx="10058400" cy="1097280"/>
          </a:xfrm>
          <a:prstGeom prst="rect">
            <a:avLst/>
          </a:prstGeom>
          <a:noFill/>
        </p:spPr>
        <p:txBody>
          <a:bodyPr wrap="square">
            <a:spAutoFit/>
          </a:bodyPr>
          <a:lstStyle/>
          <a:p>
            <a:pPr algn="l">
              <a:lnSpc>
                <a:spcPct val="105000"/>
              </a:lnSpc>
              <a:spcAft>
                <a:spcPts val="600"/>
              </a:spcAft>
            </a:pPr>
            <a:r>
              <a:rPr sz="2000" b="0">
                <a:solidFill>
                  <a:srgbClr val="D8D8E0"/>
                </a:solidFill>
                <a:latin typeface="Helvetica Neue"/>
              </a:rPr>
              <a:t>Slides we did not walk through — here if you ask</a:t>
            </a:r>
          </a:p>
          <a:p>
            <a:pPr algn="l">
              <a:lnSpc>
                <a:spcPct val="105000"/>
              </a:lnSpc>
              <a:spcAft>
                <a:spcPts val="600"/>
              </a:spcAft>
            </a:pPr>
            <a:endParaRPr sz="2000" b="0">
              <a:solidFill>
                <a:srgbClr val="D8D8E0"/>
              </a:solidFill>
              <a:latin typeface="Helvetica Neue"/>
            </a:endParaRPr>
          </a:p>
        </p:txBody>
      </p:sp>
      <p:sp>
        <p:nvSpPr>
          <p:cNvPr id="6" name="TextBox 5"/>
          <p:cNvSpPr txBox="1"/>
          <p:nvPr/>
        </p:nvSpPr>
        <p:spPr>
          <a:xfrm>
            <a:off x="822960" y="4114800"/>
            <a:ext cx="10058400" cy="1280160"/>
          </a:xfrm>
          <a:prstGeom prst="rect">
            <a:avLst/>
          </a:prstGeom>
          <a:noFill/>
        </p:spPr>
        <p:txBody>
          <a:bodyPr wrap="square">
            <a:spAutoFit/>
          </a:bodyPr>
          <a:lstStyle/>
          <a:p>
            <a:pPr algn="l">
              <a:lnSpc>
                <a:spcPct val="105000"/>
              </a:lnSpc>
              <a:spcAft>
                <a:spcPts val="400"/>
              </a:spcAft>
            </a:pPr>
            <a:endParaRPr/>
          </a:p>
          <a:p>
            <a:pPr algn="l">
              <a:lnSpc>
                <a:spcPct val="105000"/>
              </a:lnSpc>
              <a:spcAft>
                <a:spcPts val="400"/>
              </a:spcAft>
            </a:pPr>
            <a:endParaRPr/>
          </a:p>
          <a:p>
            <a:pPr algn="l">
              <a:lnSpc>
                <a:spcPct val="105000"/>
              </a:lnSpc>
              <a:spcAft>
                <a:spcPts val="400"/>
              </a:spcAft>
            </a:pPr>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What we chose to measure, and why</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200"/>
              </a:spcAft>
            </a:pPr>
            <a:r>
              <a:rPr sz="1500" b="1">
                <a:solidFill>
                  <a:srgbClr val="14141C"/>
                </a:solidFill>
                <a:latin typeface="Helvetica Neue"/>
              </a:rPr>
              <a:t>•  104 declared features, 36 actually compared</a:t>
            </a:r>
          </a:p>
          <a:p>
            <a:pPr algn="l">
              <a:lnSpc>
                <a:spcPct val="105000"/>
              </a:lnSpc>
              <a:spcAft>
                <a:spcPts val="1000"/>
              </a:spcAft>
            </a:pPr>
            <a:r>
              <a:rPr sz="1300" b="0">
                <a:solidFill>
                  <a:srgbClr val="585868"/>
                </a:solidFill>
                <a:latin typeface="Helvetica Neue"/>
              </a:rPr>
              <a:t>     Nothing is hidden in that reduction — the run prints it: 18 provenance fields that identify a page rather than describe a campaign, 4 free-text identifiers no two pages share, 8 within_language features that stop being comparable once the set spans three languages, 27 categorical or list features a euclidean distance cannot take raw, 2 missing on at least one bank, 8 identical everywhere, and 1 withdrawn because its capture is missing what it counts.</a:t>
            </a:r>
          </a:p>
          <a:p>
            <a:pPr algn="l">
              <a:lnSpc>
                <a:spcPct val="105000"/>
              </a:lnSpc>
              <a:spcAft>
                <a:spcPts val="200"/>
              </a:spcAft>
            </a:pPr>
            <a:r>
              <a:rPr sz="1500" b="1">
                <a:solidFill>
                  <a:srgbClr val="14141C"/>
                </a:solidFill>
                <a:latin typeface="Helvetica Neue"/>
              </a:rPr>
              <a:t>•  51 pages collected and scored, 18 compared</a:t>
            </a:r>
          </a:p>
          <a:p>
            <a:pPr algn="l">
              <a:lnSpc>
                <a:spcPct val="105000"/>
              </a:lnSpc>
              <a:spcAft>
                <a:spcPts val="1000"/>
              </a:spcAft>
            </a:pPr>
            <a:r>
              <a:rPr sz="1300" b="0">
                <a:solidFill>
                  <a:srgbClr val="585868"/>
                </a:solidFill>
                <a:latin typeface="Helvetica Neue"/>
              </a:rPr>
              <a:t>     One product family at a time (DR-04). A mortgage page and a current-account page differ because the products differ, not because the banks communicate differently, so pooling them would confound every result with the product. The other 33 pages are scored and in the dataset, ready for the same comparison on savings or on mortgages.</a:t>
            </a:r>
          </a:p>
          <a:p>
            <a:pPr algn="l">
              <a:lnSpc>
                <a:spcPct val="105000"/>
              </a:lnSpc>
              <a:spcAft>
                <a:spcPts val="200"/>
              </a:spcAft>
            </a:pPr>
            <a:r>
              <a:rPr sz="1500" b="1">
                <a:solidFill>
                  <a:srgbClr val="14141C"/>
                </a:solidFill>
                <a:latin typeface="Helvetica Neue"/>
              </a:rPr>
              <a:t>•  14 Belgian retail banks, both sides of the market</a:t>
            </a:r>
          </a:p>
          <a:p>
            <a:pPr algn="l">
              <a:lnSpc>
                <a:spcPct val="105000"/>
              </a:lnSpc>
              <a:spcAft>
                <a:spcPts val="1000"/>
              </a:spcAft>
            </a:pPr>
            <a:r>
              <a:rPr sz="1300" b="0">
                <a:solidFill>
                  <a:srgbClr val="585868"/>
                </a:solidFill>
                <a:latin typeface="Helvetica Neue"/>
              </a:rPr>
              <a:t>     Ten incumbents and four challengers, so the traditional↔challenger axis has banks on both sides of it. Belgian market only, confirmed with the client — ING.nl is out of scope, and so is professional and business banking.</a:t>
            </a:r>
          </a:p>
          <a:p>
            <a:pPr algn="l">
              <a:lnSpc>
                <a:spcPct val="105000"/>
              </a:lnSpc>
              <a:spcAft>
                <a:spcPts val="200"/>
              </a:spcAft>
            </a:pPr>
            <a:r>
              <a:rPr sz="1500" b="1">
                <a:solidFill>
                  <a:srgbClr val="14141C"/>
                </a:solidFill>
                <a:latin typeface="Helvetica Neue"/>
              </a:rPr>
              <a:t>•  The open web, and only the open web</a:t>
            </a:r>
          </a:p>
          <a:p>
            <a:pPr algn="l">
              <a:lnSpc>
                <a:spcPct val="105000"/>
              </a:lnSpc>
              <a:spcAft>
                <a:spcPts val="1000"/>
              </a:spcAft>
            </a:pPr>
            <a:r>
              <a:rPr sz="1300" b="0">
                <a:solidFill>
                  <a:srgbClr val="585868"/>
                </a:solidFill>
                <a:latin typeface="Helvetica Neue"/>
              </a:rPr>
              <a:t>     Public campaign pages, fetched once, robots.txt checked before every request. Social, in-app and email are out of scope and may be where a bank's real communication happens — that is a limit of this study, not of the market.</a:t>
            </a:r>
          </a:p>
          <a:p>
            <a:pPr algn="l">
              <a:lnSpc>
                <a:spcPct val="105000"/>
              </a:lnSpc>
              <a:spcAft>
                <a:spcPts val="200"/>
              </a:spcAft>
            </a:pPr>
            <a:r>
              <a:rPr sz="1500" b="1">
                <a:solidFill>
                  <a:srgbClr val="14141C"/>
                </a:solidFill>
                <a:latin typeface="Helvetica Neue"/>
              </a:rPr>
              <a:t>•  Description, never causation</a:t>
            </a:r>
          </a:p>
          <a:p>
            <a:pPr algn="l">
              <a:lnSpc>
                <a:spcPct val="105000"/>
              </a:lnSpc>
              <a:spcAft>
                <a:spcPts val="1000"/>
              </a:spcAft>
            </a:pPr>
            <a:r>
              <a:rPr sz="1300" b="0">
                <a:solidFill>
                  <a:srgbClr val="585868"/>
                </a:solidFill>
                <a:latin typeface="Helvetica Neue"/>
              </a:rPr>
              <a:t>     No click, conversion or performance data exists in this project, so nothing here says a design choice produced a result. Every finding is a difference, and every recommendation a hypothesis ING could test.</a:t>
            </a:r>
          </a:p>
          <a:p>
            <a:pPr algn="l">
              <a:lnSpc>
                <a:spcPct val="105000"/>
              </a:lnSpc>
              <a:spcAft>
                <a:spcPts val="200"/>
              </a:spcAft>
            </a:pPr>
            <a:endParaRPr sz="1300" b="0">
              <a:solidFill>
                <a:srgbClr val="585868"/>
              </a:solidFill>
              <a:latin typeface="Helvetica Neue"/>
            </a:endParaRPr>
          </a:p>
          <a:p>
            <a:pPr algn="l">
              <a:lnSpc>
                <a:spcPct val="105000"/>
              </a:lnSpc>
              <a:spcAft>
                <a:spcPts val="0"/>
              </a:spcAft>
            </a:pPr>
            <a:r>
              <a:rPr sz="1250" b="0">
                <a:solidFill>
                  <a:srgbClr val="585868"/>
                </a:solidFill>
                <a:latin typeface="Helvetica Neue"/>
              </a:rPr>
              <a:t>Scope is a decision, not a leftover: each line above is a thing we chose not to measure, and why.</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21</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Technical architecture</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diagram_architecture.png"/>
          <p:cNvPicPr>
            <a:picLocks noChangeAspect="1"/>
          </p:cNvPicPr>
          <p:nvPr/>
        </p:nvPicPr>
        <p:blipFill>
          <a:blip r:embed="rId2"/>
          <a:stretch>
            <a:fillRect/>
          </a:stretch>
        </p:blipFill>
        <p:spPr>
          <a:xfrm>
            <a:off x="1828647" y="1325880"/>
            <a:ext cx="8534400" cy="4800600"/>
          </a:xfrm>
          <a:prstGeom prst="rect">
            <a:avLst/>
          </a:prstGeom>
        </p:spPr>
      </p:pic>
      <p:sp>
        <p:nvSpPr>
          <p:cNvPr id="5" name="TextBox 4"/>
          <p:cNvSpPr txBox="1"/>
          <p:nvPr/>
        </p:nvSpPr>
        <p:spPr>
          <a:xfrm>
            <a:off x="685800" y="623620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A library with no I/O assumptions, thin CLI wrappers, and two callers — so no figure has a second definition.</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22</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How a number earns trust</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diagram_trust.png"/>
          <p:cNvPicPr>
            <a:picLocks noChangeAspect="1"/>
          </p:cNvPicPr>
          <p:nvPr/>
        </p:nvPicPr>
        <p:blipFill>
          <a:blip r:embed="rId2"/>
          <a:stretch>
            <a:fillRect/>
          </a:stretch>
        </p:blipFill>
        <p:spPr>
          <a:xfrm>
            <a:off x="1828647" y="1325880"/>
            <a:ext cx="8534400" cy="4800600"/>
          </a:xfrm>
          <a:prstGeom prst="rect">
            <a:avLst/>
          </a:prstGeom>
        </p:spPr>
      </p:pic>
      <p:sp>
        <p:nvSpPr>
          <p:cNvPr id="5" name="TextBox 4"/>
          <p:cNvSpPr txBox="1"/>
          <p:nvPr/>
        </p:nvSpPr>
        <p:spPr>
          <a:xfrm>
            <a:off x="685800" y="623620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Each feature declares how it was produced, and that label travels all the way to the screen.</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23</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The feature dictionary is the contract</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200"/>
              </a:spcAft>
            </a:pPr>
            <a:r>
              <a:rPr sz="1500" b="1">
                <a:solidFill>
                  <a:srgbClr val="14141C"/>
                </a:solidFill>
                <a:latin typeface="Helvetica Neue"/>
              </a:rPr>
              <a:t>•  104 features, each declaring three things</a:t>
            </a:r>
          </a:p>
          <a:p>
            <a:pPr algn="l">
              <a:lnSpc>
                <a:spcPct val="105000"/>
              </a:lnSpc>
              <a:spcAft>
                <a:spcPts val="1000"/>
              </a:spcAft>
            </a:pPr>
            <a:r>
              <a:rPr sz="1300" b="0">
                <a:solidFill>
                  <a:srgbClr val="585868"/>
                </a:solidFill>
                <a:latin typeface="Helvetica Neue"/>
              </a:rPr>
              <a:t>     how it was extracted (automatic / rubric / model-assisted / derived), how it may be compared, and whether it is core or extended.</a:t>
            </a:r>
          </a:p>
          <a:p>
            <a:pPr algn="l">
              <a:lnSpc>
                <a:spcPct val="105000"/>
              </a:lnSpc>
              <a:spcAft>
                <a:spcPts val="200"/>
              </a:spcAft>
            </a:pPr>
            <a:r>
              <a:rPr sz="1500" b="1">
                <a:solidFill>
                  <a:srgbClr val="14141C"/>
                </a:solidFill>
                <a:latin typeface="Helvetica Neue"/>
              </a:rPr>
              <a:t>•  Everything else is derived from it</a:t>
            </a:r>
          </a:p>
          <a:p>
            <a:pPr algn="l">
              <a:lnSpc>
                <a:spcPct val="105000"/>
              </a:lnSpc>
              <a:spcAft>
                <a:spcPts val="1000"/>
              </a:spcAft>
            </a:pPr>
            <a:r>
              <a:rPr sz="1300" b="0">
                <a:solidFill>
                  <a:srgbClr val="585868"/>
                </a:solidFill>
                <a:latin typeface="Helvetica Neue"/>
              </a:rPr>
              <a:t>     The dataset schema, the validator and the published feature dictionary are generated from the same YAML, so they cannot drift apart.</a:t>
            </a:r>
          </a:p>
          <a:p>
            <a:pPr algn="l">
              <a:lnSpc>
                <a:spcPct val="105000"/>
              </a:lnSpc>
              <a:spcAft>
                <a:spcPts val="200"/>
              </a:spcAft>
            </a:pPr>
            <a:r>
              <a:rPr sz="1500" b="1">
                <a:solidFill>
                  <a:srgbClr val="14141C"/>
                </a:solidFill>
                <a:latin typeface="Helvetica Neue"/>
              </a:rPr>
              <a:t>•  The freeze rule: add, never rename</a:t>
            </a:r>
          </a:p>
          <a:p>
            <a:pPr algn="l">
              <a:lnSpc>
                <a:spcPct val="105000"/>
              </a:lnSpc>
              <a:spcAft>
                <a:spcPts val="1000"/>
              </a:spcAft>
            </a:pPr>
            <a:r>
              <a:rPr sz="1300" b="0">
                <a:solidFill>
                  <a:srgbClr val="585868"/>
                </a:solidFill>
                <a:latin typeface="Helvetica Neue"/>
              </a:rPr>
              <a:t>     After the Day 2 freeze, columns may be added; renames and removals need all three of us, because analysis code depends on them.</a:t>
            </a:r>
          </a:p>
          <a:p>
            <a:pPr algn="l">
              <a:lnSpc>
                <a:spcPct val="105000"/>
              </a:lnSpc>
              <a:spcAft>
                <a:spcPts val="200"/>
              </a:spcAft>
            </a:pPr>
            <a:r>
              <a:rPr sz="1500" b="1">
                <a:solidFill>
                  <a:srgbClr val="14141C"/>
                </a:solidFill>
                <a:latin typeface="Helvetica Neue"/>
              </a:rPr>
              <a:t>•  Two checks, deliberately different</a:t>
            </a:r>
          </a:p>
          <a:p>
            <a:pPr algn="l">
              <a:lnSpc>
                <a:spcPct val="105000"/>
              </a:lnSpc>
              <a:spcAft>
                <a:spcPts val="1000"/>
              </a:spcAft>
            </a:pPr>
            <a:r>
              <a:rPr sz="1300" b="0">
                <a:solidFill>
                  <a:srgbClr val="585868"/>
                </a:solidFill>
                <a:latin typeface="Helvetica Neue"/>
              </a:rPr>
              <a:t>     A byte-equality test catches an accidental edit; the semantic freeze check catches a rename that happens to keep the bytes matching.</a:t>
            </a:r>
          </a:p>
          <a:p>
            <a:pPr algn="l">
              <a:lnSpc>
                <a:spcPct val="105000"/>
              </a:lnSpc>
              <a:spcAft>
                <a:spcPts val="200"/>
              </a:spcAft>
            </a:pPr>
            <a:r>
              <a:rPr sz="1500" b="1">
                <a:solidFill>
                  <a:srgbClr val="14141C"/>
                </a:solidFill>
                <a:latin typeface="Helvetica Neue"/>
              </a:rPr>
              <a:t>•  It grew twice, legitimately</a:t>
            </a:r>
          </a:p>
          <a:p>
            <a:pPr algn="l">
              <a:lnSpc>
                <a:spcPct val="105000"/>
              </a:lnSpc>
              <a:spcAft>
                <a:spcPts val="1000"/>
              </a:spcAft>
            </a:pPr>
            <a:r>
              <a:rPr sz="1300" b="0">
                <a:solidFill>
                  <a:srgbClr val="585868"/>
                </a:solidFill>
                <a:latin typeface="Helvetica Neue"/>
              </a:rPr>
              <a:t>     3 features added after the freeze, and the bank list extended to 12 values — both additions, both recorded.</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24</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Collection and compliance</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200"/>
              </a:spcAft>
            </a:pPr>
            <a:r>
              <a:rPr sz="1500" b="1">
                <a:solidFill>
                  <a:srgbClr val="14141C"/>
                </a:solidFill>
                <a:latin typeface="Helvetica Neue"/>
              </a:rPr>
              <a:t>•  robots.txt is checked live before every fetch, and fails closed</a:t>
            </a:r>
          </a:p>
          <a:p>
            <a:pPr algn="l">
              <a:lnSpc>
                <a:spcPct val="105000"/>
              </a:lnSpc>
              <a:spcAft>
                <a:spcPts val="1000"/>
              </a:spcAft>
            </a:pPr>
            <a:r>
              <a:rPr sz="1300" b="0">
                <a:solidFill>
                  <a:srgbClr val="585868"/>
                </a:solidFill>
                <a:latin typeface="Helvetica Neue"/>
              </a:rPr>
              <a:t>     If robots.txt cannot be read, the URL is treated as not allowed. Every row carries robots_allowed; the validator refuses a row where it is false.</a:t>
            </a:r>
          </a:p>
          <a:p>
            <a:pPr algn="l">
              <a:lnSpc>
                <a:spcPct val="105000"/>
              </a:lnSpc>
              <a:spcAft>
                <a:spcPts val="200"/>
              </a:spcAft>
            </a:pPr>
            <a:r>
              <a:rPr sz="1500" b="1">
                <a:solidFill>
                  <a:srgbClr val="14141C"/>
                </a:solidFill>
                <a:latin typeface="Helvetica Neue"/>
              </a:rPr>
              <a:t>•  Pages are rendered, not just downloaded</a:t>
            </a:r>
          </a:p>
          <a:p>
            <a:pPr algn="l">
              <a:lnSpc>
                <a:spcPct val="105000"/>
              </a:lnSpc>
              <a:spcAft>
                <a:spcPts val="1000"/>
              </a:spcAft>
            </a:pPr>
            <a:r>
              <a:rPr sz="1300" b="0">
                <a:solidFill>
                  <a:srgbClr val="585868"/>
                </a:solidFill>
                <a:latin typeface="Helvetica Neue"/>
              </a:rPr>
              <a:t>     A headless browser reads the page as a visitor sees it, which also fills the geometry features — page height, above-fold elements, image area.</a:t>
            </a:r>
          </a:p>
          <a:p>
            <a:pPr algn="l">
              <a:lnSpc>
                <a:spcPct val="105000"/>
              </a:lnSpc>
              <a:spcAft>
                <a:spcPts val="200"/>
              </a:spcAft>
            </a:pPr>
            <a:r>
              <a:rPr sz="1500" b="1">
                <a:solidFill>
                  <a:srgbClr val="14141C"/>
                </a:solidFill>
                <a:latin typeface="Helvetica Neue"/>
              </a:rPr>
              <a:t>•  A quality gate judges the capture, not just the numbers</a:t>
            </a:r>
          </a:p>
          <a:p>
            <a:pPr algn="l">
              <a:lnSpc>
                <a:spcPct val="105000"/>
              </a:lnSpc>
              <a:spcAft>
                <a:spcPts val="1000"/>
              </a:spcAft>
            </a:pPr>
            <a:r>
              <a:rPr sz="1300" b="0">
                <a:solidFill>
                  <a:srgbClr val="585868"/>
                </a:solidFill>
                <a:latin typeface="Helvetica Neue"/>
              </a:rPr>
              <a:t>     Two early captures passed every range check while being an empty JavaScript shell and a maintenance notice. capture_quality now travels with the row.</a:t>
            </a:r>
          </a:p>
          <a:p>
            <a:pPr algn="l">
              <a:lnSpc>
                <a:spcPct val="105000"/>
              </a:lnSpc>
              <a:spcAft>
                <a:spcPts val="200"/>
              </a:spcAft>
            </a:pPr>
            <a:r>
              <a:rPr sz="1500" b="1">
                <a:solidFill>
                  <a:srgbClr val="14141C"/>
                </a:solidFill>
                <a:latin typeface="Helvetica Neue"/>
              </a:rPr>
              <a:t>•  When a site will not serve us, a person saves the page</a:t>
            </a:r>
          </a:p>
          <a:p>
            <a:pPr algn="l">
              <a:lnSpc>
                <a:spcPct val="105000"/>
              </a:lnSpc>
              <a:spcAft>
                <a:spcPts val="1000"/>
              </a:spcAft>
            </a:pPr>
            <a:r>
              <a:rPr sz="1300" b="0">
                <a:solidFill>
                  <a:srgbClr val="585868"/>
                </a:solidFill>
                <a:latin typeface="Helvetica Neue"/>
              </a:rPr>
              <a:t>     BNP Paribas Fortis blocks automated traffic (HTTP 503) and Revolut's headless render is refused; the importer takes a browser-saved page, re-checks robots, and marks it manual_capture.</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25</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The Analysis tab</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01_analysis.png"/>
          <p:cNvPicPr>
            <a:picLocks noChangeAspect="1"/>
          </p:cNvPicPr>
          <p:nvPr/>
        </p:nvPicPr>
        <p:blipFill>
          <a:blip r:embed="rId2"/>
          <a:stretch>
            <a:fillRect/>
          </a:stretch>
        </p:blipFill>
        <p:spPr>
          <a:xfrm>
            <a:off x="1828647" y="1325880"/>
            <a:ext cx="8534400" cy="4800600"/>
          </a:xfrm>
          <a:prstGeom prst="rect">
            <a:avLst/>
          </a:prstGeom>
        </p:spPr>
      </p:pic>
      <p:sp>
        <p:nvSpPr>
          <p:cNvPr id="5" name="TextBox 4"/>
          <p:cNvSpPr txBox="1"/>
          <p:nvPr/>
        </p:nvSpPr>
        <p:spPr>
          <a:xfrm>
            <a:off x="685800" y="623620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Scope, focus and the verdict above the first number — the reader cannot see a figure without seeing what it covers.</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26</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The Reputation tab: what each bank is in the news about</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03_reputation.png"/>
          <p:cNvPicPr>
            <a:picLocks noChangeAspect="1"/>
          </p:cNvPicPr>
          <p:nvPr/>
        </p:nvPicPr>
        <p:blipFill>
          <a:blip r:embed="rId2"/>
          <a:stretch>
            <a:fillRect/>
          </a:stretch>
        </p:blipFill>
        <p:spPr>
          <a:xfrm>
            <a:off x="1828647" y="1325880"/>
            <a:ext cx="8534400" cy="4800600"/>
          </a:xfrm>
          <a:prstGeom prst="rect">
            <a:avLst/>
          </a:prstGeom>
        </p:spPr>
      </p:pic>
      <p:sp>
        <p:nvSpPr>
          <p:cNvPr id="5" name="TextBox 4"/>
          <p:cNvSpPr txBox="1"/>
          <p:nvPr/>
        </p:nvSpPr>
        <p:spPr>
          <a:xfrm>
            <a:off x="685800" y="623620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Headline themes — innovation, crisis, results — counted, never scored for sentiment. Two news providers are merged, in three languages.</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27</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Reputation: themes, not sentiment</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900"/>
              </a:spcAft>
            </a:pPr>
            <a:r>
              <a:rPr sz="1500" b="0">
                <a:solidFill>
                  <a:srgbClr val="14141C"/>
                </a:solidFill>
                <a:latin typeface="Helvetica Neue"/>
              </a:rPr>
              <a:t>•  Sentiment scoring was out of scope; themes turn the brief's own 'reputation, innovations, crises' framing into a closed, countable list.</a:t>
            </a:r>
          </a:p>
          <a:p>
            <a:pPr algn="l">
              <a:lnSpc>
                <a:spcPct val="105000"/>
              </a:lnSpc>
              <a:spcAft>
                <a:spcPts val="900"/>
              </a:spcAft>
            </a:pPr>
            <a:r>
              <a:rPr sz="1500" b="0">
                <a:solidFill>
                  <a:srgbClr val="14141C"/>
                </a:solidFill>
                <a:latin typeface="Helvetica Neue"/>
              </a:rPr>
              <a:t>•  Two similarly named providers are supported at once (newsapi.org and newsapi.ai); headlines from both are merged and de-duplicated.</a:t>
            </a:r>
          </a:p>
          <a:p>
            <a:pPr algn="l">
              <a:lnSpc>
                <a:spcPct val="105000"/>
              </a:lnSpc>
              <a:spcAft>
                <a:spcPts val="900"/>
              </a:spcAft>
            </a:pPr>
            <a:r>
              <a:rPr sz="1500" b="0">
                <a:solidFill>
                  <a:srgbClr val="14141C"/>
                </a:solidFill>
                <a:latin typeface="Helvetica Neue"/>
              </a:rPr>
              <a:t>•  Every provider is queried in English, French and Dutch — Belgian bank news is mostly not in English.</a:t>
            </a:r>
          </a:p>
          <a:p>
            <a:pPr algn="l">
              <a:lnSpc>
                <a:spcPct val="105000"/>
              </a:lnSpc>
              <a:spcAft>
                <a:spcPts val="900"/>
              </a:spcAft>
            </a:pPr>
            <a:r>
              <a:rPr sz="1500" b="0">
                <a:solidFill>
                  <a:srgbClr val="14141C"/>
                </a:solidFill>
                <a:latin typeface="Helvetica Neue"/>
              </a:rPr>
              <a:t>•  The module degrades to 'not configured' when no key is present, rather than inventing a number for a bank it has no data on.</a:t>
            </a:r>
          </a:p>
          <a:p>
            <a:pPr algn="l">
              <a:lnSpc>
                <a:spcPct val="105000"/>
              </a:lnSpc>
              <a:spcAft>
                <a:spcPts val="900"/>
              </a:spcAft>
            </a:pPr>
            <a:r>
              <a:rPr sz="1500" b="0">
                <a:solidFill>
                  <a:srgbClr val="14141C"/>
                </a:solidFill>
                <a:latin typeface="Helvetica Neue"/>
              </a:rPr>
              <a:t>•  Themes are context about the bank, never evidence that a page or campaign performed. Asked whether reputation shows how well campaigns are doing, the honest answer is no: press coverage says what a bank is written about, not whether its page worked.</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28</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The Recommendations tab</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04_recommendations.png"/>
          <p:cNvPicPr>
            <a:picLocks noChangeAspect="1"/>
          </p:cNvPicPr>
          <p:nvPr/>
        </p:nvPicPr>
        <p:blipFill>
          <a:blip r:embed="rId2"/>
          <a:stretch>
            <a:fillRect/>
          </a:stretch>
        </p:blipFill>
        <p:spPr>
          <a:xfrm>
            <a:off x="1828647" y="1325880"/>
            <a:ext cx="8534400" cy="4800600"/>
          </a:xfrm>
          <a:prstGeom prst="rect">
            <a:avLst/>
          </a:prstGeom>
        </p:spPr>
      </p:pic>
      <p:sp>
        <p:nvSpPr>
          <p:cNvPr id="5" name="TextBox 4"/>
          <p:cNvSpPr txBox="1"/>
          <p:nvPr/>
        </p:nvSpPr>
        <p:spPr>
          <a:xfrm>
            <a:off x="685800" y="623620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The one place a model is allowed to opine: advice grounded in this run's numbers, each item shown next to the features it was argued from, and selectable.</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29</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Recommendations, and how they stay honest</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900"/>
              </a:spcAft>
            </a:pPr>
            <a:r>
              <a:rPr sz="1500" b="0">
                <a:solidFill>
                  <a:srgbClr val="14141C"/>
                </a:solidFill>
                <a:latin typeface="Helvetica Neue"/>
              </a:rPr>
              <a:t>•  Every recommendation names the measured features it was argued from; an invented feature id is dropped before the list is shown.</a:t>
            </a:r>
          </a:p>
          <a:p>
            <a:pPr algn="l">
              <a:lnSpc>
                <a:spcPct val="105000"/>
              </a:lnSpc>
              <a:spcAft>
                <a:spcPts val="900"/>
              </a:spcAft>
            </a:pPr>
            <a:r>
              <a:rPr sz="1500" b="0">
                <a:solidFill>
                  <a:srgbClr val="14141C"/>
                </a:solidFill>
                <a:latin typeface="Helvetica Neue"/>
              </a:rPr>
              <a:t>•  A second, opt-in group can be added from news themes (reputation context).</a:t>
            </a:r>
          </a:p>
          <a:p>
            <a:pPr algn="l">
              <a:lnSpc>
                <a:spcPct val="105000"/>
              </a:lnSpc>
              <a:spcAft>
                <a:spcPts val="900"/>
              </a:spcAft>
            </a:pPr>
            <a:r>
              <a:rPr sz="1500" b="0">
                <a:solidFill>
                  <a:srgbClr val="14141C"/>
                </a:solidFill>
                <a:latin typeface="Helvetica Neue"/>
              </a:rPr>
              <a:t>•  The search-interest group was removed on 22/09; Trends now selects three brands on attention alone and the tab reports what their pages measurably do differently from ING's.</a:t>
            </a:r>
          </a:p>
          <a:p>
            <a:pPr algn="l">
              <a:lnSpc>
                <a:spcPct val="105000"/>
              </a:lnSpc>
              <a:spcAft>
                <a:spcPts val="900"/>
              </a:spcAft>
            </a:pPr>
            <a:r>
              <a:rPr sz="1500" b="0">
                <a:solidFill>
                  <a:srgbClr val="14141C"/>
                </a:solidFill>
                <a:latin typeface="Helvetica Neue"/>
              </a:rPr>
              <a:t>•  A reader ticks the ones worth building; only the ticked subset reaches the site builder.</a:t>
            </a:r>
          </a:p>
          <a:p>
            <a:pPr algn="l">
              <a:lnSpc>
                <a:spcPct val="105000"/>
              </a:lnSpc>
              <a:spcAft>
                <a:spcPts val="900"/>
              </a:spcAft>
            </a:pPr>
            <a:r>
              <a:rPr sz="1500" b="0">
                <a:solidFill>
                  <a:srgbClr val="14141C"/>
                </a:solidFill>
                <a:latin typeface="Helvetica Neue"/>
              </a:rPr>
              <a:t>•  Nothing here re-runs collection or analysis — it reads one report and writes advice.</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30</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The generated ING website, with explanations on</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06_site_explanation_open.png"/>
          <p:cNvPicPr>
            <a:picLocks noChangeAspect="1"/>
          </p:cNvPicPr>
          <p:nvPr/>
        </p:nvPicPr>
        <p:blipFill>
          <a:blip r:embed="rId2"/>
          <a:stretch>
            <a:fillRect/>
          </a:stretch>
        </p:blipFill>
        <p:spPr>
          <a:xfrm>
            <a:off x="1828647" y="1325880"/>
            <a:ext cx="8534400" cy="4800600"/>
          </a:xfrm>
          <a:prstGeom prst="rect">
            <a:avLst/>
          </a:prstGeom>
        </p:spPr>
      </p:pic>
      <p:sp>
        <p:nvSpPr>
          <p:cNvPr id="5" name="TextBox 4"/>
          <p:cNvSpPr txBox="1"/>
          <p:nvPr/>
        </p:nvSpPr>
        <p:spPr>
          <a:xfrm>
            <a:off x="685800" y="623620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An illustration, not a proposal for ING's site: each section that implements a recommendation is boxed, the (i) button opens the reasoning above it, and that section's glow switches to a slow yellow flicker.</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31</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Explanation mode: showing the work</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900"/>
              </a:spcAft>
            </a:pPr>
            <a:r>
              <a:rPr sz="1500" b="0">
                <a:solidFill>
                  <a:srgbClr val="14141C"/>
                </a:solidFill>
                <a:latin typeface="Helvetica Neue"/>
              </a:rPr>
              <a:t>•  Tick 'Explain each section' and every generated section that acts on a recommendation is boxed, with an (i) button and a one-sentence rationale in the page language.</a:t>
            </a:r>
          </a:p>
          <a:p>
            <a:pPr algn="l">
              <a:lnSpc>
                <a:spcPct val="105000"/>
              </a:lnSpc>
              <a:spcAft>
                <a:spcPts val="900"/>
              </a:spcAft>
            </a:pPr>
            <a:r>
              <a:rPr sz="1500" b="0">
                <a:solidFill>
                  <a:srgbClr val="14141C"/>
                </a:solidFill>
                <a:latin typeface="Helvetica Neue"/>
              </a:rPr>
              <a:t>•  Yellow flicker while an explanation is open — deliberately not ING orange, so the explanation state cannot be mistaken for the brand treatment.</a:t>
            </a:r>
          </a:p>
          <a:p>
            <a:pPr algn="l">
              <a:lnSpc>
                <a:spcPct val="105000"/>
              </a:lnSpc>
              <a:spcAft>
                <a:spcPts val="900"/>
              </a:spcAft>
            </a:pPr>
            <a:r>
              <a:rPr sz="1500" b="0">
                <a:solidFill>
                  <a:srgbClr val="14141C"/>
                </a:solidFill>
                <a:latin typeface="Helvetica Neue"/>
              </a:rPr>
              <a:t>•  A switch above the site turns the whole layer off, and the choice is remembered across the ten pages — so the same site can be shown as a normal site.</a:t>
            </a:r>
          </a:p>
          <a:p>
            <a:pPr algn="l">
              <a:lnSpc>
                <a:spcPct val="105000"/>
              </a:lnSpc>
              <a:spcAft>
                <a:spcPts val="900"/>
              </a:spcAft>
            </a:pPr>
            <a:r>
              <a:rPr sz="1500" b="0">
                <a:solidFill>
                  <a:srgbClr val="14141C"/>
                </a:solidFill>
                <a:latin typeface="Helvetica Neue"/>
              </a:rPr>
              <a:t>•  Every page gets at least one box; pages no recommendation targets borrow the site-wide advice that applies.</a:t>
            </a:r>
          </a:p>
          <a:p>
            <a:pPr algn="l">
              <a:lnSpc>
                <a:spcPct val="105000"/>
              </a:lnSpc>
              <a:spcAft>
                <a:spcPts val="900"/>
              </a:spcAft>
            </a:pPr>
            <a:r>
              <a:rPr sz="1500" b="0">
                <a:solidFill>
                  <a:srgbClr val="14141C"/>
                </a:solidFill>
                <a:latin typeface="Helvetica Neue"/>
              </a:rPr>
              <a:t>•  The first explained run produced copy about the recommendations themselves, so the page prompt now forbids meta copy and confines 'why' to the rationale.</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32</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The same site, explanations off</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07_site_explain_off.png"/>
          <p:cNvPicPr>
            <a:picLocks noChangeAspect="1"/>
          </p:cNvPicPr>
          <p:nvPr/>
        </p:nvPicPr>
        <p:blipFill>
          <a:blip r:embed="rId2"/>
          <a:stretch>
            <a:fillRect/>
          </a:stretch>
        </p:blipFill>
        <p:spPr>
          <a:xfrm>
            <a:off x="1828647" y="1325880"/>
            <a:ext cx="8534400" cy="4800600"/>
          </a:xfrm>
          <a:prstGeom prst="rect">
            <a:avLst/>
          </a:prstGeom>
        </p:spPr>
      </p:pic>
      <p:sp>
        <p:nvSpPr>
          <p:cNvPr id="5" name="TextBox 4"/>
          <p:cNvSpPr txBox="1"/>
          <p:nvPr/>
        </p:nvSpPr>
        <p:spPr>
          <a:xfrm>
            <a:off x="685800" y="623620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One checkbox above the site hides every box, balloon and rationale — the identical pages, shown as a normal site.</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33</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The operator tabs, and what they refuse to do</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200"/>
              </a:spcAft>
            </a:pPr>
            <a:r>
              <a:rPr sz="1500" b="1">
                <a:solidFill>
                  <a:srgbClr val="14141C"/>
                </a:solidFill>
                <a:latin typeface="Helvetica Neue"/>
              </a:rPr>
              <a:t>•  Six read-only views, moved out of the Streamlit dashboard</a:t>
            </a:r>
          </a:p>
          <a:p>
            <a:pPr algn="l">
              <a:lnSpc>
                <a:spcPct val="105000"/>
              </a:lnSpc>
              <a:spcAft>
                <a:spcPts val="1000"/>
              </a:spcAft>
            </a:pPr>
            <a:r>
              <a:rPr sz="1300" b="0">
                <a:solidFill>
                  <a:srgbClr val="585868"/>
                </a:solidFill>
                <a:latin typeface="Helvetica Neue"/>
              </a:rPr>
              <a:t>     Home, Bank profiles, Data, Rubric, Collection and Research now render in the same UI as the findings, from one snapshot the exporter writes: operations.json.</a:t>
            </a:r>
          </a:p>
          <a:p>
            <a:pPr algn="l">
              <a:lnSpc>
                <a:spcPct val="105000"/>
              </a:lnSpc>
              <a:spcAft>
                <a:spcPts val="200"/>
              </a:spcAft>
            </a:pPr>
            <a:r>
              <a:rPr sz="1500" b="1">
                <a:solidFill>
                  <a:srgbClr val="14141C"/>
                </a:solidFill>
                <a:latin typeface="Helvetica Neue"/>
              </a:rPr>
              <a:t>•  No pipeline control</a:t>
            </a:r>
          </a:p>
          <a:p>
            <a:pPr algn="l">
              <a:lnSpc>
                <a:spcPct val="105000"/>
              </a:lnSpc>
              <a:spcAft>
                <a:spcPts val="1000"/>
              </a:spcAft>
            </a:pPr>
            <a:r>
              <a:rPr sz="1300" b="0">
                <a:solidFill>
                  <a:srgbClr val="585868"/>
                </a:solidFill>
                <a:latin typeface="Helvetica Neue"/>
              </a:rPr>
              <a:t>     Collection is slow and needs a job model, and the robots.txt gate must stay server-side and non-overridable — so there is no 'run collection' button in a browser.</a:t>
            </a:r>
          </a:p>
          <a:p>
            <a:pPr algn="l">
              <a:lnSpc>
                <a:spcPct val="105000"/>
              </a:lnSpc>
              <a:spcAft>
                <a:spcPts val="200"/>
              </a:spcAft>
            </a:pPr>
            <a:r>
              <a:rPr sz="1500" b="1">
                <a:solidFill>
                  <a:srgbClr val="14141C"/>
                </a:solidFill>
                <a:latin typeface="Helvetica Neue"/>
              </a:rPr>
              <a:t>•  No dataset or dictionary editing</a:t>
            </a:r>
          </a:p>
          <a:p>
            <a:pPr algn="l">
              <a:lnSpc>
                <a:spcPct val="105000"/>
              </a:lnSpc>
              <a:spcAft>
                <a:spcPts val="1000"/>
              </a:spcAft>
            </a:pPr>
            <a:r>
              <a:rPr sz="1300" b="0">
                <a:solidFill>
                  <a:srgbClr val="585868"/>
                </a:solidFill>
                <a:latin typeface="Helvetica Neue"/>
              </a:rPr>
              <a:t>     The dictionary is the frozen contract (P-04); a form that edited it would undo the freeze rule, and a form that edited an extracted feature would destroy its audit trail.</a:t>
            </a:r>
          </a:p>
          <a:p>
            <a:pPr algn="l">
              <a:lnSpc>
                <a:spcPct val="105000"/>
              </a:lnSpc>
              <a:spcAft>
                <a:spcPts val="200"/>
              </a:spcAft>
            </a:pPr>
            <a:r>
              <a:rPr sz="1500" b="1">
                <a:solidFill>
                  <a:srgbClr val="14141C"/>
                </a:solidFill>
                <a:latin typeface="Helvetica Neue"/>
              </a:rPr>
              <a:t>•  No live scoring screen</a:t>
            </a:r>
          </a:p>
          <a:p>
            <a:pPr algn="l">
              <a:lnSpc>
                <a:spcPct val="105000"/>
              </a:lnSpc>
              <a:spcAft>
                <a:spcPts val="1000"/>
              </a:spcAft>
            </a:pPr>
            <a:r>
              <a:rPr sz="1300" b="0">
                <a:solidFill>
                  <a:srgbClr val="585868"/>
                </a:solidFill>
                <a:latin typeface="Helvetica Neue"/>
              </a:rPr>
              <a:t>     The Rubric tab shows finished sheets only. A screen that displayed a rater's neighbours would make the agreement figure measure visibility, not independent judgement (NFR-05).</a:t>
            </a:r>
          </a:p>
          <a:p>
            <a:pPr algn="l">
              <a:lnSpc>
                <a:spcPct val="105000"/>
              </a:lnSpc>
              <a:spcAft>
                <a:spcPts val="200"/>
              </a:spcAft>
            </a:pPr>
            <a:r>
              <a:rPr sz="1500" b="1">
                <a:solidFill>
                  <a:srgbClr val="14141C"/>
                </a:solidFill>
                <a:latin typeface="Helvetica Neue"/>
              </a:rPr>
              <a:t>•  One direction only</a:t>
            </a:r>
          </a:p>
          <a:p>
            <a:pPr algn="l">
              <a:lnSpc>
                <a:spcPct val="105000"/>
              </a:lnSpc>
              <a:spcAft>
                <a:spcPts val="1000"/>
              </a:spcAft>
            </a:pPr>
            <a:r>
              <a:rPr sz="1300" b="0">
                <a:solidFill>
                  <a:srgbClr val="585868"/>
                </a:solidFill>
                <a:latin typeface="Helvetica Neue"/>
              </a:rPr>
              <a:t>     The UI does no arithmetic: every number is computed in Python and handed over already labelled, so no figure on screen has a second definition.</a:t>
            </a:r>
          </a:p>
          <a:p>
            <a:pPr algn="l">
              <a:lnSpc>
                <a:spcPct val="105000"/>
              </a:lnSpc>
              <a:spcAft>
                <a:spcPts val="200"/>
              </a:spcAft>
            </a:pPr>
            <a:endParaRPr sz="1300" b="0">
              <a:solidFill>
                <a:srgbClr val="585868"/>
              </a:solidFill>
              <a:latin typeface="Helvetica Neue"/>
            </a:endParaRPr>
          </a:p>
          <a:p>
            <a:pPr algn="l">
              <a:lnSpc>
                <a:spcPct val="105000"/>
              </a:lnSpc>
              <a:spcAft>
                <a:spcPts val="0"/>
              </a:spcAft>
            </a:pPr>
            <a:r>
              <a:rPr sz="1250" b="0">
                <a:solidFill>
                  <a:srgbClr val="585868"/>
                </a:solidFill>
                <a:latin typeface="Helvetica Neue"/>
              </a:rPr>
              <a:t>The Streamlit file stays in the repository for share.streamlit.io; it is no longer the only place these views exist.</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34</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Home: what was collected, and what comes out</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08_home.png"/>
          <p:cNvPicPr>
            <a:picLocks noChangeAspect="1"/>
          </p:cNvPicPr>
          <p:nvPr/>
        </p:nvPicPr>
        <p:blipFill>
          <a:blip r:embed="rId2"/>
          <a:stretch>
            <a:fillRect/>
          </a:stretch>
        </p:blipFill>
        <p:spPr>
          <a:xfrm>
            <a:off x="2113127" y="1325880"/>
            <a:ext cx="7965440" cy="4480560"/>
          </a:xfrm>
          <a:prstGeom prst="rect">
            <a:avLst/>
          </a:prstGeom>
        </p:spPr>
      </p:pic>
      <p:sp>
        <p:nvSpPr>
          <p:cNvPr id="5" name="TextBox 4"/>
          <p:cNvSpPr txBox="1"/>
          <p:nvPr/>
        </p:nvSpPr>
        <p:spPr>
          <a:xfrm>
            <a:off x="685800" y="591616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Four counts from the run, the validation verdict, every bank's status, and a download per deliverable.</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35</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Bank profiles: one bank, every measured field</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09_profiles.png"/>
          <p:cNvPicPr>
            <a:picLocks noChangeAspect="1"/>
          </p:cNvPicPr>
          <p:nvPr/>
        </p:nvPicPr>
        <p:blipFill>
          <a:blip r:embed="rId2"/>
          <a:stretch>
            <a:fillRect/>
          </a:stretch>
        </p:blipFill>
        <p:spPr>
          <a:xfrm>
            <a:off x="2113127" y="1325880"/>
            <a:ext cx="7965440" cy="4480560"/>
          </a:xfrm>
          <a:prstGeom prst="rect">
            <a:avLst/>
          </a:prstGeom>
        </p:spPr>
      </p:pic>
      <p:sp>
        <p:nvSpPr>
          <p:cNvPr id="5" name="TextBox 4"/>
          <p:cNvSpPr txBox="1"/>
          <p:nvPr/>
        </p:nvSpPr>
        <p:spPr>
          <a:xfrm>
            <a:off x="685800" y="591616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Palette, tone, imagery, layout, value proposition, the z-score signature, personas and the AI Score.</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36</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Data: the dataset and the frozen dictionary</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10_data.png"/>
          <p:cNvPicPr>
            <a:picLocks noChangeAspect="1"/>
          </p:cNvPicPr>
          <p:nvPr/>
        </p:nvPicPr>
        <p:blipFill>
          <a:blip r:embed="rId2"/>
          <a:stretch>
            <a:fillRect/>
          </a:stretch>
        </p:blipFill>
        <p:spPr>
          <a:xfrm>
            <a:off x="2113127" y="1325880"/>
            <a:ext cx="7965440" cy="4480560"/>
          </a:xfrm>
          <a:prstGeom prst="rect">
            <a:avLst/>
          </a:prstGeom>
        </p:spPr>
      </p:pic>
      <p:sp>
        <p:nvSpPr>
          <p:cNvPr id="5" name="TextBox 4"/>
          <p:cNvSpPr txBox="1"/>
          <p:nvPr/>
        </p:nvSpPr>
        <p:spPr>
          <a:xfrm>
            <a:off x="685800" y="591616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Every capture with its provenance, filterable and exportable, read against the 104-feature dictionary.</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37</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Rubric: the sheets, and where they disagree</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11_rubric.png"/>
          <p:cNvPicPr>
            <a:picLocks noChangeAspect="1"/>
          </p:cNvPicPr>
          <p:nvPr/>
        </p:nvPicPr>
        <p:blipFill>
          <a:blip r:embed="rId2"/>
          <a:stretch>
            <a:fillRect/>
          </a:stretch>
        </p:blipFill>
        <p:spPr>
          <a:xfrm>
            <a:off x="2113127" y="1325880"/>
            <a:ext cx="7965440" cy="4480560"/>
          </a:xfrm>
          <a:prstGeom prst="rect">
            <a:avLst/>
          </a:prstGeom>
        </p:spPr>
      </p:pic>
      <p:sp>
        <p:nvSpPr>
          <p:cNvPr id="5" name="TextBox 4"/>
          <p:cNvSpPr txBox="1"/>
          <p:nvPr/>
        </p:nvSpPr>
        <p:spPr>
          <a:xfrm>
            <a:off x="685800" y="591616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Every sheet, raw agreement, chance-corrected kappa, and the scoring guide — never merged into one score.</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38</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Collection: status, provenance and the pipeline</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12_collection.png"/>
          <p:cNvPicPr>
            <a:picLocks noChangeAspect="1"/>
          </p:cNvPicPr>
          <p:nvPr/>
        </p:nvPicPr>
        <p:blipFill>
          <a:blip r:embed="rId2"/>
          <a:stretch>
            <a:fillRect/>
          </a:stretch>
        </p:blipFill>
        <p:spPr>
          <a:xfrm>
            <a:off x="2113127" y="1325880"/>
            <a:ext cx="7965440" cy="4480560"/>
          </a:xfrm>
          <a:prstGeom prst="rect">
            <a:avLst/>
          </a:prstGeom>
        </p:spPr>
      </p:pic>
      <p:sp>
        <p:nvSpPr>
          <p:cNvPr id="5" name="TextBox 4"/>
          <p:cNvSpPr txBox="1"/>
          <p:nvPr/>
        </p:nvSpPr>
        <p:spPr>
          <a:xfrm>
            <a:off x="685800" y="591616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Counts straight from the export, per-bank status, capture provenance, and the commands that produced it.</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39</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Research: sourcing a claim</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13_research.png"/>
          <p:cNvPicPr>
            <a:picLocks noChangeAspect="1"/>
          </p:cNvPicPr>
          <p:nvPr/>
        </p:nvPicPr>
        <p:blipFill>
          <a:blip r:embed="rId2"/>
          <a:stretch>
            <a:fillRect/>
          </a:stretch>
        </p:blipFill>
        <p:spPr>
          <a:xfrm>
            <a:off x="2113127" y="1325880"/>
            <a:ext cx="7965440" cy="4480560"/>
          </a:xfrm>
          <a:prstGeom prst="rect">
            <a:avLst/>
          </a:prstGeom>
        </p:spPr>
      </p:pic>
      <p:sp>
        <p:nvSpPr>
          <p:cNvPr id="5" name="TextBox 4"/>
          <p:cNvSpPr txBox="1"/>
          <p:nvPr/>
        </p:nvSpPr>
        <p:spPr>
          <a:xfrm>
            <a:off x="685800" y="591616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Semantic Scholar, on demand. Empty is reported as empty — a rate limit must not read as 'no evidence'.</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40</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Roadmap</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200"/>
              </a:spcAft>
            </a:pPr>
            <a:r>
              <a:rPr sz="1500" b="1">
                <a:solidFill>
                  <a:srgbClr val="14141C"/>
                </a:solidFill>
                <a:latin typeface="Helvetica Neue"/>
              </a:rPr>
              <a:t>•  1. Turn the rubric into a number you can quote</a:t>
            </a:r>
          </a:p>
          <a:p>
            <a:pPr algn="l">
              <a:lnSpc>
                <a:spcPct val="105000"/>
              </a:lnSpc>
              <a:spcAft>
                <a:spcPts val="1000"/>
              </a:spcAft>
            </a:pPr>
            <a:r>
              <a:rPr sz="1300" b="0">
                <a:solidFill>
                  <a:srgbClr val="585868"/>
                </a:solidFill>
                <a:latin typeface="Helvetica Neue"/>
              </a:rPr>
              <a:t>     Finish the two-raters-per-bank split — it takes the comparison from 30 usable features to about 40 — and tighten the wording for the six features below the 60% bar before any judged feature carries a finding.</a:t>
            </a:r>
          </a:p>
          <a:p>
            <a:pPr algn="l">
              <a:lnSpc>
                <a:spcPct val="105000"/>
              </a:lnSpc>
              <a:spcAft>
                <a:spcPts val="200"/>
              </a:spcAft>
            </a:pPr>
            <a:r>
              <a:rPr sz="1500" b="1">
                <a:solidFill>
                  <a:srgbClr val="14141C"/>
                </a:solidFill>
                <a:latin typeface="Helvetica Neue"/>
              </a:rPr>
              <a:t>•  2. Fill the remaining sheet rows</a:t>
            </a:r>
          </a:p>
          <a:p>
            <a:pPr algn="l">
              <a:lnSpc>
                <a:spcPct val="105000"/>
              </a:lnSpc>
              <a:spcAft>
                <a:spcPts val="1000"/>
              </a:spcAft>
            </a:pPr>
            <a:r>
              <a:rPr sz="1300" b="0">
                <a:solidFill>
                  <a:srgbClr val="585868"/>
                </a:solidFill>
                <a:latin typeface="Helvetica Neue"/>
              </a:rPr>
              <a:t>     Every bank now has its rows, including the two English pages restored on 23/09; what is missing is filled scores, not sheets.</a:t>
            </a:r>
          </a:p>
          <a:p>
            <a:pPr algn="l">
              <a:lnSpc>
                <a:spcPct val="105000"/>
              </a:lnSpc>
              <a:spcAft>
                <a:spcPts val="200"/>
              </a:spcAft>
            </a:pPr>
            <a:r>
              <a:rPr sz="1500" b="1">
                <a:solidFill>
                  <a:srgbClr val="14141C"/>
                </a:solidFill>
                <a:latin typeface="Helvetica Neue"/>
              </a:rPr>
              <a:t>•  3. Re-run and re-export</a:t>
            </a:r>
          </a:p>
          <a:p>
            <a:pPr algn="l">
              <a:lnSpc>
                <a:spcPct val="105000"/>
              </a:lnSpc>
              <a:spcAft>
                <a:spcPts val="1000"/>
              </a:spcAft>
            </a:pPr>
            <a:r>
              <a:rPr sz="1300" b="0">
                <a:solidFill>
                  <a:srgbClr val="585868"/>
                </a:solidFill>
                <a:latin typeface="Helvetica Neue"/>
              </a:rPr>
              <a:t>     rubric_sheet.py merge → run_analysis.py → export_web_report.py, then re-verify the narrative's figures against the new snapshot.</a:t>
            </a:r>
          </a:p>
          <a:p>
            <a:pPr algn="l">
              <a:lnSpc>
                <a:spcPct val="105000"/>
              </a:lnSpc>
              <a:spcAft>
                <a:spcPts val="200"/>
              </a:spcAft>
            </a:pPr>
            <a:r>
              <a:rPr sz="1500" b="1">
                <a:solidFill>
                  <a:srgbClr val="14141C"/>
                </a:solidFill>
                <a:latin typeface="Helvetica Neue"/>
              </a:rPr>
              <a:t>•  4. Decide on outputs/ in git</a:t>
            </a:r>
          </a:p>
          <a:p>
            <a:pPr algn="l">
              <a:lnSpc>
                <a:spcPct val="105000"/>
              </a:lnSpc>
              <a:spcAft>
                <a:spcPts val="1000"/>
              </a:spcAft>
            </a:pPr>
            <a:r>
              <a:rPr sz="1300" b="0">
                <a:solidFill>
                  <a:srgbClr val="585868"/>
                </a:solidFill>
                <a:latin typeface="Helvetica Neue"/>
              </a:rPr>
              <a:t>     It is regenerated on every run yet tracked, so each analysis leaves a large binary diff.</a:t>
            </a:r>
          </a:p>
          <a:p>
            <a:pPr algn="l">
              <a:lnSpc>
                <a:spcPct val="105000"/>
              </a:lnSpc>
              <a:spcAft>
                <a:spcPts val="200"/>
              </a:spcAft>
            </a:pPr>
            <a:r>
              <a:rPr sz="1500" b="1">
                <a:solidFill>
                  <a:srgbClr val="14141C"/>
                </a:solidFill>
                <a:latin typeface="Helvetica Neue"/>
              </a:rPr>
              <a:t>•  5. Then, if the team wants it</a:t>
            </a:r>
          </a:p>
          <a:p>
            <a:pPr algn="l">
              <a:lnSpc>
                <a:spcPct val="105000"/>
              </a:lnSpc>
              <a:spcAft>
                <a:spcPts val="1000"/>
              </a:spcAft>
            </a:pPr>
            <a:r>
              <a:rPr sz="1300" b="0">
                <a:solidFill>
                  <a:srgbClr val="585868"/>
                </a:solidFill>
                <a:latin typeface="Helvetica Neue"/>
              </a:rPr>
              <a:t>     Savings, mortgage, pension, investment and term accounts are already collected (52 pages, 6 families); comparing each family the same way is the next step, plus a wider bank set.</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41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150</TotalTime>
  <Words>5255</Words>
  <Application>Microsoft Office PowerPoint</Application>
  <PresentationFormat>Widescreen</PresentationFormat>
  <Paragraphs>425</Paragraphs>
  <Slides>41</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41</vt:i4>
      </vt:variant>
    </vt:vector>
  </HeadingPairs>
  <TitlesOfParts>
    <vt:vector size="45" baseType="lpstr">
      <vt:lpstr>Arial</vt:lpstr>
      <vt:lpstr>Calibri</vt:lpstr>
      <vt:lpstr>Helvetica Neue</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Siegried Camus</cp:lastModifiedBy>
  <cp:revision>3</cp:revision>
  <dcterms:created xsi:type="dcterms:W3CDTF">2013-01-27T09:14:16Z</dcterms:created>
  <dcterms:modified xsi:type="dcterms:W3CDTF">2026-09-24T06:27:12Z</dcterms:modified>
  <cp:category/>
</cp:coreProperties>
</file>