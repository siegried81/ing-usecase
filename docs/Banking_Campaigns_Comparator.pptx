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62" r:id="rId4"/>
    <p:sldId id="258" r:id="rId5"/>
    <p:sldId id="259" r:id="rId6"/>
    <p:sldId id="260" r:id="rId7"/>
    <p:sldId id="261"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572" autoAdjust="0"/>
  </p:normalViewPr>
  <p:slideViewPr>
    <p:cSldViewPr snapToGrid="0" snapToObjects="1">
      <p:cViewPr varScale="1">
        <p:scale>
          <a:sx n="108" d="100"/>
          <a:sy n="108" d="100"/>
        </p:scale>
        <p:origin x="67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the ING DACI two-week P of 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before we start: we have no internal data, nothing here claims a design choice caused a commercial outcome — every recommendation is an argued hypothesis worth testing.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frame this.</a:t>
            </a:r>
          </a:p>
          <a:p>
            <a:endParaRPr lang="en-US" dirty="0"/>
          </a:p>
          <a:p>
            <a:r>
              <a:rPr lang="en-US" dirty="0"/>
              <a:t>ING is a hybrid. You carry the direct, feature-first, mobile-first tone of a neobank, and the institutional weight of a Tier-1 bank. That is a position, not an accident.</a:t>
            </a:r>
          </a:p>
          <a:p>
            <a:endParaRPr lang="en-US" dirty="0"/>
          </a:p>
          <a:p>
            <a:r>
              <a:rPr lang="en-US" dirty="0"/>
              <a:t>The playing field is level on regulation. Neobanks' speed is architecture and no branches — not lighter European or compliance rules.</a:t>
            </a:r>
          </a:p>
          <a:p>
            <a:endParaRPr lang="en-US" dirty="0"/>
          </a:p>
          <a:p>
            <a:r>
              <a:rPr lang="en-US" dirty="0"/>
              <a:t>Where you differ is the engine. Traditional banks use the current account as a loss leader and </a:t>
            </a:r>
            <a:r>
              <a:rPr lang="en-US" dirty="0" err="1"/>
              <a:t>monetise</a:t>
            </a:r>
            <a:r>
              <a:rPr lang="en-US" dirty="0"/>
              <a:t> later: mortgages, insurance, wealth. Neobanks </a:t>
            </a:r>
            <a:r>
              <a:rPr lang="en-US" dirty="0" err="1"/>
              <a:t>monetise</a:t>
            </a:r>
            <a:r>
              <a:rPr lang="en-US" dirty="0"/>
              <a:t> upfront — freemium tiers, subscriptions, abonnements, FX. They chase volume among young adults and digital nomads. You chase lifetime value: expats, first-time investors, first-time buyers."</a:t>
            </a:r>
          </a:p>
        </p:txBody>
      </p:sp>
    </p:spTree>
    <p:extLst>
      <p:ext uri="{BB962C8B-B14F-4D97-AF65-F5344CB8AC3E}">
        <p14:creationId xmlns:p14="http://schemas.microsoft.com/office/powerpoint/2010/main" val="55953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the question is whether that hybrid position shows up in how you actually communicate.</a:t>
            </a:r>
          </a:p>
          <a:p>
            <a:r>
              <a:rPr lang="en-US" dirty="0"/>
              <a:t>51 pages, 14 banks, 6 product families, 104 documented features. We only ever compare within one product family — pages do different jobs. The headline runs on 18 current-account pages, 14 banks.</a:t>
            </a:r>
          </a:p>
          <a:p>
            <a:r>
              <a:rPr lang="en-US" dirty="0"/>
              <a:t>Deciding what was relevant was part of the work."</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traditional–challenger axis ING scores 0.41. Belfius sits at 0.28 below you, </a:t>
            </a:r>
            <a:r>
              <a:rPr lang="en-US" dirty="0" err="1"/>
              <a:t>Keytrade</a:t>
            </a:r>
            <a:r>
              <a:rPr lang="en-US" dirty="0"/>
              <a:t> at 0.55 above — and </a:t>
            </a:r>
            <a:r>
              <a:rPr lang="en-US" dirty="0" err="1"/>
              <a:t>Keytrade</a:t>
            </a:r>
            <a:r>
              <a:rPr lang="en-US" dirty="0"/>
              <a:t> is a challenger. You are the last incumbent on the axis before the challengers begin: the most challenger-like traditional bank in Belgium. The hybrid is not a claim, it is a position on a line.</a:t>
            </a:r>
          </a:p>
          <a:p>
            <a:r>
              <a:rPr lang="en-US" dirty="0"/>
              <a:t>Your targeting shows too. The personas named on your pack pages are mass market, student and expat. Across your whole page set, six of eight, including investor and retiree. The high-value segments are there in the copy.</a:t>
            </a:r>
          </a:p>
          <a:p>
            <a:r>
              <a:rPr lang="en-US" dirty="0"/>
              <a:t>But three signals separate you from everyone, and all three are pressure. Deadline language, the largest gap in the set. Persuasion levers. And the offer reads as clearly worth having. On the pages we measured, you are the loudest bank in Belgium. Next to a top-five NPS irritator, that's the finding."</a:t>
            </a:r>
          </a:p>
          <a:p>
            <a:endParaRPr lang="en-US" dirty="0"/>
          </a:p>
          <a:p>
            <a:r>
              <a:rPr lang="en-US" dirty="0"/>
              <a:t>"Trust reads zero for thirteen banks of fourteen. That is measured, not missing — not one page in this family cites a branch network as a benefit, and the only two carrying an institutional or regulatory trust signal are </a:t>
            </a:r>
            <a:r>
              <a:rPr lang="en-US" dirty="0" err="1"/>
              <a:t>Revolut's</a:t>
            </a:r>
            <a:r>
              <a:rPr lang="en-US" dirty="0"/>
              <a:t> and </a:t>
            </a:r>
            <a:r>
              <a:rPr lang="en-US" dirty="0" err="1"/>
              <a:t>bunq's</a:t>
            </a:r>
            <a:r>
              <a:rPr lang="en-US" dirty="0"/>
              <a:t>. Both challengers. The asset a Tier-1 bank has and a neobank cannot copy is the one nobody is using on the page."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 features in, 33 out. Every reduction is on screen.</a:t>
            </a:r>
          </a:p>
          <a:p>
            <a:r>
              <a:t>And five withdrawn outright, because they measured our tooling, not your pages.</a:t>
            </a:r>
          </a:p>
          <a:p>
            <a:r>
              <a:t>Calls to action: no counting rule held across fourteen banks. Navigation, repeated links, clickable cards — each bank marks them up differently.</a:t>
            </a:r>
          </a:p>
          <a:p>
            <a:r>
              <a:t>Animation: our rule asked whether the stylesheet declared an animation, not whether the page moves. Across eighteen pages, exactly one has real motion — Revolut, a video. Your kickoff deck said ING was the only traditional bank animating. That is now marked not testable, not disproved. We will not rule on it with a broken instrument.</a:t>
            </a:r>
          </a:p>
          <a:p>
            <a:r>
              <a:t>The fifth we found while rehearsing this: a feature that tested whether a page uses an HTML table element. Traditional banks do. N26 and Revolut build the same plan comparison in CSS. It was reporting a markup convention as a strategic difference.</a:t>
            </a:r>
          </a:p>
          <a:p>
            <a:r>
              <a:t>OPTIONNEL, ~15 s, coupe si tu debordes : "That is why four of the five observations in your kickoff deck now read not testable rather than not supported. Three were being judged on a word-count band that reads 'long' for all fourteen banks — a measure that separates nobody cannot refute anyone. One claim is genuinely not supported: text is still beside the picture."</a:t>
            </a:r>
          </a:p>
          <a:p/>
          <a:p>
            <a:r>
              <a:t>And one whole axis of our AI Score returns nothing.</a:t>
            </a:r>
          </a:p>
          <a:p>
            <a:r>
              <a:t>We would rather hand you 33 numbers we can defend."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keep is an instrument: 104 documented features, a frozen contract, a pipeline that re-runs from stored snapshots, 423 tests. The next comparison costs days, not weeks — including next September's state-bond wave.</a:t>
            </a:r>
          </a:p>
          <a:p>
            <a:endParaRPr lang="en-US" dirty="0"/>
          </a:p>
          <a:p>
            <a:r>
              <a:rPr lang="en-US" dirty="0"/>
              <a:t>Ten </a:t>
            </a:r>
            <a:r>
              <a:rPr lang="en-US" dirty="0" err="1"/>
              <a:t>prioritised</a:t>
            </a:r>
            <a:r>
              <a:rPr lang="en-US" dirty="0"/>
              <a:t> changes came out of this run, each traced to a feature and a page. None is a performance claim — no click data exists, so each is a hypothesis you can test.</a:t>
            </a:r>
          </a:p>
          <a:p>
            <a:endParaRPr lang="en-US" dirty="0"/>
          </a:p>
          <a:p>
            <a:r>
              <a:rPr lang="en-US" dirty="0"/>
              <a:t>It is a proof of concept. Your questions are the useful part."</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b="0" dirty="0">
                <a:solidFill>
                  <a:srgbClr val="A8A8B8"/>
                </a:solidFill>
                <a:latin typeface="Helvetica Neue"/>
              </a:rPr>
              <a:t>Van 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3</a:t>
            </a:r>
            <a:endParaRPr sz="1000" b="0" dirty="0">
              <a:solidFill>
                <a:srgbClr val="585868"/>
              </a:solidFill>
              <a:latin typeface="Helvetica Neue"/>
            </a:endParaRPr>
          </a:p>
        </p:txBody>
      </p:sp>
    </p:spTree>
    <p:extLst>
      <p:ext uri="{BB962C8B-B14F-4D97-AF65-F5344CB8AC3E}">
        <p14:creationId xmlns:p14="http://schemas.microsoft.com/office/powerpoint/2010/main" val="3710705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4</a:t>
            </a:r>
            <a:endParaRPr sz="1000" b="0" dirty="0">
              <a:solidFill>
                <a:srgbClr val="585868"/>
              </a:solidFill>
              <a:latin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5</a:t>
            </a:r>
            <a:endParaRPr sz="1000" b="0" dirty="0">
              <a:solidFill>
                <a:srgbClr val="585868"/>
              </a:solidFill>
              <a:latin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720"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7</a:t>
            </a:r>
            <a:endParaRPr sz="1000" b="0" dirty="0">
              <a:solidFill>
                <a:srgbClr val="585868"/>
              </a:solidFill>
              <a:latin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lstStyle/>
          <a:p>
            <a:endParaR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lstStyle/>
          <a:p>
            <a:endParaR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lstStyle/>
          <a:p>
            <a:endParaR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lstStyle/>
          <a:p>
            <a:endParaR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site_hero.png"/>
          <p:cNvPicPr>
            <a:picLocks noChangeAspect="1"/>
          </p:cNvPicPr>
          <p:nvPr/>
        </p:nvPicPr>
        <p:blipFill>
          <a:blip r:embed="rId3"/>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lstStyle/>
          <a:p>
            <a:endParaRPr/>
          </a:p>
        </p:txBody>
      </p:sp>
      <p:pic>
        <p:nvPicPr>
          <p:cNvPr id="9" name="Image 1" descr="/Users/nstephane/Dev/AI_Data_Science_training/ing-usecase/docs/deck_assets/site_explained.png"/>
          <p:cNvPicPr>
            <a:picLocks noChangeAspect="1"/>
          </p:cNvPicPr>
          <p:nvPr/>
        </p:nvPicPr>
        <p:blipFill>
          <a:blip r:embed="rId4"/>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5"/>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6"/>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7"/>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270</TotalTime>
  <Words>7929</Words>
  <Application>Microsoft Office PowerPoint</Application>
  <PresentationFormat>Widescreen</PresentationFormat>
  <Paragraphs>515</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7</cp:revision>
  <dcterms:created xsi:type="dcterms:W3CDTF">2013-01-27T09:14:16Z</dcterms:created>
  <dcterms:modified xsi:type="dcterms:W3CDTF">2026-09-24T20:39:39Z</dcterms:modified>
  <cp:category/>
</cp:coreProperties>
</file>