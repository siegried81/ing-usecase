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917"/>
  </p:normalViewPr>
  <p:slideViewPr>
    <p:cSldViewPr snapToGrid="0" snapToObjects="1">
      <p:cViewPr varScale="1">
        <p:scale>
          <a:sx n="146" d="100"/>
          <a:sy n="146" d="100"/>
        </p:scale>
        <p:origin x="1856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1212E8-7D8E-9C45-80F4-3D5B9A1EF75A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63D8B-9789-CD49-B6E9-A4F815EBBA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215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BRIDGE from slides 9–11: incumbents hold 97.6% of brand search, challengers 2.3%. This slide is the caveat before anyone reads that as market share.</a:t>
            </a:r>
          </a:p>
          <a:p>
            <a:r>
              <a:t>THE CONTRAST: Revolut reports more than 1 million private customers in Belgium, adding about 25,000 a month (Belga News Agency, 11 Mar 2026) — yet holds 1.64% of brand search, 9th of 14. Both are true; they measure different things.</a:t>
            </a:r>
          </a:p>
          <a:p>
            <a:r>
              <a:t>THREE REASONS search undercounts a challenger — none of them is "Revolut is small":</a:t>
            </a:r>
          </a:p>
          <a:p>
            <a:r>
              <a:t>1. Navigational searches. Incumbents are searched for logins, branches, opening hours. Say it as a working hypothesis — not verified at query level.</a:t>
            </a:r>
          </a:p>
          <a:p>
            <a:r>
              <a:t>2. App-first journeys. Sign-up through app stores and referral links, then daily use inside the app; the brand name is never typed.</a:t>
            </a:r>
          </a:p>
          <a:p>
            <a:r>
              <a:t>3. Measurement floor. Six of the 14 brands never clear 10/100 in their own Trends request, so their share is partly rounding. Revolut itself is above the floor (peak 19), so its 1.64% is a real reading.</a:t>
            </a:r>
          </a:p>
          <a:p>
            <a:r>
              <a:t>LAND: challenger shares are a floor on attention, not a customer count. The 1M figure is deliberately never set against a market-share figure.</a:t>
            </a:r>
          </a:p>
          <a:p>
            <a:r>
              <a:t>TRANSITION: search tells us who gets attention, not who wins. From here on we stop measuring and start advising.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FRAMING, say first: everything up to here measured. This is the one place in the project where a model is allowed to interpret; the next four slides are about how that is kept honest.</a:t>
            </a:r>
          </a:p>
          <a:p>
            <a:r>
              <a:t>WHAT IT IS: one model call (DeepSeek, pinned version) over the finished analysis. It reads report.json — the same file the charts are drawn from. Nothing is re-scraped, nothing is re-scored.</a:t>
            </a:r>
          </a:p>
          <a:p>
            <a:r>
              <a:t>WHAT COMES OUT: an ordered list of changes. Current run: ten — two high, six medium, two low. The order is the argument: what the measurement most supports acting on first. Ordered by priority, not by the model's confidence.</a:t>
            </a:r>
          </a:p>
          <a:p>
            <a:r>
              <a:t>TWO CONTEXTS (checkboxes in the screenshot), both opt-in, both labelled on every card they touch: search interest for timing, news themes for reputation — three of the ten. Context can never stand as evidence that a page performed.</a:t>
            </a:r>
          </a:p>
          <a:p>
            <a:r>
              <a:t>ORANGE BOX: it writes what to change; it never re-derives a number. One-way by design — if a figure is wrong the fix is upstream, and the next run carries it through.</a:t>
            </a:r>
          </a:p>
          <a:p>
            <a:r>
              <a:t>NOTE: the panel screenshot and the counts printed on this slide predate the cta_count withdrawal of 23/09 (11 → 10). Say ten.</a:t>
            </a:r>
          </a:p>
          <a:p>
            <a:r>
              <a:t>TRANSITION: here is what one of them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CARD (R1, top): title and priority · WHAT THE DATA SHOWS — the finding with its numbers: 4.0 urgency markers per page vs a peer mean of 0.64, about 3.7 SD · WHAT TO DO — the action · chips: the feature it was argued from (urgency_marker_count) and the pages it applies to.</a:t>
            </a:r>
          </a:p>
          <a:p>
            <a:r>
              <a:t>THREE GUARDRAILS (right column):</a:t>
            </a:r>
          </a:p>
          <a:p>
            <a:r>
              <a:t>1. Finding and action kept apart. Anyone can reject the action and keep the finding — nobody has to buy the advice to accept the measurement.</a:t>
            </a:r>
          </a:p>
          <a:p>
            <a:r>
              <a:t>2. Named features, checked before release. Every feature id on a card is verified against the report; an id the model invented is dropped before the list is shown.</a:t>
            </a:r>
          </a:p>
          <a:p>
            <a:r>
              <a:t>3. No figure the analysis did not produce. The prompt receives only numbers already in the report; the output is not trusted to add any.</a:t>
            </a:r>
          </a:p>
          <a:p>
            <a:r>
              <a:t>ONE LINE: the model is a writer, not a source.</a:t>
            </a:r>
          </a:p>
          <a:p>
            <a:r>
              <a:t>IF ASKED about R2 in the screenshot ("Repeat the primary call to action"): it rests on cta_count, withdrawn on 23/09 — ING's pack cards render client-side and never reached the captured HTML, so the count measured our capture, not the page. A recommendation dying with its feature is the mechanism working. The screenshot predates the withdrawal.</a:t>
            </a:r>
          </a:p>
          <a:p>
            <a:r>
              <a:t>TRANSITION: so what did it conclude about 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NUMBERS, all from the current-account comparison — 14 banks, 36 comparable features:</a:t>
            </a:r>
          </a:p>
          <a:p>
            <a:r>
              <a:t>1. 4.0 urgency and deadline markers per page vs a peer mean of 0.64 — about 3.7 SD above, the largest gap in the set and ING's strongest measured signature.</a:t>
            </a:r>
          </a:p>
          <a:p>
            <a:r>
              <a:t>2. Page height 11,149 px vs 6,412 — about 74% longer, so the offer sits further from the top (about 1.4 SD).</a:t>
            </a:r>
          </a:p>
          <a:p>
            <a:r>
              <a:t>3. 0.67 'free' claims with their conditions elsewhere vs 0.23 — where a free or no-fee claim appears, the qualifying conditions are not next to it.</a:t>
            </a:r>
          </a:p>
          <a:p>
            <a:r>
              <a:t>THE THREE IT RANKED HIGHEST: strip back urgency and deadline language · bring the offer higher up the page (the current run words it "shorten the pages and cut non-informative imagery" — same measure, page_height_px) · disclose the conditions of any free claim next to the claim.</a:t>
            </a:r>
          </a:p>
          <a:p>
            <a:r>
              <a:t>THE SHAPE: two of the three are about removing things. ING's pages carry the densest persuasion in the set (3.7 levers per page vs 1.7). The advice is restraint, not more features.</a:t>
            </a:r>
          </a:p>
          <a:p>
            <a:r>
              <a:t>CAVEAT — read it, do not skip it: design observations, not performance findings. Pages span product families and languages, judged features come from one rater, no click or conversion data — every item is a hypothesis ING could test.</a:t>
            </a:r>
          </a:p>
          <a:p>
            <a:r>
              <a:t>TRANSITION: a list is easy to nod at and forget. So we built the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 SCREEN: top — the generated home page in ING styling (hero, two calls to action). Bottom — one section in explained mode: orange frame, and the (i) button that opens the rationale for that section.</a:t>
            </a:r>
          </a:p>
          <a:p>
            <a:r>
              <a:t>THREE POINTS:</a:t>
            </a:r>
          </a:p>
          <a:p>
            <a:r>
              <a:t>1. The team chooses what gets built. Every recommendation is a checkbox; nothing reaches the generator that a person did not tick.</a:t>
            </a:r>
          </a:p>
          <a:p>
            <a:r>
              <a:t>2. Ten ING-styled pages, fr-BE or nl-BE: home, savings, term account, current account, youth, investing, mortgage, opening, why ING, contact.</a:t>
            </a:r>
          </a:p>
          <a:p>
            <a:r>
              <a:t>3. Each section can name its own source. Explained mode shows which recommendation produced the section and why — auditable, not just persuasive.</a:t>
            </a:r>
          </a:p>
          <a:p>
            <a:r>
              <a:t>SAY PLAINLY: an illustration — generated, never published, not a proposal for ING's site. Rates and amounts stay as [TAUX] and [MONTANT]: no figure appears that a compliance team has not supplied.</a:t>
            </a:r>
          </a:p>
          <a:p>
            <a:r>
              <a:t>ORANGE LINE: this is what makes the analysis arguable — a stakeholder can look at the change instead of reading about it. Invite it: "which of these would you untick?"</a:t>
            </a:r>
          </a:p>
          <a:p>
            <a:r>
              <a:t>TRANSITION: put together, the whole thing runs in one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TOP ROW, stages 1–5 — the measurement half already walked: sources → capture (robots gate, pages rendered as a visitor sees them) → dataset with the human rubric scores → analysis → surfaces (report.json, the web UI). One arrow carries report.json down.</a:t>
            </a:r>
          </a:p>
          <a:p>
            <a:r>
              <a:t>BOTTOM ROW, stages 6–8 — this section: recommendations (one model call, ordered list, each naming its features) → human selection (checkboxes; nothing proceeds unchosen) → generated site (ten pages, exactly the selected set, placeholders for every figure).</a:t>
            </a:r>
          </a:p>
          <a:p>
            <a:r>
              <a:t>GREY BAND — read it as one sentence: the model sees only numbers the analysis produced; every recommendation names its features and is checked before it leaves the module; nothing is built that a human did not tick; news-theme items are context, never evidence; no performance data exists, so nothing here claims a cause.</a:t>
            </a:r>
          </a:p>
          <a:p>
            <a:r>
              <a:t>WHY ONE DIRECTION MATTERS: every arrow is a script and can be re-run, so a correction made upstream flows all the way through. That is how the cta_count withdrawal propagated this week — once it was made in the analysis rather than patched into an output file.</a:t>
            </a:r>
          </a:p>
          <a:p>
            <a:r>
              <a:t>NOTE: the diagram's "11 of 11 selected" and "11 ordered changes" predate the withdrawal — ten now.</a:t>
            </a:r>
          </a:p>
          <a:p>
            <a:r>
              <a:t>TRANSITION to slide 18: that last guardrail — no performance data — is the limit of the whole project.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</a:t>
            </a:r>
            <a:r>
              <a:rPr sz="1300" b="0" dirty="0" err="1">
                <a:solidFill>
                  <a:srgbClr val="A8A8B8"/>
                </a:solidFill>
                <a:latin typeface="Helvetica Neue"/>
              </a:rPr>
              <a:t>GenAI</a:t>
            </a:r>
            <a:r>
              <a:rPr sz="1300" b="0" dirty="0">
                <a:solidFill>
                  <a:srgbClr val="A8A8B8"/>
                </a:solidFill>
                <a:latin typeface="Helvetica Neue"/>
              </a:rPr>
              <a:t>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dirty="0">
                <a:solidFill>
                  <a:srgbClr val="A8A8B8"/>
                </a:solidFill>
                <a:latin typeface="Helvetica Neue"/>
              </a:rPr>
              <a:t>14 – 25 September 2026 · 14 banks · 18 current-account pages of 52 collected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measurement pipeline: 14 banks, 51 pages across 6 product families (18 of them current-account),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One web UI with ten tabs: four business views (Analysis, Trends, Reputation, Recommendations), the generated-site builder, and six read-only operator views carried over from the </a:t>
            </a:r>
            <a:r>
              <a:rPr sz="1500" b="0" dirty="0" err="1">
                <a:solidFill>
                  <a:srgbClr val="14141C"/>
                </a:solidFill>
                <a:latin typeface="Helvetica Neue"/>
              </a:rPr>
              <a:t>Streamlit</a:t>
            </a:r>
            <a:r>
              <a:rPr sz="1500" b="0" dirty="0">
                <a:solidFill>
                  <a:srgbClr val="14141C"/>
                </a:solidFill>
                <a:latin typeface="Helvetica Neue"/>
              </a:rPr>
              <a:t>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 dirty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 — an illustration of what a recommendation means in practice, not a proposal for ING's own site.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500" b="0" dirty="0">
              <a:solidFill>
                <a:srgbClr val="14141C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464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51 pages collected and scored across 6 product families; this comparison runs on the 18 current-account pages, 14 banks, 36 comparable features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Argenta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Belfius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Beobank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BNP Paribas Fortis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bunq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CBC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Crelan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Hellobank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ING · KBC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Keytrade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N26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Revolut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·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Vdk</a:t>
            </a: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Mostly Belgian French — plus two English pages and one Dutch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Word counts and readability are within-language features, so with more than one language present the comparison drops eight of them rather than compare across languages. </a:t>
            </a:r>
            <a:endParaRPr lang="fr-FR"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10 traditional banks and 4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dataset is in git, alongside the contract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Captures, datasets and outputs are tracked, so any figure on a slide traces back to the exact committed run that produced it.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 dirty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dirty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one human judge, and a model measured against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human judge for this pass, stated plainly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judged feature on all 51 pages comes from one sheet. Earlier passes split pages between raters; this one does not, and we say so rather than presenting a single opinion as a consensus.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model sheet exists, and it is not a second opinion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50 pages, written to its own file, never into a human sheet - a pre-filled sheet gets rubber-stamped. But the pinned model has no vision, and 12 of the 13 judged features are declared in the dictionary as judged from the screenshot.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one judged feature can be scored from text at all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formality_score, the only one the dictionary sources from html_text. On the 49 pages both scored, the model lands within one point of the human there 73% of the time. Its numbers on the twelve visual features are answers to a question the text cannot settle: value_prop_clarity is the clearest, where it ranked the pages close to the opposite of the human.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So the model sheet is kept as a reference, not used as a rater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Averaging it into the human scores would import guesses as judgements. One named human judge, said out loud, is more honest than a consensus that was never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Strategic context and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The hybrid model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ING blends the direct, feature-focused, mobile-first tone of a neobank with the institutional weight of a Tier-1 retail bank — regulatory authority and an established brand. 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Not yet verified against specific ING pages — confirm before presenting as a claim, not context.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A level playing field on regulation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like Revolut hold the same European banking licenses and face the same Belgian compliance checks — including the mandatory CCP credit-registry query for consumer lending. Their speed comes from modern architecture, no branch network, and faster decision loops — not lighter rules.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Different monetization engines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banks have long used the basic current account as a loss leader — a produit d'appel — to acquire clients and monetize later through mortgages, insurance and wealth management. Neobanks flip that: transparent freemium tiers, paid subscriptions, and transactional FX / fee income, upfront.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Who each side is chasing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Neobanks win volume among young adults, digital nomads and casual spenders. ING's acquisition budget targets high lifetime-value segments instead: first-time investors, expats and high-net-worth individuals, and first-time buyers in mortgage and real estate. Professional and business banking is out of scope for this comparison — retail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382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Traditional↔challenger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positioning score 0.28 across 14 banks, and its nearest </a:t>
            </a:r>
            <a:r>
              <a:rPr sz="1300" b="0" dirty="0" err="1">
                <a:solidFill>
                  <a:srgbClr val="585868"/>
                </a:solidFill>
                <a:latin typeface="Helvetica Neue"/>
              </a:rPr>
              <a:t>neighbour</a:t>
            </a:r>
            <a:r>
              <a:rPr sz="1300" b="0" dirty="0">
                <a:solidFill>
                  <a:srgbClr val="585868"/>
                </a:solidFill>
                <a:latin typeface="Helvetica Neue"/>
              </a:rPr>
              <a:t> is Belfius.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Deadline language: 4.0 markers vs peers 0.6 (+3.69 SD) — the largest gap in the set · Persuasion levers used: 3.7 vs 1.7 (+2.46 SD, rubric) · The offer feels worth having: 5.0 vs 3.7 (+1.46 SD, rubric) · Claims fast digital onboarding: 0.67 vs 0.15 (+1.42 SD) · Page height: 11,149px vs 6,412px (+1.42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</a:t>
            </a:r>
            <a:r>
              <a:rPr sz="1500" b="1" dirty="0">
                <a:solidFill>
                  <a:srgbClr val="FF0000"/>
                </a:solidFill>
                <a:latin typeface="Helvetica Neue"/>
              </a:rPr>
              <a:t>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FF0000"/>
                </a:solidFill>
                <a:latin typeface="Helvetica Neue"/>
              </a:rPr>
              <a:t>     Animation: 0.33 vs peers 0.62 (-0.58 SD) — the one measured place ING sits below the set. Calls to action are NOT reportable on this capture and are withheld rather than reported: ING’s pack cards (Open ING Go / More / Extra) load client-side and are absent from the captured HTML, so any count measures our capture, not the page.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Traditional pages are brighter (d = -2.36) and show more without scrolling (d = -2.12); challengers are far likelier to show a rate and to frame the account as a subscription (each d = +2.00), and to target expats (d = +1.23).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 dirty="0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dirty="0">
                <a:solidFill>
                  <a:srgbClr val="585868"/>
                </a:solidFill>
                <a:latin typeface="Helvetica Neue"/>
              </a:rPr>
              <a:t>     These are descriptive effect sizes over 14 banks, not significance tests. The rubric-sourced ones rest on a single judged sheet, and the deadline count was re-derived from the stored pages — all 14 banks re-measured with the same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KBC leads; ING and Belfius are level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KBC</a:t>
            </a:r>
          </a:p>
        </p:txBody>
      </p:sp>
      <p:sp>
        <p:nvSpPr>
          <p:cNvPr id="5" name="Rect"/>
          <p:cNvSpPr/>
          <p:nvPr/>
        </p:nvSpPr>
        <p:spPr>
          <a:xfrm>
            <a:off x="2692400" y="1369040"/>
            <a:ext cx="35560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6299200" y="1325880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21.30%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57730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4141C"/>
                </a:solidFill>
                <a:latin typeface="Helvetica Neue"/>
              </a:rPr>
              <a:t>Belfius</a:t>
            </a:r>
          </a:p>
        </p:txBody>
      </p:sp>
      <p:sp>
        <p:nvSpPr>
          <p:cNvPr id="8" name="Rect"/>
          <p:cNvSpPr/>
          <p:nvPr/>
        </p:nvSpPr>
        <p:spPr>
          <a:xfrm>
            <a:off x="2692400" y="1620461"/>
            <a:ext cx="3079750" cy="152400"/>
          </a:xfrm>
          <a:prstGeom prst="rect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TextBox"/>
          <p:cNvSpPr txBox="1"/>
          <p:nvPr/>
        </p:nvSpPr>
        <p:spPr>
          <a:xfrm>
            <a:off x="6299200" y="157730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18.44%</a:t>
            </a:r>
          </a:p>
        </p:txBody>
      </p:sp>
      <p:sp>
        <p:nvSpPr>
          <p:cNvPr id="10" name="TextBox"/>
          <p:cNvSpPr txBox="1"/>
          <p:nvPr/>
        </p:nvSpPr>
        <p:spPr>
          <a:xfrm>
            <a:off x="685800" y="182872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6200"/>
                </a:solidFill>
                <a:latin typeface="Helvetica Neue"/>
              </a:rPr>
              <a:t>ING</a:t>
            </a:r>
          </a:p>
        </p:txBody>
      </p:sp>
      <p:sp>
        <p:nvSpPr>
          <p:cNvPr id="11" name="Rect"/>
          <p:cNvSpPr/>
          <p:nvPr/>
        </p:nvSpPr>
        <p:spPr>
          <a:xfrm>
            <a:off x="2692400" y="1871881"/>
            <a:ext cx="3028950" cy="152400"/>
          </a:xfrm>
          <a:prstGeom prst="rect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extBox"/>
          <p:cNvSpPr txBox="1"/>
          <p:nvPr/>
        </p:nvSpPr>
        <p:spPr>
          <a:xfrm>
            <a:off x="6299200" y="182872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18.13%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080141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BNP Paribas Fortis</a:t>
            </a:r>
          </a:p>
        </p:txBody>
      </p:sp>
      <p:sp>
        <p:nvSpPr>
          <p:cNvPr id="14" name="Rect"/>
          <p:cNvSpPr/>
          <p:nvPr/>
        </p:nvSpPr>
        <p:spPr>
          <a:xfrm>
            <a:off x="2692400" y="2123301"/>
            <a:ext cx="25717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TextBox"/>
          <p:cNvSpPr txBox="1"/>
          <p:nvPr/>
        </p:nvSpPr>
        <p:spPr>
          <a:xfrm>
            <a:off x="6299200" y="2080141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15.40%</a:t>
            </a:r>
          </a:p>
        </p:txBody>
      </p:sp>
      <p:sp>
        <p:nvSpPr>
          <p:cNvPr id="16" name="TextBox"/>
          <p:cNvSpPr txBox="1"/>
          <p:nvPr/>
        </p:nvSpPr>
        <p:spPr>
          <a:xfrm>
            <a:off x="685800" y="233156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Argenta</a:t>
            </a:r>
          </a:p>
        </p:txBody>
      </p:sp>
      <p:sp>
        <p:nvSpPr>
          <p:cNvPr id="17" name="Rect"/>
          <p:cNvSpPr/>
          <p:nvPr/>
        </p:nvSpPr>
        <p:spPr>
          <a:xfrm>
            <a:off x="2692400" y="2374722"/>
            <a:ext cx="15303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Box"/>
          <p:cNvSpPr txBox="1"/>
          <p:nvPr/>
        </p:nvSpPr>
        <p:spPr>
          <a:xfrm>
            <a:off x="6299200" y="233156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9.18%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58298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Crelan</a:t>
            </a:r>
          </a:p>
        </p:txBody>
      </p:sp>
      <p:sp>
        <p:nvSpPr>
          <p:cNvPr id="20" name="Rect"/>
          <p:cNvSpPr/>
          <p:nvPr/>
        </p:nvSpPr>
        <p:spPr>
          <a:xfrm>
            <a:off x="2692400" y="2626142"/>
            <a:ext cx="118110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TextBox"/>
          <p:cNvSpPr txBox="1"/>
          <p:nvPr/>
        </p:nvSpPr>
        <p:spPr>
          <a:xfrm>
            <a:off x="6299200" y="258298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7.07%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685800" y="2834402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Beobank</a:t>
            </a:r>
          </a:p>
        </p:txBody>
      </p:sp>
      <p:sp>
        <p:nvSpPr>
          <p:cNvPr id="23" name="Rect"/>
          <p:cNvSpPr/>
          <p:nvPr/>
        </p:nvSpPr>
        <p:spPr>
          <a:xfrm>
            <a:off x="2692400" y="2877562"/>
            <a:ext cx="7429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TextBox"/>
          <p:cNvSpPr txBox="1"/>
          <p:nvPr/>
        </p:nvSpPr>
        <p:spPr>
          <a:xfrm>
            <a:off x="6299200" y="2834402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4.46%</a:t>
            </a:r>
          </a:p>
        </p:txBody>
      </p:sp>
      <p:sp>
        <p:nvSpPr>
          <p:cNvPr id="25" name="TextBox"/>
          <p:cNvSpPr txBox="1"/>
          <p:nvPr/>
        </p:nvSpPr>
        <p:spPr>
          <a:xfrm>
            <a:off x="685800" y="308582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CBC *</a:t>
            </a:r>
          </a:p>
        </p:txBody>
      </p:sp>
      <p:sp>
        <p:nvSpPr>
          <p:cNvPr id="26" name="Rect"/>
          <p:cNvSpPr/>
          <p:nvPr/>
        </p:nvSpPr>
        <p:spPr>
          <a:xfrm>
            <a:off x="2692400" y="3128983"/>
            <a:ext cx="3429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TextBox"/>
          <p:cNvSpPr txBox="1"/>
          <p:nvPr/>
        </p:nvSpPr>
        <p:spPr>
          <a:xfrm>
            <a:off x="6299200" y="308582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2.05%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333724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Revolut</a:t>
            </a:r>
          </a:p>
        </p:txBody>
      </p:sp>
      <p:sp>
        <p:nvSpPr>
          <p:cNvPr id="29" name="Rect"/>
          <p:cNvSpPr/>
          <p:nvPr/>
        </p:nvSpPr>
        <p:spPr>
          <a:xfrm>
            <a:off x="2692400" y="3380403"/>
            <a:ext cx="273050" cy="1524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TextBox"/>
          <p:cNvSpPr txBox="1"/>
          <p:nvPr/>
        </p:nvSpPr>
        <p:spPr>
          <a:xfrm>
            <a:off x="6299200" y="333724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685800" y="3588663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VDK Bank *</a:t>
            </a:r>
          </a:p>
        </p:txBody>
      </p:sp>
      <p:sp>
        <p:nvSpPr>
          <p:cNvPr id="32" name="Rect"/>
          <p:cNvSpPr/>
          <p:nvPr/>
        </p:nvSpPr>
        <p:spPr>
          <a:xfrm>
            <a:off x="2692400" y="3631823"/>
            <a:ext cx="2095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Box"/>
          <p:cNvSpPr txBox="1"/>
          <p:nvPr/>
        </p:nvSpPr>
        <p:spPr>
          <a:xfrm>
            <a:off x="6299200" y="3588663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1.24%</a:t>
            </a:r>
          </a:p>
        </p:txBody>
      </p:sp>
      <p:sp>
        <p:nvSpPr>
          <p:cNvPr id="34" name="TextBox"/>
          <p:cNvSpPr txBox="1"/>
          <p:nvPr/>
        </p:nvSpPr>
        <p:spPr>
          <a:xfrm>
            <a:off x="685800" y="384008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Keytrade Bank *</a:t>
            </a:r>
          </a:p>
        </p:txBody>
      </p:sp>
      <p:sp>
        <p:nvSpPr>
          <p:cNvPr id="35" name="Rect"/>
          <p:cNvSpPr/>
          <p:nvPr/>
        </p:nvSpPr>
        <p:spPr>
          <a:xfrm>
            <a:off x="2692400" y="3883244"/>
            <a:ext cx="698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TextBox"/>
          <p:cNvSpPr txBox="1"/>
          <p:nvPr/>
        </p:nvSpPr>
        <p:spPr>
          <a:xfrm>
            <a:off x="6299200" y="384008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0.41%</a:t>
            </a:r>
          </a:p>
        </p:txBody>
      </p:sp>
      <p:sp>
        <p:nvSpPr>
          <p:cNvPr id="37" name="TextBox"/>
          <p:cNvSpPr txBox="1"/>
          <p:nvPr/>
        </p:nvSpPr>
        <p:spPr>
          <a:xfrm>
            <a:off x="685800" y="409150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Hello bank! *</a:t>
            </a:r>
          </a:p>
        </p:txBody>
      </p:sp>
      <p:sp>
        <p:nvSpPr>
          <p:cNvPr id="38" name="Rect"/>
          <p:cNvSpPr/>
          <p:nvPr/>
        </p:nvSpPr>
        <p:spPr>
          <a:xfrm>
            <a:off x="2692400" y="4134664"/>
            <a:ext cx="635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" name="TextBox"/>
          <p:cNvSpPr txBox="1"/>
          <p:nvPr/>
        </p:nvSpPr>
        <p:spPr>
          <a:xfrm>
            <a:off x="6299200" y="409150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0.37%</a:t>
            </a:r>
          </a:p>
        </p:txBody>
      </p:sp>
      <p:sp>
        <p:nvSpPr>
          <p:cNvPr id="40" name="TextBox"/>
          <p:cNvSpPr txBox="1"/>
          <p:nvPr/>
        </p:nvSpPr>
        <p:spPr>
          <a:xfrm>
            <a:off x="685800" y="4342924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N26 *</a:t>
            </a:r>
          </a:p>
        </p:txBody>
      </p:sp>
      <p:sp>
        <p:nvSpPr>
          <p:cNvPr id="41" name="Rect"/>
          <p:cNvSpPr/>
          <p:nvPr/>
        </p:nvSpPr>
        <p:spPr>
          <a:xfrm>
            <a:off x="2692400" y="4386084"/>
            <a:ext cx="5080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TextBox"/>
          <p:cNvSpPr txBox="1"/>
          <p:nvPr/>
        </p:nvSpPr>
        <p:spPr>
          <a:xfrm>
            <a:off x="6299200" y="4342924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0.29%</a:t>
            </a:r>
          </a:p>
        </p:txBody>
      </p:sp>
      <p:sp>
        <p:nvSpPr>
          <p:cNvPr id="43" name="TextBox"/>
          <p:cNvSpPr txBox="1"/>
          <p:nvPr/>
        </p:nvSpPr>
        <p:spPr>
          <a:xfrm>
            <a:off x="685800" y="4594345"/>
            <a:ext cx="19621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bunq *</a:t>
            </a:r>
          </a:p>
        </p:txBody>
      </p:sp>
      <p:sp>
        <p:nvSpPr>
          <p:cNvPr id="44" name="Rect"/>
          <p:cNvSpPr/>
          <p:nvPr/>
        </p:nvSpPr>
        <p:spPr>
          <a:xfrm>
            <a:off x="2692400" y="4637505"/>
            <a:ext cx="19050" cy="1524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TextBox"/>
          <p:cNvSpPr txBox="1"/>
          <p:nvPr/>
        </p:nvSpPr>
        <p:spPr>
          <a:xfrm>
            <a:off x="6299200" y="4594345"/>
            <a:ext cx="7493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0.01%</a:t>
            </a:r>
          </a:p>
        </p:txBody>
      </p:sp>
      <p:sp>
        <p:nvSpPr>
          <p:cNvPr id="46" name="RoundRect"/>
          <p:cNvSpPr/>
          <p:nvPr/>
        </p:nvSpPr>
        <p:spPr>
          <a:xfrm>
            <a:off x="7458075" y="1329055"/>
            <a:ext cx="3790950" cy="3526234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Box"/>
          <p:cNvSpPr txBox="1"/>
          <p:nvPr/>
        </p:nvSpPr>
        <p:spPr>
          <a:xfrm>
            <a:off x="7766050" y="1637030"/>
            <a:ext cx="327025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GAP BELFIUS – ING</a:t>
            </a:r>
          </a:p>
        </p:txBody>
      </p:sp>
      <p:sp>
        <p:nvSpPr>
          <p:cNvPr id="48" name="TextBox"/>
          <p:cNvSpPr txBox="1"/>
          <p:nvPr/>
        </p:nvSpPr>
        <p:spPr>
          <a:xfrm>
            <a:off x="7766050" y="1977351"/>
            <a:ext cx="3270250" cy="69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FF6200"/>
                </a:solidFill>
                <a:latin typeface="Helvetica Neue"/>
              </a:rPr>
              <a:t>0.31 pts</a:t>
            </a:r>
          </a:p>
        </p:txBody>
      </p:sp>
      <p:sp>
        <p:nvSpPr>
          <p:cNvPr id="49" name="TextBox"/>
          <p:cNvSpPr txBox="1"/>
          <p:nvPr/>
        </p:nvSpPr>
        <p:spPr>
          <a:xfrm>
            <a:off x="7766050" y="2774871"/>
            <a:ext cx="3270250" cy="1020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Removing one raw point per week from Belfius brings it to 18.15% — ING’s own figure. Read them as level, not ING in third.</a:t>
            </a:r>
          </a:p>
        </p:txBody>
      </p:sp>
      <p:sp>
        <p:nvSpPr>
          <p:cNvPr id="50" name="Rect"/>
          <p:cNvSpPr/>
          <p:nvPr/>
        </p:nvSpPr>
        <p:spPr>
          <a:xfrm>
            <a:off x="7766050" y="3897234"/>
            <a:ext cx="3048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TextBox"/>
          <p:cNvSpPr txBox="1"/>
          <p:nvPr/>
        </p:nvSpPr>
        <p:spPr>
          <a:xfrm>
            <a:off x="7766050" y="4049634"/>
            <a:ext cx="3270250" cy="523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Incumbents 97.6% · challengers 2.3% of brand search</a:t>
            </a:r>
          </a:p>
        </p:txBody>
      </p:sp>
      <p:sp>
        <p:nvSpPr>
          <p:cNvPr id="52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of brand search, 261 weeks, Sep 2021 – Sep 2026 · * too low-volume to read share or change</a:t>
            </a:r>
          </a:p>
        </p:txBody>
      </p:sp>
      <p:sp>
        <p:nvSpPr>
          <p:cNvPr id="53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54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Where the banks to benchmark come from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685800" y="1564580"/>
          <a:ext cx="10566400" cy="3233439"/>
        </p:xfrm>
        <a:graphic>
          <a:graphicData uri="http://schemas.openxmlformats.org/drawingml/2006/table">
            <a:tbl>
              <a:tblPr/>
              <a:tblGrid>
                <a:gridCol w="211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6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Bank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2021–22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2025–26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Change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Direction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4141C"/>
                          </a:solidFill>
                          <a:latin typeface="Helvetica Neue"/>
                        </a:rPr>
                        <a:t>Selected as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KBC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21.75%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20.13%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−1.62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−2.8%/yr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Largest traditional share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Belfius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18.21%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18.79%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+0.58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+0.9%/yr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endParaRPr/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ING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19.28%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16.79%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−2.49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−3.7%/yr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FF6200"/>
                          </a:solidFill>
                          <a:latin typeface="Helvetica Neue"/>
                        </a:rPr>
                        <a:t>Subject of the study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BNP Paribas Fortis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17.99%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13.60%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−4.39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Down −6.2%/yr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endParaRPr/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Argenta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8.32%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9.42%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+1.10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+2.0%/yr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endParaRPr/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Crelan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5.12%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8.96%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+3.84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+16.4%/yr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Fastest-rising traditional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Beobank †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4.38%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4.34%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−0.04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Flat −1.3%/yr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endParaRPr/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Revolut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0.59%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3.22%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+2.63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0" dirty="0">
                          <a:solidFill>
                            <a:srgbClr val="14141C"/>
                          </a:solidFill>
                          <a:latin typeface="Helvetica Neue"/>
                        </a:rPr>
                        <a:t>Up +37.8%/yr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6200"/>
                          </a:solidFill>
                          <a:latin typeface="Helvetica Neue"/>
                        </a:rPr>
                        <a:t>Measurable challenger</a:t>
                      </a:r>
                    </a:p>
                  </a:txBody>
                  <a:tcPr marL="57785" marR="57785" marT="57785" marB="57785" anchor="ctr">
                    <a:lnL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Share per 52-week period · flat = within ±2%/yr, a convention, not a test · † direction flips without the first period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What their pages share that ING’s don’t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24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Mean of KBC, Crelan, Revolut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3423000" y="1325880"/>
            <a:ext cx="55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FF6200"/>
                </a:solidFill>
                <a:latin typeface="Helvetica Neue"/>
              </a:rPr>
              <a:t>●</a:t>
            </a:r>
            <a:r>
              <a:rPr sz="1200" b="0">
                <a:solidFill>
                  <a:srgbClr val="585868"/>
                </a:solidFill>
                <a:latin typeface="Helvetica Neue"/>
              </a:rPr>
              <a:t> ING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123000" y="1325880"/>
            <a:ext cx="2878127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Vertical tick = market average (z-score 0)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685800" y="18465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Images carry alt text</a:t>
            </a:r>
          </a:p>
        </p:txBody>
      </p:sp>
      <p:sp>
        <p:nvSpPr>
          <p:cNvPr id="8" name="Rect"/>
          <p:cNvSpPr/>
          <p:nvPr/>
        </p:nvSpPr>
        <p:spPr>
          <a:xfrm>
            <a:off x="3606800" y="19646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ect"/>
          <p:cNvSpPr/>
          <p:nvPr/>
        </p:nvSpPr>
        <p:spPr>
          <a:xfrm>
            <a:off x="4978400" y="18440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Oval"/>
          <p:cNvSpPr/>
          <p:nvPr/>
        </p:nvSpPr>
        <p:spPr>
          <a:xfrm>
            <a:off x="4178300" y="18821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Oval"/>
          <p:cNvSpPr/>
          <p:nvPr/>
        </p:nvSpPr>
        <p:spPr>
          <a:xfrm>
            <a:off x="7531100" y="18821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extBox"/>
          <p:cNvSpPr txBox="1"/>
          <p:nvPr/>
        </p:nvSpPr>
        <p:spPr>
          <a:xfrm>
            <a:off x="8686800" y="18643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+1.91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−0.52</a:t>
            </a:r>
          </a:p>
        </p:txBody>
      </p:sp>
      <p:sp>
        <p:nvSpPr>
          <p:cNvPr id="13" name="TextBox"/>
          <p:cNvSpPr txBox="1"/>
          <p:nvPr/>
        </p:nvSpPr>
        <p:spPr>
          <a:xfrm>
            <a:off x="685800" y="23799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Call-to-action contrast</a:t>
            </a:r>
          </a:p>
        </p:txBody>
      </p:sp>
      <p:sp>
        <p:nvSpPr>
          <p:cNvPr id="14" name="Rect"/>
          <p:cNvSpPr/>
          <p:nvPr/>
        </p:nvSpPr>
        <p:spPr>
          <a:xfrm>
            <a:off x="3606800" y="24980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Rect"/>
          <p:cNvSpPr/>
          <p:nvPr/>
        </p:nvSpPr>
        <p:spPr>
          <a:xfrm>
            <a:off x="4978400" y="23774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Oval"/>
          <p:cNvSpPr/>
          <p:nvPr/>
        </p:nvSpPr>
        <p:spPr>
          <a:xfrm>
            <a:off x="4425950" y="24155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Oval"/>
          <p:cNvSpPr/>
          <p:nvPr/>
        </p:nvSpPr>
        <p:spPr>
          <a:xfrm>
            <a:off x="6451600" y="24155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Box"/>
          <p:cNvSpPr txBox="1"/>
          <p:nvPr/>
        </p:nvSpPr>
        <p:spPr>
          <a:xfrm>
            <a:off x="8686800" y="23977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+1.13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−0.34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2913380"/>
            <a:ext cx="2747010" cy="2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Animated elements</a:t>
            </a:r>
          </a:p>
        </p:txBody>
      </p:sp>
      <p:sp>
        <p:nvSpPr>
          <p:cNvPr id="20" name="Rect"/>
          <p:cNvSpPr/>
          <p:nvPr/>
        </p:nvSpPr>
        <p:spPr>
          <a:xfrm>
            <a:off x="3606800" y="3031451"/>
            <a:ext cx="4826000" cy="12700"/>
          </a:xfrm>
          <a:prstGeom prst="rect">
            <a:avLst/>
          </a:prstGeom>
          <a:solidFill>
            <a:srgbClr val="D8D8E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Rect"/>
          <p:cNvSpPr/>
          <p:nvPr/>
        </p:nvSpPr>
        <p:spPr>
          <a:xfrm>
            <a:off x="4978400" y="2910801"/>
            <a:ext cx="12700" cy="254000"/>
          </a:xfrm>
          <a:prstGeom prst="rect">
            <a:avLst/>
          </a:prstGeom>
          <a:solidFill>
            <a:srgbClr val="A8A8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Oval"/>
          <p:cNvSpPr/>
          <p:nvPr/>
        </p:nvSpPr>
        <p:spPr>
          <a:xfrm>
            <a:off x="4140200" y="2948901"/>
            <a:ext cx="177800" cy="177800"/>
          </a:xfrm>
          <a:prstGeom prst="ellipse">
            <a:avLst/>
          </a:prstGeom>
          <a:solidFill>
            <a:srgbClr val="FF62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Oval"/>
          <p:cNvSpPr/>
          <p:nvPr/>
        </p:nvSpPr>
        <p:spPr>
          <a:xfrm>
            <a:off x="6064250" y="2948901"/>
            <a:ext cx="177800" cy="177800"/>
          </a:xfrm>
          <a:prstGeom prst="ellipse">
            <a:avLst/>
          </a:prstGeom>
          <a:solidFill>
            <a:srgbClr val="14141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TextBox"/>
          <p:cNvSpPr txBox="1"/>
          <p:nvPr/>
        </p:nvSpPr>
        <p:spPr>
          <a:xfrm>
            <a:off x="8686800" y="2931141"/>
            <a:ext cx="1500000" cy="23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4141C"/>
                </a:solidFill>
                <a:latin typeface="Helvetica Neue"/>
              </a:rPr>
              <a:t>+0.85 vs </a:t>
            </a:r>
            <a:r>
              <a:rPr sz="1200" b="0">
                <a:solidFill>
                  <a:srgbClr val="FF6200"/>
                </a:solidFill>
                <a:latin typeface="Helvetica Neue"/>
              </a:rPr>
              <a:t>−0.55</a:t>
            </a:r>
          </a:p>
        </p:txBody>
      </p:sp>
      <p:sp>
        <p:nvSpPr>
          <p:cNvPr id="25" name="RoundRect"/>
          <p:cNvSpPr/>
          <p:nvPr/>
        </p:nvSpPr>
        <p:spPr>
          <a:xfrm>
            <a:off x="685800" y="3469601"/>
            <a:ext cx="10566400" cy="1150000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Box"/>
          <p:cNvSpPr txBox="1"/>
          <p:nvPr/>
        </p:nvSpPr>
        <p:spPr>
          <a:xfrm>
            <a:off x="958850" y="3672801"/>
            <a:ext cx="100203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14141C"/>
                </a:solidFill>
                <a:latin typeface="Helvetica Neue"/>
              </a:rPr>
              <a:t>Selected on search attention alone. </a:t>
            </a:r>
            <a:r>
              <a:rPr sz="1400" b="0">
                <a:solidFill>
                  <a:srgbClr val="14141C"/>
                </a:solidFill>
                <a:latin typeface="Helvetica Neue"/>
              </a:rPr>
              <a:t>This shows what their pages measurably do differently — not why they are searched for.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958850" y="4272801"/>
            <a:ext cx="10020300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Pages measured: KBC 3 · Crelan 1 · Revolut 1. Beyond these three choices the brands diverge: no single recipe.</a:t>
            </a:r>
          </a:p>
        </p:txBody>
      </p:sp>
      <p:sp>
        <p:nvSpPr>
          <p:cNvPr id="28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z-scores over the comparable page-feature set · today’s pages, not the pages of 2021–2025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30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Why challengers look small in search</a:t>
            </a:r>
          </a:p>
        </p:txBody>
      </p:sp>
      <p:sp>
        <p:nvSpPr>
          <p:cNvPr id="3" name="Rectangle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"/>
          <p:cNvSpPr txBox="1"/>
          <p:nvPr/>
        </p:nvSpPr>
        <p:spPr>
          <a:xfrm>
            <a:off x="685800" y="1325880"/>
            <a:ext cx="3921643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&gt; 1M</a:t>
            </a:r>
          </a:p>
        </p:txBody>
      </p:sp>
      <p:sp>
        <p:nvSpPr>
          <p:cNvPr id="5" name="TextBox"/>
          <p:cNvSpPr txBox="1"/>
          <p:nvPr/>
        </p:nvSpPr>
        <p:spPr>
          <a:xfrm>
            <a:off x="685800" y="2021801"/>
            <a:ext cx="3921643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Revolut private customers in Belgium, +~25,000/month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4899620" y="1960880"/>
            <a:ext cx="400000" cy="2996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>
                <a:solidFill>
                  <a:srgbClr val="585868"/>
                </a:solidFill>
                <a:latin typeface="Helvetica Neue"/>
              </a:rPr>
              <a:t>vs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5529858" y="1325880"/>
            <a:ext cx="1883664" cy="69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0">
                <a:solidFill>
                  <a:srgbClr val="14141C"/>
                </a:solidFill>
                <a:latin typeface="Helvetica Neue"/>
              </a:rPr>
              <a:t>1.64%</a:t>
            </a:r>
          </a:p>
        </p:txBody>
      </p:sp>
      <p:sp>
        <p:nvSpPr>
          <p:cNvPr id="8" name="TextBox"/>
          <p:cNvSpPr txBox="1"/>
          <p:nvPr/>
        </p:nvSpPr>
        <p:spPr>
          <a:xfrm>
            <a:off x="5529858" y="2021801"/>
            <a:ext cx="1883664" cy="23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of brand search, 9th of 14</a:t>
            </a:r>
          </a:p>
        </p:txBody>
      </p:sp>
      <p:sp>
        <p:nvSpPr>
          <p:cNvPr id="9" name="RoundRect"/>
          <p:cNvSpPr/>
          <p:nvPr/>
        </p:nvSpPr>
        <p:spPr>
          <a:xfrm>
            <a:off x="688975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895350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Navigational searches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895350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Incumbent searches include logins, branches, opening hours. A working hypothesis, not verified at query level.</a:t>
            </a:r>
          </a:p>
        </p:txBody>
      </p:sp>
      <p:sp>
        <p:nvSpPr>
          <p:cNvPr id="12" name="RoundRect"/>
          <p:cNvSpPr/>
          <p:nvPr/>
        </p:nvSpPr>
        <p:spPr>
          <a:xfrm>
            <a:off x="4278809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Box"/>
          <p:cNvSpPr txBox="1"/>
          <p:nvPr/>
        </p:nvSpPr>
        <p:spPr>
          <a:xfrm>
            <a:off x="4485184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App-first journeys</a:t>
            </a:r>
          </a:p>
        </p:txBody>
      </p:sp>
      <p:sp>
        <p:nvSpPr>
          <p:cNvPr id="14" name="TextBox"/>
          <p:cNvSpPr txBox="1"/>
          <p:nvPr/>
        </p:nvSpPr>
        <p:spPr>
          <a:xfrm>
            <a:off x="4485184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Sign-up via app stores and referral links, then daily app use without searching the name.</a:t>
            </a:r>
          </a:p>
        </p:txBody>
      </p:sp>
      <p:sp>
        <p:nvSpPr>
          <p:cNvPr id="15" name="RoundRect"/>
          <p:cNvSpPr/>
          <p:nvPr/>
        </p:nvSpPr>
        <p:spPr>
          <a:xfrm>
            <a:off x="7868741" y="2492296"/>
            <a:ext cx="3380284" cy="1758553"/>
          </a:xfrm>
          <a:prstGeom prst="roundRect">
            <a:avLst>
              <a:gd name="adj" fmla="val 2791"/>
            </a:avLst>
          </a:prstGeom>
          <a:solidFill>
            <a:srgbClr val="F7F7F9"/>
          </a:solidFill>
          <a:ln w="6350">
            <a:solidFill>
              <a:srgbClr val="D8D8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Box"/>
          <p:cNvSpPr txBox="1"/>
          <p:nvPr/>
        </p:nvSpPr>
        <p:spPr>
          <a:xfrm>
            <a:off x="8075116" y="2698671"/>
            <a:ext cx="3056560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Measurement floor</a:t>
            </a:r>
          </a:p>
        </p:txBody>
      </p:sp>
      <p:sp>
        <p:nvSpPr>
          <p:cNvPr id="17" name="TextBox"/>
          <p:cNvSpPr txBox="1"/>
          <p:nvPr/>
        </p:nvSpPr>
        <p:spPr>
          <a:xfrm>
            <a:off x="8075116" y="3049112"/>
            <a:ext cx="3056560" cy="771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14141C"/>
                </a:solidFill>
                <a:latin typeface="Helvetica Neue"/>
              </a:rPr>
              <a:t>Six brands never clear 10/100 in their own request; their share is partly rounding.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685800" y="4508024"/>
            <a:ext cx="10883392" cy="299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14141C"/>
                </a:solidFill>
                <a:latin typeface="Helvetica Neue"/>
              </a:rPr>
              <a:t>Read challenger shares as a floor on attention, not a customer count.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Customer figure: Belga News Agency, 11 Mar 2026 (retrieved 21 Sep 2026) · never compared to a market-share figure</a:t>
            </a:r>
          </a:p>
        </p:txBody>
      </p:sp>
      <p:sp>
        <p:nvSpPr>
          <p:cNvPr id="20" name="TextBox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21" name="TextBox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recommendation system on top of the measurement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112764" y="1394460"/>
            <a:ext cx="5550408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nstephane/Dev/AI_Data_Science_training/ing-usecase/docs/deck_assets/rec_contr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426464"/>
            <a:ext cx="5486400" cy="27706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144768" y="42976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panel as the team sees it: one button, two opt-in contexts, and the run it produced.</a:t>
            </a:r>
            <a:endParaRPr lang="en-US" sz="1050" dirty="0"/>
          </a:p>
        </p:txBody>
      </p:sp>
      <p:pic>
        <p:nvPicPr>
          <p:cNvPr id="9" name="Image 1" descr="/Users/nstephane/Dev/AI_Data_Science_training/ing-usecase/docs/deck_assets/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609344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59105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model call over the finished analysis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883664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report.json only — the same numbers the charts are drawn from. This run turned 30 measured features across 14 banks into 11 ordered changes.</a:t>
            </a:r>
            <a:endParaRPr lang="en-US" sz="1150" dirty="0"/>
          </a:p>
        </p:txBody>
      </p:sp>
      <p:pic>
        <p:nvPicPr>
          <p:cNvPr id="12" name="Image 2" descr="/Users/nstephane/Dev/AI_Data_Science_training/ing-usecase/docs/deck_assets/icons/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2907792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889504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Ordered by priority, not by confidence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182112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high, 6 medium, 2 low. The order is the argument: what the measurement most supports acting on first.</a:t>
            </a:r>
            <a:endParaRPr lang="en-US" sz="1150" dirty="0"/>
          </a:p>
        </p:txBody>
      </p:sp>
      <p:pic>
        <p:nvPicPr>
          <p:cNvPr id="15" name="Image 3" descr="/Users/nstephane/Dev/AI_Data_Science_training/ing-usecase/docs/deck_assets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4206240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88720" y="418795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contexts, both opt-in and both marked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1188720" y="4480560"/>
            <a:ext cx="47823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 interest for timing, and news themes for reputation (3 of the 11 here). Context is never allowed to stand as evidence that a page performed.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144768" y="4809744"/>
            <a:ext cx="5486400" cy="1225296"/>
          </a:xfrm>
          <a:prstGeom prst="roundRect">
            <a:avLst>
              <a:gd name="adj" fmla="val 4478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3"/>
          <p:cNvSpPr txBox="1"/>
          <p:nvPr/>
        </p:nvSpPr>
        <p:spPr>
          <a:xfrm>
            <a:off x="6400800" y="4992624"/>
            <a:ext cx="4974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writes what to change. It does not re-derive a single number — that direction is one-way by design.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recommendation carries the evidence it was argued from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" y="1229868"/>
            <a:ext cx="6373368" cy="4178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/Users/nstephane/Dev/AI_Data_Science_training/ing-usecase/docs/deck_assets/rec_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261872"/>
            <a:ext cx="6309360" cy="4114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" y="548640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of the eleven, as the team reviews them.</a:t>
            </a:r>
            <a:endParaRPr lang="en-US" sz="1050" dirty="0"/>
          </a:p>
        </p:txBody>
      </p:sp>
      <p:pic>
        <p:nvPicPr>
          <p:cNvPr id="9" name="Image 1" descr="/Users/nstephane/Dev/AI_Data_Science_training/ing-usecase/docs/deck_assets/icons/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137160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27264" y="1353312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Finding and action, kept apart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827264" y="1645920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the data shows sits above what to do. A reader can reject our suggested action and still keep the measured finding.</a:t>
            </a:r>
            <a:endParaRPr lang="en-US" sz="1150" dirty="0"/>
          </a:p>
        </p:txBody>
      </p:sp>
      <p:pic>
        <p:nvPicPr>
          <p:cNvPr id="12" name="Image 2" descr="/Users/nstephane/Dev/AI_Data_Science_training/ing-usecase/docs/deck_assets/icons/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294436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827264" y="29260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Named features, checked before release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827264" y="3218688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card names the measured features it was argued from and the pages it applies to. Those ids are verified against the report — an invented one never leaves the module.</a:t>
            </a:r>
            <a:endParaRPr lang="en-US" sz="1150" dirty="0"/>
          </a:p>
        </p:txBody>
      </p:sp>
      <p:pic>
        <p:nvPicPr>
          <p:cNvPr id="15" name="Image 3" descr="/Users/nstephane/Dev/AI_Data_Science_training/ing-usecase/docs/deck_assets/icons/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0336" y="4517136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827264" y="449884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figure the analysis did not produce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7827264" y="4791456"/>
            <a:ext cx="3694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prompt receives only numbers already in the report, and the output is not trusted to add any.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concluded about 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77824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4.0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 markers per page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peer mean of 0.64 — about 3.7 standard deviations above the set, and ING's strongest measured signature.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80560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736592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11,149px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4736592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 height, against 6,412px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36592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ING's pages run about 74% longer than the set, so the offer sits further from the top.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39328" y="1517904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AFAFC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595360" y="16824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0.67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2505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‘free’ claims with conditions elsewhere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834640"/>
            <a:ext cx="3017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against a peer mean of 0.23 — the qualifying conditions are not adjacent to the claim they qualify.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9684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three it ranked highest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914400" y="4352544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Strip back urgency and deadline language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08192" y="4352544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urgency_marker_count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46904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88289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Bring the offer higher up the page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08192" y="4882896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page_height_px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77256"/>
            <a:ext cx="155448" cy="155448"/>
          </a:xfrm>
          <a:prstGeom prst="ellipse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14400" y="541324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Disclose the conditions of any free claim next to the claim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08192" y="541324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hidden_conditions_behind_free_claim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888736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observations, not performance findings. The pages span several product families and languages, the judged features come from a single rater, and no click or conversion data exists — so every item is a hypothesis ING could test.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 list of changes to a site you can actually look at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" y="1248156"/>
            <a:ext cx="6739128" cy="241401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26364" y="3808476"/>
            <a:ext cx="5184648" cy="2112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 txBox="1"/>
          <p:nvPr/>
        </p:nvSpPr>
        <p:spPr>
          <a:xfrm>
            <a:off x="658368" y="599846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Generated, never published: rates and amounts stay as [TAUX] and [MONTANT] placeholders.</a:t>
            </a:r>
            <a:endParaRPr lang="en-US" sz="1050" dirty="0"/>
          </a:p>
        </p:txBody>
      </p:sp>
      <p:pic>
        <p:nvPicPr>
          <p:cNvPr id="11" name="Image 2" descr="/Users/nstephane/Dev/AI_Data_Science_training/ing-usecase/docs/deck_assets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1408176"/>
            <a:ext cx="420624" cy="4206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66176" y="1389888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team chooses what gets built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8266176" y="1682496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recommendation is a checkbox. Nothing reaches the generator that a person did not tick.</a:t>
            </a:r>
            <a:endParaRPr lang="en-US" sz="1150" dirty="0"/>
          </a:p>
        </p:txBody>
      </p:sp>
      <p:pic>
        <p:nvPicPr>
          <p:cNvPr id="14" name="Image 3" descr="/Users/nstephane/Dev/AI_Data_Science_training/ing-usecase/docs/deck_assets/icons/win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2743200"/>
            <a:ext cx="420624" cy="4206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66176" y="2724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Ten ING-styled pages, in fr-BE or nl-BE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266176" y="30175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Home, savings, term account, current account, youth, investing, mortgage, opening, why ING, contact.</a:t>
            </a:r>
            <a:endParaRPr lang="en-US" sz="1150" dirty="0"/>
          </a:p>
        </p:txBody>
      </p:sp>
      <p:pic>
        <p:nvPicPr>
          <p:cNvPr id="17" name="Image 4" descr="/Users/nstephane/Dev/AI_Data_Science_training/ing-usecase/docs/deck_assets/icons/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9248" y="4078224"/>
            <a:ext cx="420624" cy="4206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66176" y="4059936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section can name its own source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8266176" y="4352544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explained mode, the orange blocks say which recommendation produced that section and why — so the site is auditable, not just persuasive.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7699248" y="548640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620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what makes the analysis arguable: a stakeholder can look at the change rather than read about it.</a:t>
            </a:r>
            <a:endParaRPr lang="en-US" sz="11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213E3A8-686B-ADF9-793A-FA97ACE978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272" y="1126676"/>
            <a:ext cx="4808435" cy="262900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FCDDED3-DA14-3BD9-5D9D-C450DEDB0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272" y="3808476"/>
            <a:ext cx="4808435" cy="22407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complete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Campaigns Comparator · ING DACI / Customer AI · September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09167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000" dirty="0"/>
          </a:p>
        </p:txBody>
      </p:sp>
      <p:pic>
        <p:nvPicPr>
          <p:cNvPr id="6" name="Image 0" descr="/Users/nstephane/Dev/AI_Data_Science_training/ing-usecase/docs/deck_assets/pipeline_comple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170432"/>
            <a:ext cx="10332720" cy="46817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32688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8586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Stages 1–5 are the measurement half shown in the main deck. Stages 6–8 are this one.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Four challengers against ten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are thinner than they look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All thirteen come from one judged sheet by one person, so single-judge bias is present and un-measured - there is no second sheet to measure it against. A finding resting on persuasion levers or accent placement is a hypothesis, not a reading.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Slides we did not walk through — here if you ask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endParaRPr sz="2000" b="0">
              <a:solidFill>
                <a:srgbClr val="D8D8E0"/>
              </a:solidFill>
              <a:latin typeface="Helvetica Neue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endParaRPr/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/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that a page or campaign performed. Asked whether reputation shows how well campaigns are doing, the honest answer is no: press coverage says what a bank is written about, not whether its page worked.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news themes (reputation context).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search-interest group was removed on 22/09; Trends now selects three brands on attention alone and the tab reports what their pages measurably do differently from ING's.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An illustration, not a proposal for ING's site: each section that implements a recommendation is boxed,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operator tabs, and what they refuse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Six read-only views, moved out of the Streamlit dashboard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Home, Bank profiles, Data, Rubric, Collection and Research now render in the same UI as the findings, from one snapshot the exporter writes: operations.json.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pipeline control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Collection is slow and needs a job model, and the robots.txt gate must stay server-side and non-overridable — so there is no 'run collection' button in a browser.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dataset or dictionary editing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dictionary is the frozen contract (P-04); a form that edited it would undo the freeze rule, and a form that edited an extracted feature would destroy its audit trail.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live scoring screen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Rubric tab shows finished sheets only. A screen that displayed a rater's neighbours would make the agreement figure measure visibility, not independent judgement (NFR-05).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One direction only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UI does no arithmetic: every number is computed in Python and handed over already labelled, so no figure on screen has a second definition.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endParaRPr sz="1300" b="0">
              <a:solidFill>
                <a:srgbClr val="585868"/>
              </a:solidFill>
              <a:latin typeface="Helvetica Neue"/>
            </a:endParaRP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The Streamlit file stays in the repository for share.streamlit.io; it is no longer the only place these views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Home: what was collected,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8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Four counts from the run, the validation verdict, every bank's status, and a download per deliverable.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Bank profiles: one bank, every measured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09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Palette, tone, imagery, layout, value proposition, the z-score signature, personas and the AI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Data: the dataset and the frozen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0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capture with its provenance, filterable and exportable, read against the 104-feature dictionary.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Rubric: the sheets, and where they disagree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1_ru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Every sheet, raw agreement, chance-corrected kappa, and the scoring guide — never merged into one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Collection: status, provenance and 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2_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Counts straight from the export, per-bank status, capture provenance, and the commands that produced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Research: sourcing a claim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13_re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127" y="132588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16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Semantic Scholar, on demand. Empty is reported as empty — a rate limit must not read as 'no evidence'.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Turn the rubric into a number you can quote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Finish the two-raters-per-bank split — it takes the comparison from 30 usable features to about 40 — and tighten the wording for the six features below the 60% bar before any judged feature carries a finding.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Fill the remaining sheet rows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Every bank now has its rows, including the two English pages restored on 23/09; what is missing is filled scores, not sheets.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 against the new snapshot.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Savings, mortgage, pension, investment and term accounts are already collected (52 pages, 6 families); comparing each family the same way is the next step, plus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6411</Words>
  <Application>Microsoft Macintosh PowerPoint</Application>
  <PresentationFormat>Widescreen</PresentationFormat>
  <Paragraphs>456</Paragraphs>
  <Slides>40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Aptos</vt:lpstr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Stephane van der Aa</cp:lastModifiedBy>
  <cp:revision>3</cp:revision>
  <dcterms:created xsi:type="dcterms:W3CDTF">2013-01-27T09:14:16Z</dcterms:created>
  <dcterms:modified xsi:type="dcterms:W3CDTF">2026-09-24T09:04:21Z</dcterms:modified>
  <cp:category/>
</cp:coreProperties>
</file>