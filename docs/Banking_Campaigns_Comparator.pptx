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2.xml" ContentType="application/vnd.openxmlformats-officedocument.presentationml.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4001"/>
    <p:sldId id="257" r:id="rId4002"/>
    <p:sldId id="258" r:id="rId4003"/>
    <p:sldId id="259" r:id="rId4004"/>
    <p:sldId id="260" r:id="rId4005"/>
    <p:sldId id="261" r:id="rId4006"/>
    <p:sldId id="262" r:id="rId4007"/>
    <p:sldId id="263" r:id="rId4008"/>
    <p:sldId id="264" r:id="rId4009"/>
    <p:sldId id="265" r:id="rId4010"/>
    <p:sldId id="266" r:id="rId4011"/>
    <p:sldId id="267" r:id="rId4012"/>
    <p:sldId id="268" r:id="rId4013"/>
    <p:sldId id="269" r:id="rId4014"/>
    <p:sldId id="270" r:id="rId4015"/>
    <p:sldId id="271" r:id="rId4016"/>
    <p:sldId id="272" r:id="rId4017"/>
    <p:sldId id="273" r:id="rId4018"/>
    <p:sldId id="274" r:id="rId4019"/>
    <p:sldId id="275" r:id="rId4020"/>
    <p:sldId id="276" r:id="rId4021"/>
    <p:sldId id="277" r:id="rId4022"/>
    <p:sldId id="278" r:id="rId4023"/>
    <p:sldId id="279" r:id="rId4024"/>
    <p:sldId id="280" r:id="rId4025"/>
    <p:sldId id="281" r:id="rId4026"/>
    <p:sldId id="282" r:id="rId4027"/>
    <p:sldId id="283" r:id="rId4028"/>
    <p:sldId id="284" r:id="rId4029"/>
    <p:sldId id="285" r:id="rId4030"/>
    <p:sldId id="286" r:id="rId4031"/>
    <p:sldId id="287" r:id="rId4032"/>
    <p:sldId id="288" r:id="rId4033"/>
    <p:sldId id="289" r:id="rId4034"/>
    <p:sldId id="290" r:id="rId4035"/>
    <p:sldId id="291" r:id="rId4036"/>
    <p:sldId id="292" r:id="rId4037"/>
    <p:sldId id="293" r:id="rId4038"/>
    <p:sldId id="294" r:id="rId4039"/>
    <p:sldId id="295" r:id="rId4040"/>
    <p:sldId id="296" r:id="rId4041"/>
    <p:sldId id="297" r:id="rId404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3" d="100"/>
          <a:sy n="113" d="100"/>
        </p:scale>
        <p:origin x="47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47" Type="http://schemas.openxmlformats.org/officeDocument/2006/relationships/tableStyles" Target="tableStyles.xml"/><Relationship Id="rId1" Type="http://schemas.openxmlformats.org/officeDocument/2006/relationships/slideMaster" Target="slideMasters/slideMaster1.xml"/><Relationship Id="rId45" Type="http://schemas.openxmlformats.org/officeDocument/2006/relationships/viewProps" Target="viewProps.xml"/><Relationship Id="rId44" Type="http://schemas.openxmlformats.org/officeDocument/2006/relationships/presProps" Target="presProps.xml"/><Relationship Id="rId43" Type="http://schemas.openxmlformats.org/officeDocument/2006/relationships/notesMaster" Target="notesMasters/notesMaster1.xml"/><Relationship Id="rId46" Type="http://schemas.openxmlformats.org/officeDocument/2006/relationships/theme" Target="theme/theme1.xml"/><Relationship Id="rId4001" Type="http://schemas.openxmlformats.org/officeDocument/2006/relationships/slide" Target="slides/slide1.xml"/><Relationship Id="rId4002" Type="http://schemas.openxmlformats.org/officeDocument/2006/relationships/slide" Target="slides/slide2.xml"/><Relationship Id="rId4003" Type="http://schemas.openxmlformats.org/officeDocument/2006/relationships/slide" Target="slides/slide3.xml"/><Relationship Id="rId4004" Type="http://schemas.openxmlformats.org/officeDocument/2006/relationships/slide" Target="slides/slide4.xml"/><Relationship Id="rId4005" Type="http://schemas.openxmlformats.org/officeDocument/2006/relationships/slide" Target="slides/slide5.xml"/><Relationship Id="rId4006" Type="http://schemas.openxmlformats.org/officeDocument/2006/relationships/slide" Target="slides/slide6.xml"/><Relationship Id="rId4007" Type="http://schemas.openxmlformats.org/officeDocument/2006/relationships/slide" Target="slides/slide7.xml"/><Relationship Id="rId4008" Type="http://schemas.openxmlformats.org/officeDocument/2006/relationships/slide" Target="slides/slide8.xml"/><Relationship Id="rId4009" Type="http://schemas.openxmlformats.org/officeDocument/2006/relationships/slide" Target="slides/slide9.xml"/><Relationship Id="rId4010" Type="http://schemas.openxmlformats.org/officeDocument/2006/relationships/slide" Target="slides/slide10.xml"/><Relationship Id="rId4011" Type="http://schemas.openxmlformats.org/officeDocument/2006/relationships/slide" Target="slides/slide11.xml"/><Relationship Id="rId4012" Type="http://schemas.openxmlformats.org/officeDocument/2006/relationships/slide" Target="slides/slide12.xml"/><Relationship Id="rId4013" Type="http://schemas.openxmlformats.org/officeDocument/2006/relationships/slide" Target="slides/slide42.xml"/><Relationship Id="rId4014" Type="http://schemas.openxmlformats.org/officeDocument/2006/relationships/slide" Target="slides/slide13.xml"/><Relationship Id="rId4015" Type="http://schemas.openxmlformats.org/officeDocument/2006/relationships/slide" Target="slides/slide14.xml"/><Relationship Id="rId4016" Type="http://schemas.openxmlformats.org/officeDocument/2006/relationships/slide" Target="slides/slide15.xml"/><Relationship Id="rId4017" Type="http://schemas.openxmlformats.org/officeDocument/2006/relationships/slide" Target="slides/slide16.xml"/><Relationship Id="rId4018" Type="http://schemas.openxmlformats.org/officeDocument/2006/relationships/slide" Target="slides/slide17.xml"/><Relationship Id="rId4019" Type="http://schemas.openxmlformats.org/officeDocument/2006/relationships/slide" Target="slides/slide18.xml"/><Relationship Id="rId4020" Type="http://schemas.openxmlformats.org/officeDocument/2006/relationships/slide" Target="slides/slide19.xml"/><Relationship Id="rId4021" Type="http://schemas.openxmlformats.org/officeDocument/2006/relationships/slide" Target="slides/slide20.xml"/><Relationship Id="rId4022" Type="http://schemas.openxmlformats.org/officeDocument/2006/relationships/slide" Target="slides/slide21.xml"/><Relationship Id="rId4023" Type="http://schemas.openxmlformats.org/officeDocument/2006/relationships/slide" Target="slides/slide22.xml"/><Relationship Id="rId4024" Type="http://schemas.openxmlformats.org/officeDocument/2006/relationships/slide" Target="slides/slide23.xml"/><Relationship Id="rId4025" Type="http://schemas.openxmlformats.org/officeDocument/2006/relationships/slide" Target="slides/slide24.xml"/><Relationship Id="rId4026" Type="http://schemas.openxmlformats.org/officeDocument/2006/relationships/slide" Target="slides/slide25.xml"/><Relationship Id="rId4027" Type="http://schemas.openxmlformats.org/officeDocument/2006/relationships/slide" Target="slides/slide26.xml"/><Relationship Id="rId4028" Type="http://schemas.openxmlformats.org/officeDocument/2006/relationships/slide" Target="slides/slide27.xml"/><Relationship Id="rId4029" Type="http://schemas.openxmlformats.org/officeDocument/2006/relationships/slide" Target="slides/slide28.xml"/><Relationship Id="rId4030" Type="http://schemas.openxmlformats.org/officeDocument/2006/relationships/slide" Target="slides/slide29.xml"/><Relationship Id="rId4031" Type="http://schemas.openxmlformats.org/officeDocument/2006/relationships/slide" Target="slides/slide30.xml"/><Relationship Id="rId4032" Type="http://schemas.openxmlformats.org/officeDocument/2006/relationships/slide" Target="slides/slide31.xml"/><Relationship Id="rId4033" Type="http://schemas.openxmlformats.org/officeDocument/2006/relationships/slide" Target="slides/slide32.xml"/><Relationship Id="rId4034" Type="http://schemas.openxmlformats.org/officeDocument/2006/relationships/slide" Target="slides/slide33.xml"/><Relationship Id="rId4035" Type="http://schemas.openxmlformats.org/officeDocument/2006/relationships/slide" Target="slides/slide34.xml"/><Relationship Id="rId4036" Type="http://schemas.openxmlformats.org/officeDocument/2006/relationships/slide" Target="slides/slide35.xml"/><Relationship Id="rId4037" Type="http://schemas.openxmlformats.org/officeDocument/2006/relationships/slide" Target="slides/slide36.xml"/><Relationship Id="rId4038" Type="http://schemas.openxmlformats.org/officeDocument/2006/relationships/slide" Target="slides/slide37.xml"/><Relationship Id="rId4039" Type="http://schemas.openxmlformats.org/officeDocument/2006/relationships/slide" Target="slides/slide38.xml"/><Relationship Id="rId4040" Type="http://schemas.openxmlformats.org/officeDocument/2006/relationships/slide" Target="slides/slide39.xml"/><Relationship Id="rId4041" Type="http://schemas.openxmlformats.org/officeDocument/2006/relationships/slide" Target="slides/slide40.xml"/><Relationship Id="rId4042"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AA65B6-A2CF-4CB4-ADA6-4FB12DC6F514}" type="datetimeFigureOut">
              <a:rPr lang="fr-BE" smtClean="0"/>
              <a:t>24-09-26</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8D499-DB7D-4F44-9C48-D7F5314CC23E}" type="slidenum">
              <a:rPr lang="fr-BE" smtClean="0"/>
              <a:t>‹#›</a:t>
            </a:fld>
            <a:endParaRPr lang="fr-BE"/>
          </a:p>
        </p:txBody>
      </p:sp>
    </p:spTree>
    <p:extLst>
      <p:ext uri="{BB962C8B-B14F-4D97-AF65-F5344CB8AC3E}">
        <p14:creationId xmlns:p14="http://schemas.microsoft.com/office/powerpoint/2010/main" val="155576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1 min.</a:t>
            </a:r>
          </a:p>
          <a:p>
            <a:r>
              <a:rPr lang="en-US" dirty="0"/>
              <a:t>"As part of the ING DACI two-week POC,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as guardrail before we start: we have zero click, conversion or performance data. Nothing here claims a design choice caused a commercial outcome - every recommendation is an argued hypothesis worth testing. Let's walk through what the data shows."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built - 45 s.</a:t>
            </a:r>
          </a:p>
          <a:p>
            <a:r>
              <a:rPr lang="en-US" dirty="0"/>
              <a:t>"One pipeline, one frozen contract, no second definition of any number: 51 pages, 14 banks, 6 product families. Automatic extraction where a machine can measure it, a human rubric where it's genuinely a judgement call, one web UI tying the two together. 420 automated tests guard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- 30 s.</a:t>
            </a:r>
          </a:p>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- 1 min.</a:t>
            </a:r>
          </a:p>
          <a:p>
            <a:r>
              <a:rPr lang="en-US" dirty="0"/>
              <a:t>"The comparison you'll see runs on eighteen of the 51 pages scored - the current-account pages - because comparing a mortgage page to a current-account page would measure the product, not the communication. The other thirty-three are scored and in the dataset, ready for the same comparison on savings or mortgages whenever you want it. Mostly Belgian French, with English and Dutch."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scoring - 1 min 15.</a:t>
            </a:r>
          </a:p>
          <a:p>
            <a:r>
              <a:rPr lang="en-US" dirty="0"/>
              <a:t>"13 features are judgements, not measurements - clarity of the offer, layout, persuasion technique. Only one human judge for this pass, and I say so plainly rather than dressing a single opinion up as a consensus.</a:t>
            </a:r>
          </a:p>
          <a:p>
            <a:r>
              <a:rPr lang="en-US" dirty="0"/>
              <a:t>We also have a model sheet, written to its own file and never into a human one. But it is not a second opinion, because our pinned model reads text; it has no vision. And 12 of our 13 judged features are defined in the dictionary as judged from the screenshot. Only one - formality - can honestly be scored from text, and there the model lands within one point of the human seventy-three percent of the time. On the 12 visual ones, its answers are confident answers to a question the text cannot always settle: on value proposition clarity it ranked the pages close to the opposite of the human.</a:t>
            </a:r>
          </a:p>
          <a:p>
            <a:r>
              <a:rPr lang="en-US" dirty="0"/>
              <a:t>So we keep it as a reference and we do not average it in. That's the difference between using a model and trusting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Strategic Context - 1 min 30.</a:t>
            </a:r>
          </a:p>
          <a:p>
            <a:r>
              <a:rPr lang="en-US" dirty="0"/>
              <a:t>"Before the numbers, some context on how these banks actually compete. ING sits at the near intersection of traditional institutions and digital natives - the direct, feature-focused, mobile-first tone of a neobank, campaigns like 'Do Your Thing', with the regulatory authority and established brand of a Tier-1 retail bank.</a:t>
            </a:r>
          </a:p>
          <a:p>
            <a:r>
              <a:rPr lang="en-US" dirty="0"/>
              <a:t>And contrary to a common assumption: neobanks like Revolut aren't operating with fewer rules. Same European banking licences, same Belgian compliance checks. Their speed isn't regulatory shortcuts, it's architecture: modern systems, no branch network, faster decision loops.</a:t>
            </a:r>
          </a:p>
          <a:p>
            <a:r>
              <a:rPr lang="en-US" dirty="0"/>
              <a:t>That shows up in how each side makes money. Traditional banks have long used the basic current account as a loss leader to bring someone in and monetize later through mortgages, insurance, wealth management. Neobanks flip it: freemium tiers, free or paid subscriptions, FX and fee income, upfront.</a:t>
            </a:r>
          </a:p>
          <a:p>
            <a:r>
              <a:rPr lang="en-US" dirty="0"/>
              <a:t>And the targeting differs. Neobanks win volume at the top of the funnel - young adults, digital nomads, casual spenders. ING's budget concentrates on high lifetime-value segments: first-time investors, expats and high-net-worth individuals, first-time buyers. Professional and business banking is out of scope here - retail only."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analysis found - 1 min 30.</a:t>
            </a:r>
          </a:p>
          <a:p>
            <a:r>
              <a:rPr lang="en-US" dirty="0"/>
              <a:t>"On current-account packs: 18 pages, 14 banks.</a:t>
            </a:r>
          </a:p>
          <a:p>
            <a:r>
              <a:rPr lang="en-US" dirty="0"/>
              <a:t>ING sits clearly with the traditional banks - positioning score 0.28, nearest neighbour Belfius.</a:t>
            </a:r>
          </a:p>
          <a:p>
            <a:r>
              <a:rPr lang="en-US" dirty="0"/>
              <a:t>Its largest gap, above every other bank in the set: deadline language. Four dated deadlines per page against a peer average of 0.6. ING is the only bank in this dataset whose captured pages carry an expiry date at all - every date on a competitor page is an effective-from date or a cookie-policy timestamp.</a:t>
            </a:r>
          </a:p>
          <a:p>
            <a:r>
              <a:rPr lang="en-US" dirty="0"/>
              <a:t>Then persuasion technique density, 3.7 against 1.7. Clarity of the value proposition, 5.0 against 3.7. A fast-digital-onboarding claim four times more frequent than peers. Pages roughly twice as long, 11,000 pixels against 6,400.</a:t>
            </a:r>
          </a:p>
          <a:p>
            <a:r>
              <a:rPr lang="en-US" dirty="0"/>
              <a:t>One place we're deliberately not giving you a number: calls to action. ING's pack cards load client-side and aren't in our captured HTML, so any count would measure our capture, not the page. We'd rather withhold it than report it."</a:t>
            </a:r>
          </a:p>
          <a:p>
            <a:r>
              <a:rPr lang="en-US" dirty="0"/>
              <a:t>CROSS-SELL, spoken, 30 s: "One human observation, labelled as such because our features don't capture it: ING pushes cross-sell noticeably harder - insurance grids, simulators on almost every page, Amazon Prime and cashback in the pack. What we can't measure yet is intensity. That's a feature worth adding, not a claim I'll make from a number today."</a:t>
            </a:r>
          </a:p>
          <a:p>
            <a:r>
              <a:rPr lang="en-US" dirty="0"/>
              <a:t>Then: Dan takes slides 9-12, trends, about 2 min. Stephane takes 13-17, recommendations and site, about 2 min 30.</a:t>
            </a:r>
          </a:p>
          <a:p>
            <a:r>
              <a:rPr lang="en-US" dirty="0"/>
              <a:t>CALLS TO ACTION, spoken, not on the slide: ING is 11th of 14 on the counted figure, 1.0 against a peer mean of 5.0 - but we do not publish that ranking, because no rule reproduces a human count on every bank. What the page itself shows is the point: ING's pack page carries nine clickable things and exactly one that opens an account, Se lancer, on a page eleven thousand pixels long. Plenty to click, almost nothing that converts.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- 30 s.</a:t>
            </a:r>
          </a:p>
          <a:p>
            <a:r>
              <a:rPr lang="en-US" dirty="0"/>
              <a:t>"Because we have no performance data, everything you've heard stays a hypothesis, not a verdict. That's the honest limit of this exercise, not a hedge."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Cloture - 45 s.</a:t>
            </a:r>
          </a:p>
          <a:p>
            <a:r>
              <a:rPr lang="en-US" dirty="0"/>
              <a:t>"What we built over two weeks isn't a set of creative opinions, it's a repeatable measurement engine. It gives ING a clear, data-backed view of where its pages stand against 13 competitors - the strongest urgency and persuasion density in the market, a clear lead in value-proposition clarity, visible strength in cross-sell and free simulators. And because we have no conversion data, we don't claim absolute verdicts - every finding is transparent, testable, ready for ING to validate. Measure one way. Label the trust. Claim only what the data supports."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slides 9–11: incumbents hold 97.6% of brand search, challengers 2.3%. This slide is the caveat before anyone reads that as market share.</a:t>
            </a:r>
          </a:p>
          <a:p>
            <a:r>
              <a:t>THE CONTRAST: Revolut reports more than 1 million private customers in Belgium, adding about 25,000 a month (Belga News Agency, 11 Mar 2026) — yet holds 1.64% of brand search, 9th of 14. Both are true; they measure different things.</a:t>
            </a:r>
          </a:p>
          <a:p>
            <a:r>
              <a:t>THREE REASONS search undercounts a challenger — none of them is "Revolut is small":</a:t>
            </a:r>
          </a:p>
          <a:p>
            <a:r>
              <a:t>1. Navigational searches. Incumbents are searched for logins, branches, opening hours. Say it as a working hypothesis — not verified at query level.</a:t>
            </a:r>
          </a:p>
          <a:p>
            <a:r>
              <a:t>2. App-first journeys. Sign-up through app stores and referral links, then daily use inside the app; the brand name is never typed.</a:t>
            </a:r>
          </a:p>
          <a:p>
            <a:r>
              <a:t>3. Measurement floor. Six of the 14 brands never clear 10/100 in their own Trends request, so their share is partly rounding. Revolut itself is above the floor (peak 19), so its 1.64% is a real reading.</a:t>
            </a:r>
          </a:p>
          <a:p>
            <a:r>
              <a:t>LAND: challenger shares are a floor on attention, not a customer count. The 1M figure is deliberately never set against a market-share figure.</a:t>
            </a:r>
          </a:p>
          <a:p>
            <a:r>
              <a:t>TRANSITION: search tells us who gets attention, not who wins. From here on we stop measuring and start advising.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FRAMING, say first: everything up to here measured. This is the one place in the project where a model is allowed to interpret; the next four slides are about how that is kept honest.</a:t>
            </a:r>
          </a:p>
          <a:p>
            <a:r>
              <a:t>WHAT IT IS: one model call (DeepSeek, pinned version) over the finished analysis. It reads report.json — the same file the charts are drawn from. Nothing is re-scraped, nothing is re-scored.</a:t>
            </a:r>
          </a:p>
          <a:p>
            <a:r>
              <a:t>WHAT COMES OUT: an ordered list of changes. Current run: ten — two high, six medium, two low. The order is the argument: what the measurement most supports acting on first. Ordered by priority, not by the model's confidence.</a:t>
            </a:r>
          </a:p>
          <a:p>
            <a:r>
              <a:t>TWO CONTEXTS (checkboxes in the screenshot), both opt-in, both labelled on every card they touch: search interest for timing, news themes for reputation — three of the ten. Context can never stand as evidence that a page performed.</a:t>
            </a:r>
          </a:p>
          <a:p>
            <a:r>
              <a:t>ORANGE BOX: it writes what to change; it never re-derives a number. One-way by design — if a figure is wrong the fix is upstream, and the next run carries it through.</a:t>
            </a:r>
          </a:p>
          <a:p>
            <a:r>
              <a:t>NOTE: the panel screenshot and the counts printed on this slide predate the cta_count withdrawal of 23/09 (11 → 10). Say ten.</a:t>
            </a:r>
          </a:p>
          <a:p>
            <a:r>
              <a:t>TRANSITION: here is what one of them looks like.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CARD (R1, top): title and priority · WHAT THE DATA SHOWS — the finding with its numbers: 4.0 urgency markers per page vs a peer mean of 0.64, about 3.7 SD · WHAT TO DO — the action · chips: the feature it was argued from (urgency_marker_count) and the pages it applies to.</a:t>
            </a:r>
          </a:p>
          <a:p>
            <a:r>
              <a:t>THREE GUARDRAILS (right column):</a:t>
            </a:r>
          </a:p>
          <a:p>
            <a:r>
              <a:t>1. Finding and action kept apart. Anyone can reject the action and keep the finding — nobody has to buy the advice to accept the measurement.</a:t>
            </a:r>
          </a:p>
          <a:p>
            <a:r>
              <a:t>2. Named features, checked before release. Every feature id on a card is verified against the report; an id the model invented is dropped before the list is shown.</a:t>
            </a:r>
          </a:p>
          <a:p>
            <a:r>
              <a:t>3. No figure the analysis did not produce. The prompt receives only numbers already in the report; the output is not trusted to add any.</a:t>
            </a:r>
          </a:p>
          <a:p>
            <a:r>
              <a:t>ONE LINE: the model is a writer, not a source.</a:t>
            </a:r>
          </a:p>
          <a:p>
            <a:r>
              <a:t>IF ASKED about R2 in the screenshot ("Repeat the primary call to action"): it rests on cta_count, withdrawn on 23/09 — ING's pack cards render client-side and never reached the captured HTML, so the count measured our capture, not the page. A recommendation dying with its feature is the mechanism working. The screenshot predates the withdrawal.</a:t>
            </a:r>
          </a:p>
          <a:p>
            <a:r>
              <a:t>TRANSITION: so what did it conclude about 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NUMBERS, all from the current-account comparison — 14 banks, 36 comparable features:</a:t>
            </a:r>
          </a:p>
          <a:p>
            <a:r>
              <a:t>1. 4.0 urgency and deadline markers per page vs a peer mean of 0.64 — about 3.7 SD above, the largest gap in the set and ING's strongest measured signature.</a:t>
            </a:r>
          </a:p>
          <a:p>
            <a:r>
              <a:t>2. Page height 11,149 px vs 6,412 — about 74% longer, so the offer sits further from the top (about 1.4 SD).</a:t>
            </a:r>
          </a:p>
          <a:p>
            <a:r>
              <a:t>3. 0.67 'free' claims with their conditions elsewhere vs 0.23 — where a free or no-fee claim appears, the qualifying conditions are not next to it.</a:t>
            </a:r>
          </a:p>
          <a:p>
            <a:r>
              <a:t>THE THREE IT RANKED HIGHEST: strip back urgency and deadline language · bring the offer higher up the page (the current run words it "shorten the pages and cut non-informative imagery" — same measure, page_height_px) · disclose the conditions of any free claim next to the claim.</a:t>
            </a:r>
          </a:p>
          <a:p>
            <a:r>
              <a:t>THE SHAPE: two of the three are about removing things. ING's pages carry the densest persuasion in the set (3.7 levers per page vs 1.7). The advice is restraint, not more features.</a:t>
            </a:r>
          </a:p>
          <a:p>
            <a:r>
              <a:t>CAVEAT — read it, do not skip it: design observations, not performance findings. Pages span product families and languages, judged features come from one rater, no click or conversion data — every item is a hypothesis ING could test.</a:t>
            </a:r>
          </a:p>
          <a:p>
            <a:r>
              <a:t>TRANSITION: a list is easy to nod at and forget. So we built the thing.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SCREEN: top — the generated home page in ING styling (hero, two calls to action). Bottom — one section in explained mode: orange frame, and the (i) button that opens the rationale for that section.</a:t>
            </a:r>
          </a:p>
          <a:p>
            <a:r>
              <a:t>THREE POINTS:</a:t>
            </a:r>
          </a:p>
          <a:p>
            <a:r>
              <a:t>1. The team chooses what gets built. Every recommendation is a checkbox; nothing reaches the generator that a person did not tick.</a:t>
            </a:r>
          </a:p>
          <a:p>
            <a:r>
              <a:t>2. Ten ING-styled pages, fr-BE or nl-BE: home, savings, term account, current account, youth, investing, mortgage, opening, why ING, contact.</a:t>
            </a:r>
          </a:p>
          <a:p>
            <a:r>
              <a:t>3. Each section can name its own source. Explained mode shows which recommendation produced the section and why — auditable, not just persuasive.</a:t>
            </a:r>
          </a:p>
          <a:p>
            <a:r>
              <a:t>SAY PLAINLY: an illustration — generated, never published, not a proposal for ING's site. Rates and amounts stay as [TAUX] and [MONTANT]: no figure appears that a compliance team has not supplied.</a:t>
            </a:r>
          </a:p>
          <a:p>
            <a:r>
              <a:t>ORANGE LINE: this is what makes the analysis arguable — a stakeholder can look at the change instead of reading about it. Invite it: "which of these would you untick?"</a:t>
            </a:r>
          </a:p>
          <a:p>
            <a:r>
              <a:t>TRANSITION: put together, the whole thing runs in one direction.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stages 1–5 — the measurement half already walked: sources → capture (robots gate, pages rendered as a visitor sees them) → dataset with the human rubric scores → analysis → surfaces (report.json, the web UI). One arrow carries report.json down.</a:t>
            </a:r>
          </a:p>
          <a:p>
            <a:r>
              <a:t>BOTTOM ROW, stages 6–8 — this section: recommendations (one model call, ordered list, each naming its features) → human selection (checkboxes; nothing proceeds unchosen) → generated site (ten pages, exactly the selected set, placeholders for every figure).</a:t>
            </a:r>
          </a:p>
          <a:p>
            <a:r>
              <a:t>GREY BAND — read it as one sentence: the model sees only numbers the analysis produced; every recommendation names its features and is checked before it leaves the module; nothing is built that a human did not tick; news-theme items are context, never evidence; no performance data exists, so nothing here claims a cause.</a:t>
            </a:r>
          </a:p>
          <a:p>
            <a:r>
              <a:t>WHY ONE DIRECTION MATTERS: every arrow is a script and can be re-run, so a correction made upstream flows all the way through. That is how the cta_count withdrawal propagated this week — once it was made in the analysis rather than patched into an output file.</a:t>
            </a:r>
          </a:p>
          <a:p>
            <a:r>
              <a:t>NOTE: the diagram's "11 of 11 selected" and "11 ordered changes" predate the withdrawal — ten now.</a:t>
            </a:r>
          </a:p>
          <a:p>
            <a:r>
              <a:t>TRANSITION to slide 18: that last guardrail — no performance data — is the limit of the whole project. Next slide.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4.png"/><Relationship Id="rId6"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3.png"/><Relationship Id="rId6"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10.png"/><Relationship Id="rId4" Type="http://schemas.openxmlformats.org/officeDocument/2006/relationships/image" Target="../media/image9.png"/><Relationship Id="rId7"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sz="1300" b="0" dirty="0">
                <a:solidFill>
                  <a:srgbClr val="A8A8B8"/>
                </a:solidFill>
                <a:latin typeface="Helvetica Neue"/>
              </a:rPr>
              <a:t>Siegried (marketing framework) · Dan (collection, extraction) · 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3"/>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collected and scored across 6 product families; this comparison runs on the 18 current-account pages, 14 banks, 36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judged feature can be scored from text at all</a:t>
            </a:r>
          </a:p>
          <a:p>
            <a:pPr algn="l">
              <a:lnSpc>
                <a:spcPct val="105000"/>
              </a:lnSpc>
              <a:spcAft>
                <a:spcPts val="1000"/>
              </a:spcAft>
            </a:pPr>
            <a:r>
              <a:rPr sz="1300" b="0">
                <a:solidFill>
                  <a:srgbClr val="585868"/>
                </a:solidFill>
                <a:latin typeface="Helvetica Neue"/>
              </a:rPr>
              <a:t>     formality_score, the only one the dictionary sources from html_text. On the 49 pages both scored, the model lands within one point of the human there 73% of the time. Its numbers on the twelve visual features are answers to a question the text cannot settle: value_prop_clarity is the clearest, where it ranked the pages close to the opposite of the human.</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0.28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3.7 vs 1.7 (+2.46 SD, rubric) · The offer feels worth having: 5.0 vs 3.7 (+1.46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Where ING is below</a:t>
            </a:r>
          </a:p>
          <a:p>
            <a:pPr algn="l">
              <a:lnSpc>
                <a:spcPct val="105000"/>
              </a:lnSpc>
              <a:spcAft>
                <a:spcPts val="1000"/>
              </a:spcAft>
            </a:pPr>
            <a:r>
              <a:rPr sz="1300" b="0" dirty="0">
                <a:solidFill>
                  <a:srgbClr val="585868"/>
                </a:solidFill>
                <a:latin typeface="Helvetica Neue"/>
              </a:rPr>
              <a:t>     Animation: 0.33 vs peers 0.62 (-0.58 SD) — the one measured place ING sits below the set. Calls to action are measured but not ranked here: no counting rule we tried reproduces a human count across all fourteen banks, so the figure is named rather than published.</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ING’s pages do that theirs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Deadline language</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8254999" y="1882101"/>
            <a:ext cx="177800" cy="177800"/>
          </a:xfrm>
          <a:prstGeom prst="ellipse">
            <a:avLst/>
          </a:prstGeom>
          <a:solidFill>
            <a:srgbClr val="FF6200"/>
          </a:solidFill>
          <a:ln>
            <a:noFill/>
          </a:ln>
        </p:spPr>
        <p:txBody>
          <a:bodyPr/>
          <a:lstStyle/>
          <a:p>
            <a:endParaRPr/>
          </a:p>
        </p:txBody>
      </p:sp>
      <p:sp>
        <p:nvSpPr>
          <p:cNvPr id="11" name="Oval"/>
          <p:cNvSpPr/>
          <p:nvPr/>
        </p:nvSpPr>
        <p:spPr>
          <a:xfrm>
            <a:off x="4431146"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−0.35 vs </a:t>
            </a:r>
            <a:r>
              <a:rPr sz="1200" b="0">
                <a:solidFill>
                  <a:srgbClr val="FF6200"/>
                </a:solidFill>
                <a:latin typeface="Helvetica Neue"/>
              </a:rPr>
              <a:t>+2.53</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Clarity of the offer</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6635172" y="2415501"/>
            <a:ext cx="177800" cy="177800"/>
          </a:xfrm>
          <a:prstGeom prst="ellipse">
            <a:avLst/>
          </a:prstGeom>
          <a:solidFill>
            <a:srgbClr val="FF6200"/>
          </a:solidFill>
          <a:ln>
            <a:noFill/>
          </a:ln>
        </p:spPr>
        <p:txBody>
          <a:bodyPr/>
          <a:lstStyle/>
          <a:p>
            <a:endParaRPr/>
          </a:p>
        </p:txBody>
      </p:sp>
      <p:sp>
        <p:nvSpPr>
          <p:cNvPr id="17" name="Oval"/>
          <p:cNvSpPr/>
          <p:nvPr/>
        </p:nvSpPr>
        <p:spPr>
          <a:xfrm>
            <a:off x="3979718"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−0.69 vs </a:t>
            </a:r>
            <a:r>
              <a:rPr sz="1200" b="0">
                <a:solidFill>
                  <a:srgbClr val="FF6200"/>
                </a:solidFill>
                <a:latin typeface="Helvetica Neue"/>
              </a:rPr>
              <a:t>+1.31</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Page length</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6595341" y="2948901"/>
            <a:ext cx="177800" cy="177800"/>
          </a:xfrm>
          <a:prstGeom prst="ellipse">
            <a:avLst/>
          </a:prstGeom>
          <a:solidFill>
            <a:srgbClr val="FF6200"/>
          </a:solidFill>
          <a:ln>
            <a:noFill/>
          </a:ln>
        </p:spPr>
        <p:txBody>
          <a:bodyPr/>
          <a:lstStyle/>
          <a:p>
            <a:endParaRPr/>
          </a:p>
        </p:txBody>
      </p:sp>
      <p:sp>
        <p:nvSpPr>
          <p:cNvPr id="23" name="Oval"/>
          <p:cNvSpPr/>
          <p:nvPr/>
        </p:nvSpPr>
        <p:spPr>
          <a:xfrm>
            <a:off x="4006273"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−0.67 vs </a:t>
            </a:r>
            <a:r>
              <a:rPr sz="1200" b="0">
                <a:solidFill>
                  <a:srgbClr val="FF6200"/>
                </a:solidFill>
                <a:latin typeface="Helvetica Neue"/>
              </a:rPr>
              <a:t>+1.28</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The three brands search attention picks out do the opposite of ING here — this is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3248382" cy="272832"/>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ontrols.png"/>
          <p:cNvPicPr>
            <a:picLocks noChangeAspect="1"/>
          </p:cNvPicPr>
          <p:nvPr/>
        </p:nvPicPr>
        <p:blipFill>
          <a:blip r:embed="rId2"/>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3"/>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30 measured features across 14 banks into 11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4"/>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3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11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ards.png"/>
          <p:cNvPicPr>
            <a:picLocks noChangeAspect="1"/>
          </p:cNvPicPr>
          <p:nvPr/>
        </p:nvPicPr>
        <p:blipFill>
          <a:blip r:embed="rId2"/>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3"/>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4"/>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sp>
      <p:pic>
        <p:nvPicPr>
          <p:cNvPr id="7" name="Image 0" descr="/Users/nstephane/Dev/AI_Data_Science_training/ing-usecase/docs/deck_assets/site_hero.png"/>
          <p:cNvPicPr>
            <a:picLocks noChangeAspect="1"/>
          </p:cNvPicPr>
          <p:nvPr/>
        </p:nvPicPr>
        <p:blipFill>
          <a:blip r:embed="rId2"/>
          <a:stretch>
            <a:fillRect/>
          </a:stretch>
        </p:blipFill>
        <p:spPr>
          <a:xfrm>
            <a:off x="658368" y="1280160"/>
            <a:ext cx="6675120" cy="2350008"/>
          </a:xfrm>
          <a:prstGeom prst="rect">
            <a:avLst/>
          </a:prstGeom>
        </p:spPr>
      </p:pic>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sp>
      <p:pic>
        <p:nvPicPr>
          <p:cNvPr id="9" name="Image 1" descr="/Users/nstephane/Dev/AI_Data_Science_training/ing-usecase/docs/deck_assets/site_explained.png"/>
          <p:cNvPicPr>
            <a:picLocks noChangeAspect="1"/>
          </p:cNvPicPr>
          <p:nvPr/>
        </p:nvPicPr>
        <p:blipFill>
          <a:blip r:embed="rId3"/>
          <a:stretch>
            <a:fillRect/>
          </a:stretch>
        </p:blipFill>
        <p:spPr>
          <a:xfrm>
            <a:off x="658368" y="3840480"/>
            <a:ext cx="5120640" cy="2048256"/>
          </a:xfrm>
          <a:prstGeom prst="rect">
            <a:avLst/>
          </a:prstGeom>
        </p:spPr>
      </p:pic>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4"/>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5"/>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6"/>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18</a:t>
            </a:r>
            <a:endParaRPr lang="en-US" sz="1000" dirty="0"/>
          </a:p>
        </p:txBody>
      </p:sp>
      <p:pic>
        <p:nvPicPr>
          <p:cNvPr id="6" name="Image 0" descr="/Users/nstephane/Dev/AI_Data_Science_training/ing-usecase/docs/deck_assets/pipeline_complete.png"/>
          <p:cNvPicPr>
            <a:picLocks noChangeAspect="1"/>
          </p:cNvPicPr>
          <p:nvPr/>
        </p:nvPicPr>
        <p:blipFill>
          <a:blip r:embed="rId2"/>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Turn the rubric into a number you can quote</a:t>
            </a:r>
          </a:p>
          <a:p>
            <a:pPr algn="l">
              <a:lnSpc>
                <a:spcPct val="105000"/>
              </a:lnSpc>
              <a:spcAft>
                <a:spcPts val="1000"/>
              </a:spcAft>
            </a:pPr>
            <a:r>
              <a:rPr sz="1300" b="0">
                <a:solidFill>
                  <a:srgbClr val="585868"/>
                </a:solidFill>
                <a:latin typeface="Helvetica Neue"/>
              </a:rPr>
              <a:t>     Finish the two-raters-per-bank split — it takes the comparison from 30 usable features to about 40 — and tighten the wording for the six features below the 60% bar before any judged feature carries a finding.</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42</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Where each brand is searched from</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Every challenger peaks in Brussels</a:t>
            </a:r>
          </a:p>
          <a:p>
            <a:pPr algn="l">
              <a:lnSpc>
                <a:spcPct val="105000"/>
              </a:lnSpc>
              <a:spcAft>
                <a:spcPts val="1000"/>
              </a:spcAft>
            </a:pPr>
            <a:r>
              <a:rPr sz="1300" b="0">
                <a:solidFill>
                  <a:srgbClr val="585868"/>
                </a:solidFill>
                <a:latin typeface="Helvetica Neue"/>
              </a:rPr>
              <a:t>     Revolut, N26 and bunq all index 100 in Brussels and drop away outside it — N26 to 27 in Flanders, bunq to 29 in Wallonia. Three brands, three different products, one geography.</a:t>
            </a:r>
          </a:p>
          <a:p>
            <a:pPr algn="l">
              <a:lnSpc>
                <a:spcPct val="105000"/>
              </a:lnSpc>
              <a:spcAft>
                <a:spcPts val="200"/>
              </a:spcAft>
            </a:pPr>
            <a:r>
              <a:rPr sz="1500" b="1">
                <a:solidFill>
                  <a:srgbClr val="14141C"/>
                </a:solidFill>
                <a:latin typeface="Helvetica Neue"/>
              </a:rPr>
              <a:t>•  Every incumbent is regional, and predictably so</a:t>
            </a:r>
          </a:p>
          <a:p>
            <a:pPr algn="l">
              <a:lnSpc>
                <a:spcPct val="105000"/>
              </a:lnSpc>
              <a:spcAft>
                <a:spcPts val="1000"/>
              </a:spcAft>
            </a:pPr>
            <a:r>
              <a:rPr sz="1300" b="0">
                <a:solidFill>
                  <a:srgbClr val="585868"/>
                </a:solidFill>
                <a:latin typeface="Helvetica Neue"/>
              </a:rPr>
              <a:t>     KBC indexes 100 in Flanders and 11 in Wallonia; Argenta 100 and 27. Belfius, BNP Paribas Fortis and Crelan all peak in Wallonia. Five of six sit exactly where their history put them, which is the sanity check on this data rather than the finding.</a:t>
            </a:r>
          </a:p>
          <a:p>
            <a:pPr algn="l">
              <a:lnSpc>
                <a:spcPct val="105000"/>
              </a:lnSpc>
              <a:spcAft>
                <a:spcPts val="200"/>
              </a:spcAft>
            </a:pPr>
            <a:r>
              <a:rPr sz="1500" b="1">
                <a:solidFill>
                  <a:srgbClr val="14141C"/>
                </a:solidFill>
                <a:latin typeface="Helvetica Neue"/>
              </a:rPr>
              <a:t>•  ING is the one incumbent that does not</a:t>
            </a:r>
          </a:p>
          <a:p>
            <a:pPr algn="l">
              <a:lnSpc>
                <a:spcPct val="105000"/>
              </a:lnSpc>
              <a:spcAft>
                <a:spcPts val="1000"/>
              </a:spcAft>
            </a:pPr>
            <a:r>
              <a:rPr sz="1300" b="0">
                <a:solidFill>
                  <a:srgbClr val="585868"/>
                </a:solidFill>
                <a:latin typeface="Helvetica Neue"/>
              </a:rPr>
              <a:t>     Brussels 100, Wallonia 98, Flanders 73 — national, with no regional home. On this measure ING behaves like the challengers and unlike the banks it sits with everywhere else in this deck.</a:t>
            </a:r>
          </a:p>
          <a:p>
            <a:pPr algn="l">
              <a:lnSpc>
                <a:spcPct val="105000"/>
              </a:lnSpc>
              <a:spcAft>
                <a:spcPts val="200"/>
              </a:spcAft>
            </a:pPr>
            <a:r>
              <a:rPr sz="1500" b="1">
                <a:solidFill>
                  <a:srgbClr val="14141C"/>
                </a:solidFill>
                <a:latin typeface="Helvetica Neue"/>
              </a:rPr>
              <a:t>•  A second signal pointing the same way, from a different source</a:t>
            </a:r>
          </a:p>
          <a:p>
            <a:pPr algn="l">
              <a:lnSpc>
                <a:spcPct val="105000"/>
              </a:lnSpc>
              <a:spcAft>
                <a:spcPts val="1000"/>
              </a:spcAft>
            </a:pPr>
            <a:r>
              <a:rPr sz="1300" b="0">
                <a:solidFill>
                  <a:srgbClr val="585868"/>
                </a:solidFill>
                <a:latin typeface="Helvetica Neue"/>
              </a:rPr>
              <a:t>     This comes from search behaviour, not from a single page feature, and it lands where the traditional↔challenger score already put ING: with the incumbents, leaning.</a:t>
            </a:r>
          </a:p>
          <a:p>
            <a:pPr algn="l">
              <a:lnSpc>
                <a:spcPct val="105000"/>
              </a:lnSpc>
              <a:spcAft>
                <a:spcPts val="200"/>
              </a:spcAft>
            </a:pPr>
            <a:r>
              <a:rPr sz="1500" b="1">
                <a:solidFill>
                  <a:srgbClr val="14141C"/>
                </a:solidFill>
                <a:latin typeface="Helvetica Neue"/>
              </a:rPr>
              <a:t>•  What it is not</a:t>
            </a:r>
          </a:p>
          <a:p>
            <a:pPr algn="l">
              <a:lnSpc>
                <a:spcPct val="105000"/>
              </a:lnSpc>
              <a:spcAft>
                <a:spcPts val="1000"/>
              </a:spcAft>
            </a:pPr>
            <a:r>
              <a:rPr sz="1300" b="0">
                <a:solidFill>
                  <a:srgbClr val="585868"/>
                </a:solidFill>
                <a:latin typeface="Helvetica Neue"/>
              </a:rPr>
              <a:t>     Where people search from, never what a campaign achieved. Google Trends indexes each brand against its own peak, so these are shapes to compare, not volumes.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Google Trends, Belgium, by region. Regional index 0–100 per brand, each brand normalised to its own maximum.</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TotalTime>
  <Words>6473</Words>
  <Application>Microsoft Office PowerPoint</Application>
  <PresentationFormat>Widescreen</PresentationFormat>
  <Paragraphs>455</Paragraphs>
  <Slides>41</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Siegried Camus</cp:lastModifiedBy>
  <cp:revision>4</cp:revision>
  <dcterms:created xsi:type="dcterms:W3CDTF">2013-01-27T09:14:16Z</dcterms:created>
  <dcterms:modified xsi:type="dcterms:W3CDTF">2026-09-24T08:16:03Z</dcterms:modified>
  <cp:category/>
</cp:coreProperties>
</file>