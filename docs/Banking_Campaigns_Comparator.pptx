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7" r:id="rId37"/>
    <p:sldId id="288" r:id="rId38"/>
    <p:sldId id="289" r:id="rId39"/>
    <p:sldId id="290" r:id="rId40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3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</a:t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>GenAI</a:t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measurement pipeline: 14 banks, 52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</a:t>
            </a:r>
            <a:r>
              <a:rPr sz="1500" b="0" dirty="0" err="1">
                <a:solidFill>
                  <a:srgbClr val="14141C"/>
                </a:solidFill>
                <a:latin typeface="Helvetica Neue"/>
              </a:rPr>
              <a:t>Streamlit</a:t>
            </a:r>
            <a:r>
              <a:rPr sz="1500" b="0" dirty="0">
                <a:solidFill>
                  <a:srgbClr val="14141C"/>
                </a:solidFill>
                <a:latin typeface="Helvetica Neue"/>
              </a:rPr>
              <a:t>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500" b="0" dirty="0">
              <a:solidFill>
                <a:srgbClr val="14141C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464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18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Argenta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Belfius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Beobank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BNP Paribas Fortis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bunq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CBC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Crelan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Hellobank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ING · KBC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Keytrade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N26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Revolut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Vdk</a:t>
            </a: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</a:t>
            </a:r>
            <a:endParaRPr lang="fr-FR"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Three independent human raters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Siegried, Dan and Stephane each keep their own sheet, split two-raters-per-bank rather than all three scoring all 52 pages. Per-rater counts move within the day; data/rubric/*_scores.csv is the live figure.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sheet is independent since 22/09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was machine-proposed and adopted until then. Checked directly on 22/09: none of his 13 overlapping pages match the model's output, so he now counts as an independent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Traditional↔challenger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positioning score 0.178 across 14 banks, and its nearest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neighbour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offer feels worth having: 4.3 vs peers 3.5 (+1.67 SD, rubric) · Persuasion levers used: 2.3 vs 1.3 (+1.61 SD, rubric) · Claims fast digital onboarding: 0.67 vs 0.15 (+1.42 SD) · Page height: 11,149px vs 6,412px (+1.42 SD) · Page brightness: 0.55 vs 0.34 (+1.40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</a:t>
            </a:r>
            <a:r>
              <a:rPr sz="1500" b="1" dirty="0">
                <a:solidFill>
                  <a:srgbClr val="FF0000"/>
                </a:solidFill>
                <a:latin typeface="Helvetica Neue"/>
              </a:rPr>
              <a:t>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Calls to action: 0.7 vs peers 5.6 (-1.00 SD) — still the largest negative gap. The earlier "2.0 vs 13.4" came from a counting bug that included navigation and footer links; re-derived 23/09.</a:t>
            </a:r>
            <a:endParaRPr sz="1300" b="0" dirty="0">
              <a:solidFill>
                <a:srgbClr val="FF0000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Coverage is partial and the overlap between any two raters is still thin,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KBC leads; ING and Belfius are level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KBC</a:t>
            </a:r>
          </a:p>
        </p:txBody>
      </p:sp>
      <p:sp>
        <p:nvSpPr>
          <p:cNvPr id="5" name="Rect"/>
          <p:cNvSpPr/>
          <p:nvPr/>
        </p:nvSpPr>
        <p:spPr>
          <a:xfrm>
            <a:off x="2692400" y="1369040"/>
            <a:ext cx="35560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6299200" y="1325880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21.30%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57730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4141C"/>
                </a:solidFill>
                <a:latin typeface="Helvetica Neue"/>
              </a:rPr>
              <a:t>Belfius</a:t>
            </a:r>
          </a:p>
        </p:txBody>
      </p:sp>
      <p:sp>
        <p:nvSpPr>
          <p:cNvPr id="8" name="Rect"/>
          <p:cNvSpPr/>
          <p:nvPr/>
        </p:nvSpPr>
        <p:spPr>
          <a:xfrm>
            <a:off x="2692400" y="1620461"/>
            <a:ext cx="3079750" cy="1524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6299200" y="157730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18.44%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85800" y="182872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6200"/>
                </a:solidFill>
                <a:latin typeface="Helvetica Neue"/>
              </a:rPr>
              <a:t>ING</a:t>
            </a:r>
          </a:p>
        </p:txBody>
      </p:sp>
      <p:sp>
        <p:nvSpPr>
          <p:cNvPr id="11" name="Rect"/>
          <p:cNvSpPr/>
          <p:nvPr/>
        </p:nvSpPr>
        <p:spPr>
          <a:xfrm>
            <a:off x="2692400" y="1871881"/>
            <a:ext cx="3028950" cy="1524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6299200" y="182872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18.13%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08014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BNP Paribas Fortis</a:t>
            </a:r>
          </a:p>
        </p:txBody>
      </p:sp>
      <p:sp>
        <p:nvSpPr>
          <p:cNvPr id="14" name="Rect"/>
          <p:cNvSpPr/>
          <p:nvPr/>
        </p:nvSpPr>
        <p:spPr>
          <a:xfrm>
            <a:off x="2692400" y="2123301"/>
            <a:ext cx="25717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6299200" y="208014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15.40%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233156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Argenta</a:t>
            </a:r>
          </a:p>
        </p:txBody>
      </p:sp>
      <p:sp>
        <p:nvSpPr>
          <p:cNvPr id="17" name="Rect"/>
          <p:cNvSpPr/>
          <p:nvPr/>
        </p:nvSpPr>
        <p:spPr>
          <a:xfrm>
            <a:off x="2692400" y="2374722"/>
            <a:ext cx="15303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6299200" y="233156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9.18%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58298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Crelan</a:t>
            </a:r>
          </a:p>
        </p:txBody>
      </p:sp>
      <p:sp>
        <p:nvSpPr>
          <p:cNvPr id="20" name="Rect"/>
          <p:cNvSpPr/>
          <p:nvPr/>
        </p:nvSpPr>
        <p:spPr>
          <a:xfrm>
            <a:off x="2692400" y="2626142"/>
            <a:ext cx="11811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6299200" y="258298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7.07%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85800" y="283440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Beobank</a:t>
            </a:r>
          </a:p>
        </p:txBody>
      </p:sp>
      <p:sp>
        <p:nvSpPr>
          <p:cNvPr id="23" name="Rect"/>
          <p:cNvSpPr/>
          <p:nvPr/>
        </p:nvSpPr>
        <p:spPr>
          <a:xfrm>
            <a:off x="2692400" y="2877562"/>
            <a:ext cx="7429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6299200" y="283440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4.46%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685800" y="308582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CBC *</a:t>
            </a:r>
          </a:p>
        </p:txBody>
      </p:sp>
      <p:sp>
        <p:nvSpPr>
          <p:cNvPr id="26" name="Rect"/>
          <p:cNvSpPr/>
          <p:nvPr/>
        </p:nvSpPr>
        <p:spPr>
          <a:xfrm>
            <a:off x="2692400" y="3128983"/>
            <a:ext cx="3429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6299200" y="308582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2.05%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333724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Revolut</a:t>
            </a:r>
          </a:p>
        </p:txBody>
      </p:sp>
      <p:sp>
        <p:nvSpPr>
          <p:cNvPr id="29" name="Rect"/>
          <p:cNvSpPr/>
          <p:nvPr/>
        </p:nvSpPr>
        <p:spPr>
          <a:xfrm>
            <a:off x="2692400" y="3380403"/>
            <a:ext cx="2730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6299200" y="333724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85800" y="358866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VDK Bank *</a:t>
            </a:r>
          </a:p>
        </p:txBody>
      </p:sp>
      <p:sp>
        <p:nvSpPr>
          <p:cNvPr id="32" name="Rect"/>
          <p:cNvSpPr/>
          <p:nvPr/>
        </p:nvSpPr>
        <p:spPr>
          <a:xfrm>
            <a:off x="2692400" y="3631823"/>
            <a:ext cx="2095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Box"/>
          <p:cNvSpPr txBox="1"/>
          <p:nvPr/>
        </p:nvSpPr>
        <p:spPr>
          <a:xfrm>
            <a:off x="6299200" y="358866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1.24%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685800" y="384008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Keytrade Bank *</a:t>
            </a:r>
          </a:p>
        </p:txBody>
      </p:sp>
      <p:sp>
        <p:nvSpPr>
          <p:cNvPr id="35" name="Rect"/>
          <p:cNvSpPr/>
          <p:nvPr/>
        </p:nvSpPr>
        <p:spPr>
          <a:xfrm>
            <a:off x="2692400" y="3883244"/>
            <a:ext cx="698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6299200" y="384008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0.41%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685800" y="409150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Hello bank! *</a:t>
            </a:r>
          </a:p>
        </p:txBody>
      </p:sp>
      <p:sp>
        <p:nvSpPr>
          <p:cNvPr id="38" name="Rect"/>
          <p:cNvSpPr/>
          <p:nvPr/>
        </p:nvSpPr>
        <p:spPr>
          <a:xfrm>
            <a:off x="2692400" y="4134664"/>
            <a:ext cx="635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Box"/>
          <p:cNvSpPr txBox="1"/>
          <p:nvPr/>
        </p:nvSpPr>
        <p:spPr>
          <a:xfrm>
            <a:off x="6299200" y="409150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0.37%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685800" y="434292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N26 *</a:t>
            </a:r>
          </a:p>
        </p:txBody>
      </p:sp>
      <p:sp>
        <p:nvSpPr>
          <p:cNvPr id="41" name="Rect"/>
          <p:cNvSpPr/>
          <p:nvPr/>
        </p:nvSpPr>
        <p:spPr>
          <a:xfrm>
            <a:off x="2692400" y="4386084"/>
            <a:ext cx="508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"/>
          <p:cNvSpPr txBox="1"/>
          <p:nvPr/>
        </p:nvSpPr>
        <p:spPr>
          <a:xfrm>
            <a:off x="6299200" y="434292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0.29%</a:t>
            </a:r>
          </a:p>
        </p:txBody>
      </p:sp>
      <p:sp>
        <p:nvSpPr>
          <p:cNvPr id="43" name="TextBox"/>
          <p:cNvSpPr txBox="1"/>
          <p:nvPr/>
        </p:nvSpPr>
        <p:spPr>
          <a:xfrm>
            <a:off x="685800" y="4594345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bunq *</a:t>
            </a:r>
          </a:p>
        </p:txBody>
      </p:sp>
      <p:sp>
        <p:nvSpPr>
          <p:cNvPr id="44" name="Rect"/>
          <p:cNvSpPr/>
          <p:nvPr/>
        </p:nvSpPr>
        <p:spPr>
          <a:xfrm>
            <a:off x="2692400" y="4637505"/>
            <a:ext cx="190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6299200" y="4594345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0.01%</a:t>
            </a:r>
          </a:p>
        </p:txBody>
      </p:sp>
      <p:sp>
        <p:nvSpPr>
          <p:cNvPr id="46" name="RoundRect"/>
          <p:cNvSpPr/>
          <p:nvPr/>
        </p:nvSpPr>
        <p:spPr>
          <a:xfrm>
            <a:off x="7458075" y="1329055"/>
            <a:ext cx="3790950" cy="3526234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TextBox"/>
          <p:cNvSpPr txBox="1"/>
          <p:nvPr/>
        </p:nvSpPr>
        <p:spPr>
          <a:xfrm>
            <a:off x="7766050" y="1637030"/>
            <a:ext cx="32702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GAP BELFIUS – ING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7766050" y="1977351"/>
            <a:ext cx="3270250" cy="69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FF6200"/>
                </a:solidFill>
                <a:latin typeface="Helvetica Neue"/>
              </a:rPr>
              <a:t>0.31 pts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766050" y="2774871"/>
            <a:ext cx="3270250" cy="1020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Removing one raw point per week from Belfius brings it to 18.15% — ING’s own figure. Read them as level, not ING in third.</a:t>
            </a:r>
          </a:p>
        </p:txBody>
      </p:sp>
      <p:sp>
        <p:nvSpPr>
          <p:cNvPr id="50" name="Rect"/>
          <p:cNvSpPr/>
          <p:nvPr/>
        </p:nvSpPr>
        <p:spPr>
          <a:xfrm>
            <a:off x="7766050" y="3897234"/>
            <a:ext cx="3048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"/>
          <p:cNvSpPr txBox="1"/>
          <p:nvPr/>
        </p:nvSpPr>
        <p:spPr>
          <a:xfrm>
            <a:off x="7766050" y="4049634"/>
            <a:ext cx="3270250" cy="5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Incumbents 97.6% · challengers 2.3% of brand search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of brand search, 261 weeks, Sep 2021 – Sep 2026 · * too low-volume to read share or change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Where the banks to benchmark come from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64580"/>
          <a:ext cx="10566400" cy="3233439"/>
        </p:xfrm>
        <a:graphic>
          <a:graphicData uri="http://schemas.openxmlformats.org/drawingml/2006/table">
            <a:tbl>
              <a:tblPr/>
              <a:tblGrid>
                <a:gridCol w="2113280"/>
                <a:gridCol w="1162304"/>
                <a:gridCol w="1162304"/>
                <a:gridCol w="1056640"/>
                <a:gridCol w="1901952"/>
                <a:gridCol w="3169920"/>
              </a:tblGrid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Bank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2021–22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2025–26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Change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Direction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Selected as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KBC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21.75%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20.13%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−1.62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−2.8%/yr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Largest traditional share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Belfius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18.21%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+0.58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+0.9%/yr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ING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19.28%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16.79%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−2.49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−3.7%/yr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FF6200"/>
                          </a:solidFill>
                          <a:latin typeface="Helvetica Neue"/>
                        </a:rPr>
                        <a:t>Subject of the study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BNP Paribas Fortis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17.99%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13.60%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−4.39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−6.2%/yr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Argenta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8.32%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9.42%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+1.10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+2.0%/yr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Crelan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5.12%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8.96%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+3.84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+16.4%/yr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Fastest-rising traditional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Beobank †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4.34%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−0.04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−1.3%/yr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Revolut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0.59%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3.22%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+2.63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+37.8%/yr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Measurable challenger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per 52-week period · flat = within ±2%/yr, a convention, not a test · † direction flips without the first period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What their pages share that ING’s don’t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24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Mean of KBC, Crelan, Revolut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3423000" y="1325880"/>
            <a:ext cx="55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ING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123000" y="1325880"/>
            <a:ext cx="2878127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Vertical tick = market average (z-score 0)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8465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Images carry alt text</a:t>
            </a:r>
          </a:p>
        </p:txBody>
      </p:sp>
      <p:sp>
        <p:nvSpPr>
          <p:cNvPr id="8" name="Rect"/>
          <p:cNvSpPr/>
          <p:nvPr/>
        </p:nvSpPr>
        <p:spPr>
          <a:xfrm>
            <a:off x="3606800" y="19646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"/>
          <p:cNvSpPr/>
          <p:nvPr/>
        </p:nvSpPr>
        <p:spPr>
          <a:xfrm>
            <a:off x="4978400" y="18440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Oval"/>
          <p:cNvSpPr/>
          <p:nvPr/>
        </p:nvSpPr>
        <p:spPr>
          <a:xfrm>
            <a:off x="4178300" y="18821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Oval"/>
          <p:cNvSpPr/>
          <p:nvPr/>
        </p:nvSpPr>
        <p:spPr>
          <a:xfrm>
            <a:off x="7531100" y="18821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8686800" y="18643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+1.91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3799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Call-to-action contrast</a:t>
            </a:r>
          </a:p>
        </p:txBody>
      </p:sp>
      <p:sp>
        <p:nvSpPr>
          <p:cNvPr id="14" name="Rect"/>
          <p:cNvSpPr/>
          <p:nvPr/>
        </p:nvSpPr>
        <p:spPr>
          <a:xfrm>
            <a:off x="3606800" y="24980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ect"/>
          <p:cNvSpPr/>
          <p:nvPr/>
        </p:nvSpPr>
        <p:spPr>
          <a:xfrm>
            <a:off x="4978400" y="23774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Oval"/>
          <p:cNvSpPr/>
          <p:nvPr/>
        </p:nvSpPr>
        <p:spPr>
          <a:xfrm>
            <a:off x="4425950" y="24155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Oval"/>
          <p:cNvSpPr/>
          <p:nvPr/>
        </p:nvSpPr>
        <p:spPr>
          <a:xfrm>
            <a:off x="6451600" y="24155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686800" y="23977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+1.13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−0.34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9133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Animated elements</a:t>
            </a:r>
          </a:p>
        </p:txBody>
      </p:sp>
      <p:sp>
        <p:nvSpPr>
          <p:cNvPr id="20" name="Rect"/>
          <p:cNvSpPr/>
          <p:nvPr/>
        </p:nvSpPr>
        <p:spPr>
          <a:xfrm>
            <a:off x="3606800" y="30314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ect"/>
          <p:cNvSpPr/>
          <p:nvPr/>
        </p:nvSpPr>
        <p:spPr>
          <a:xfrm>
            <a:off x="4978400" y="29108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Oval"/>
          <p:cNvSpPr/>
          <p:nvPr/>
        </p:nvSpPr>
        <p:spPr>
          <a:xfrm>
            <a:off x="4140200" y="29489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Oval"/>
          <p:cNvSpPr/>
          <p:nvPr/>
        </p:nvSpPr>
        <p:spPr>
          <a:xfrm>
            <a:off x="6064250" y="29489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8686800" y="29311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+0.85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−0.55</a:t>
            </a:r>
          </a:p>
        </p:txBody>
      </p:sp>
      <p:sp>
        <p:nvSpPr>
          <p:cNvPr id="25" name="RoundRect"/>
          <p:cNvSpPr/>
          <p:nvPr/>
        </p:nvSpPr>
        <p:spPr>
          <a:xfrm>
            <a:off x="685800" y="3469601"/>
            <a:ext cx="10566400" cy="1150000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958850" y="3672801"/>
            <a:ext cx="100203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Selected on search attention alone. </a:t>
            </a:r>
            <a:r>
              <a:rPr sz="1400" b="0">
                <a:solidFill>
                  <a:srgbClr val="14141C"/>
                </a:solidFill>
                <a:latin typeface="Helvetica Neue"/>
              </a:rPr>
              <a:t>This shows what their pages measurably do differently — not why they are searched for.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958850" y="4272801"/>
            <a:ext cx="1002030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Pages measured: KBC 3 · Crelan 1 · Revolut 1. Beyond these three choices the brands diverge: no single recipe.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z-scores over the comparable page-feature set · today’s pages, not the pages of 2021–2025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Why challengers look small in search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3921643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&gt; 1M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685800" y="2021801"/>
            <a:ext cx="3921643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Revolut private customers in Belgium, +~25,000/month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899620" y="1960880"/>
            <a:ext cx="400000" cy="2996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585868"/>
                </a:solidFill>
                <a:latin typeface="Helvetica Neue"/>
              </a:rPr>
              <a:t>vs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529858" y="1325880"/>
            <a:ext cx="1883664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529858" y="2021801"/>
            <a:ext cx="1883664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of brand search, 9th of 14</a:t>
            </a:r>
          </a:p>
        </p:txBody>
      </p:sp>
      <p:sp>
        <p:nvSpPr>
          <p:cNvPr id="9" name="RoundRect"/>
          <p:cNvSpPr/>
          <p:nvPr/>
        </p:nvSpPr>
        <p:spPr>
          <a:xfrm>
            <a:off x="688975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895350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Navigational searches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95350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Incumbent searches include logins, branches, opening hours. A working hypothesis, not verified at query level.</a:t>
            </a:r>
          </a:p>
        </p:txBody>
      </p:sp>
      <p:sp>
        <p:nvSpPr>
          <p:cNvPr id="12" name="RoundRect"/>
          <p:cNvSpPr/>
          <p:nvPr/>
        </p:nvSpPr>
        <p:spPr>
          <a:xfrm>
            <a:off x="4278809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4485184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App-first journeys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85184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Sign-up via app stores and referral links, then daily app use without searching the name.</a:t>
            </a:r>
          </a:p>
        </p:txBody>
      </p:sp>
      <p:sp>
        <p:nvSpPr>
          <p:cNvPr id="15" name="RoundRect"/>
          <p:cNvSpPr/>
          <p:nvPr/>
        </p:nvSpPr>
        <p:spPr>
          <a:xfrm>
            <a:off x="7868741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8075116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Measurement floor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8075116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Six brands never clear 10/100 in their own request; their share is partly rounding.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85800" y="4508024"/>
            <a:ext cx="10883392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Read challenger shares as a floor on attention, not a customer count.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Customer figure: Belga News Agency, 11 Mar 2026 (retrieved 21 Sep 2026) · never compared to a market-share figure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3448</Words>
  <Application>Microsoft Office PowerPoint</Application>
  <PresentationFormat>Widescreen</PresentationFormat>
  <Paragraphs>231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Siegried Camus</cp:lastModifiedBy>
  <cp:revision>2</cp:revision>
  <dcterms:created xsi:type="dcterms:W3CDTF">2013-01-27T09:14:16Z</dcterms:created>
  <dcterms:modified xsi:type="dcterms:W3CDTF">2026-09-23T11:08:35Z</dcterms:modified>
  <cp:category/>
</cp:coreProperties>
</file>