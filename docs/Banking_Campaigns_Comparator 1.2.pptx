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7" r:id="rId38"/>
    <p:sldId id="288" r:id="rId39"/>
    <p:sldId id="289" r:id="rId40"/>
    <p:sldId id="290" r:id="rId41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2011680" cy="9144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Banking Campaigns Comparator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D8D8E0"/>
                </a:solidFill>
                <a:latin typeface="Helvetica Neue"/>
              </a:rPr>
              <a:t>How Belgian banks communicate similar products differently,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D8D8E0"/>
                </a:solidFill>
                <a:latin typeface="Helvetica Neue"/>
              </a:rPr>
              <a:t>and what ING can learn from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A8A8B8"/>
                </a:solidFill>
                <a:latin typeface="Helvetica Neue"/>
              </a:rPr>
              <a:t>Two-week proof of concept for ING DACI / Customer AI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A8A8B8"/>
                </a:solidFill>
                <a:latin typeface="Helvetica Neue"/>
              </a:rPr>
              <a:t>Siegried (marketing framework) · Dan (collection, extraction) · Stephane (analysis, GenAI)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A8A8B8"/>
                </a:solidFill>
                <a:latin typeface="Helvetica Neue"/>
              </a:rPr>
              <a:t>14 – 25 September 2026 · 14 banks · 18 current-account pages of 52 collected · 104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The brief, and the constraint that shapes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Compare how Belgian banks communicate comparable products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Campaign pages only: the open web, one language, one product family at a time.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Turn that comparison into advice ING can act 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Measured differences, argued from named features — not opinion dressed as data.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 hard constraint: no performance data exists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No clicks, no conversions, no sales. So nothing here may claim that a design choice caused an outcome.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Therefore every recommendation is a hypothesis to test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project's value is a defensible, repeatable measurement — and an honest statement of its limits.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14141C"/>
                </a:solidFill>
                <a:latin typeface="Helvetica Neue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85868"/>
                </a:solidFill>
                <a:latin typeface="Helvetica Neue"/>
              </a:rPr>
              <a:t>This single constraint drives the guardrails you will see on every slide that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What we built,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measurement pipeline: 14 banks, 52 pages across 6 product families (18 of them current-account), 104 declared features, one frozen contract.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scoring workflow: automatic extraction, model-assisted extraction, and a human rubric for the 13 judgement features.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An analysis library: positioning, similarity, category comparison, AI score, cross-sell, plus generated limitations.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One web UI with ten tabs: four business views (Analysis, Trends, Reputation, Recommendations), the generated-site builder, and six read-only operator views carried over from the Streamlit dashboard.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Two optional signals, both fenced off from the performance claim: search interest, and news themes.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generated ING website: ten pages built from the selected recommendations — an illustration of what a recommendation means in practice, not a proposal for ING's own site.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14141C"/>
                </a:solidFill>
                <a:latin typeface="Helvetica Neue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85868"/>
                </a:solidFill>
                <a:latin typeface="Helvetica Neue"/>
              </a:rPr>
              <a:t>Each of those pieces is the next few slides; the pipeline diagram overleaf is the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pipeline,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One direction, five stages. Every arrow is a script that can be re-run; the guardrail band holds at every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A library with no I/O assumptions, thin CLI wrappers, and two callers — so no figure has a second definition.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How a number earns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Each feature declares how it was produced, and that label travels all the way to the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The feature dictionary is the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104 features, each declaring three things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how it was extracted (automatic / rubric / model-assisted / derived), how it may be compared, and whether it is core or extended.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Everything else is derived from it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dataset schema, the validator and the published feature dictionary are generated from the same YAML, so they cannot drift apart.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 freeze rule: add, never rename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After the Day 2 freeze, columns may be added; renames and removals need all three of us, because analysis code depends on them.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Two checks, deliberately different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A byte-equality test catches an accidental edit; the semantic freeze check catches a rename that happens to keep the bytes matching.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It grew twice, legitimately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3 features added after the freeze, and the bank list extended to 12 values — both additions, both recorded.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Collection and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robots.txt is checked live before every fetch, and fails closed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If robots.txt cannot be read, the URL is treated as not allowed. Every row carries robots_allowed; the validator refuses a row where it is false.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Pages are rendered, not just downloaded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A headless browser reads the page as a visitor sees it, which also fills the geometry features — page height, above-fold elements, image area.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A quality gate judges the capture, not just the numbers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Two early captures passed every range check while being an empty JavaScript shell and a maintenance notice. capture_quality now travels with the row.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When a site will not serve us, a person saves the page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BNP Paribas Fortis blocks automated traffic (HTTP 503) and Revolut's headless render is refused; the importer takes a browser-saved page, re-checks robots, and marks it manual_capture.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The dataset behind this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18 pages, 14 banks, 30 comparable features, nothing excluded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Argenta · Belfius · Beobank · BNP Paribas Fortis · bunq · CBC · Crelan · Hellobank · ING · KBC · Keytrade · N26 · Revolut · Vdk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Mostly Belgian French — plus two English pages and one Dutch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Word counts and readability are within-language features, so with more than one language present the comparison drops eight of them rather than compare across languages. English was restored on 23/09, after a re-collection had silently lost it.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Split for like-for-like comparison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10 traditional banks and 4 challengers, compared one product family at a time — a mortgage page and a current-account page differ because the products differ.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 dataset is in git, alongside the contract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Captures, datasets and outputs are tracked, so any figure on a slide traces back to the exact committed run that produced it.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14141C"/>
                </a:solidFill>
                <a:latin typeface="Helvetica Neue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85868"/>
                </a:solidFill>
                <a:latin typeface="Helvetica Neue"/>
              </a:rPr>
              <a:t>A snapshot is the honest shape for a finding: true for one dataset, one capture date, one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Rubric scoring: people, plus a model as a third rater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13 features are judgements, not measurements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Clarity of the offer, layout archetype, AIDA coverage, persuasion levers — scored against a written scale, one sheet per rater.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Three independent human raters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Siegried, Dan and Stephane each keep their own sheet, split two-raters-per-bank rather than all three scoring all 52 pages. Per-rater counts move within the day; data/rubric/*_scores.csv is the live figure.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Stephane's sheet is independent since 22/09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It was machine-proposed and adopted until then. Checked directly on 22/09: none of his 13 overlapping pages match the model's output, so he now counts as an independent rater.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Agreement is measurable for all 13 features, over 9 to 15 pages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Six sit below the module's 60% bar — aida desire 0.00, persuasion levers 0.11, accent locations 0.20, rate prominence 0.27, text-image layout 0.50, and attention 0.55 — so the remaining work is wording, not coverage.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 model still writes to its own sheet, never a pre-filled one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A pre-filled sheet gets rubber-stamped, and the agreement figure would then measure how persuasive the model was, not how well two people agree.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Analysis tab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Scope, focus and the verdict above the first number — the reader cannot see a figure without seeing what it covers.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What the analysis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ING sits with the traditional banks, not the challengers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Traditional↔challenger positioning score 0.178 across 14 banks, and its nearest neighbour is Belfius.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Where ING is furthest above its peers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offer feels worth having: 4.3 vs peers 3.5 (+1.67 SD, rubric) · Persuasion levers used: 2.3 vs 1.3 (+1.61 SD, rubric) · Claims fast digital onboarding: 0.67 vs 0.15 (+1.42 SD) · Page height: 11,149px vs 6,412px (+1.42 SD) · Page brightness: 0.55 vs 0.34 (+1.40 SD).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Where ING is below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Calls to action: 0.7 vs peers 5.6 (-1.00 SD) — still the largest negative gap. The earlier "2.0 vs 13.4" came from a counting bug that included navigation and footer links; re-derived 23/09.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What separates the two groups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Traditional pages are brighter (d = -2.36) and show more without scrolling (d = -2.12); challengers are far likelier to show a rate and to frame the account as a subscription (each d = +2.00), and to target expats (d = +1.23).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Read as description, not proof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These are descriptive effect sizes over 14 banks, not significance tests — and the rubric-sourced ones moved when the second human sheet was folded in, which is the point of measuring 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Reputation tab: what each bank is in the news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re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Headline themes — innovation, crisis, results — counted, never scored for sentiment. Two news providers are merged, in three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Reputation: themes, not sentiment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Sentiment scoring was out of scope; themes turn the brief's own 'reputation, innovations, crises' framing into a closed, countable list.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Two similarly named providers are supported at once (newsapi.org and newsapi.ai); headlines from both are merged and de-duplicated.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Every provider is queried in English, French and Dutch — Belgian bank news is mostly not in English.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The module degrades to 'not configured' when no key is present, rather than inventing a number for a bank it has no data 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Themes are context about the bank, never evidence that a page or campaign performed. Asked whether reputation shows how well campaigns are doing, the honest answer is no: press coverage says what a bank is written about, not whether its page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Recommendations tab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The one place a model is allowed to opine: advice grounded in this run's numbers, each item shown next to the features it was argued from, and selectable.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Recommendations, and how they stay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Every recommendation names the measured features it was argued from; an invented feature id is dropped before the list is shown.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second, opt-in group can be added from news themes (reputation context).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The search-interest group was removed on 22/09; Trends now selects three brands on attention alone and the tab reports what their pages measurably do differently from ING's.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reader ticks the ones worth building; only the ticked subset reaches the site builder.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Nothing here re-runs collection or analysis — it reads one report and writes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generated ING website, with explanations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site_explanation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An illustration, not a proposal for ING's site: each section that implements a recommendation is boxed, the (i) button opens the reasoning above it, and that section's glow switches to a slow yellow flicker.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Explanation mode: showing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Tick 'Explain each section' and every generated section that acts on a recommendation is boxed, with an (i) button and a one-sentence rationale in the page language.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Yellow flicker while an explanation is open — deliberately not ING orange, so the explanation state cannot be mistaken for the brand treatment.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A switch above the site turns the whole layer off, and the choice is remembered across the ten pages — so the same site can be shown as a normal site.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Every page gets at least one box; pages no recommendation targets borrow the site-wide advice that applies.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4141C"/>
                </a:solidFill>
                <a:latin typeface="Helvetica Neue"/>
              </a:rPr>
              <a:t>•  The first explained run produced copy about the recommendations themselves, so the page prompt now forbids meta copy and confines 'why' to the rationale.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The same site, explanations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site_explain_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325880"/>
            <a:ext cx="85344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One checkbox above the site hides every box, balloon and rationale — the identical pages, shown as a normal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The operator tabs, and what they refuse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Six read-only views, moved out of the Streamlit dashboard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Home, Bank profiles, Data, Rubric, Collection and Research now render in the same UI as the findings, from one snapshot the exporter writes: operations.json.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No pipeline control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Collection is slow and needs a job model, and the robots.txt gate must stay server-side and non-overridable — so there is no 'run collection' button in a browser.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No dataset or dictionary editing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dictionary is the frozen contract (P-04); a form that edited it would undo the freeze rule, and a form that edited an extracted feature would destroy its audit trail.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No live scoring screen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Rubric tab shows finished sheets only. A screen that displayed a rater's neighbours would make the agreement figure measure visibility, not independent judgement (NFR-05).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One direction only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The UI does no arithmetic: every number is computed in Python and handed over already labelled, so no figure on screen has a second definition.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14141C"/>
                </a:solidFill>
                <a:latin typeface="Helvetica Neue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85868"/>
                </a:solidFill>
                <a:latin typeface="Helvetica Neue"/>
              </a:rPr>
              <a:t>The Streamlit file stays in the repository for share.streamlit.io; it is no longer the only place these views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Home: what was collected, and what comes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Four counts from the run, the validation verdict, every bank's status, and a download per deliverable.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Bank profiles: one bank, every measured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Palette, tone, imagery, layout, value proposition, the z-score signature, personas and the AI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Data: the dataset and the frozen dictionary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Every capture with its provenance, filterable and exportable, read against the 104-feature dictionary.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Rubric: the sheets, and where they disagree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Every sheet, raw agreement, chance-corrected kappa, and the scoring guide — never merged into one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Collection: status, provenance and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Counts straight from the export, per-bank status, capture provenance, and the commands that produced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Research: sourcing a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325880"/>
            <a:ext cx="796544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16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Semantic Scholar, on demand. Empty is reported as empty — a rate limit must not read as 'no evidence'.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What this cannot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No performance data exists here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Nothing links a design choice to a click, a conversion or a sale. Every recommendation is a hypothesis ING could test.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Small groups, by design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Four challengers against ten traditional banks, and most banks contribute a single page — so a group mean is an anecdote and an effect size describes separation, not significance.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The judgement features are thinner than they look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Coverage is partial and the overlap between any two raters is still thin, and six of the thirteen features sit below the agreement bar — so a finding resting on persuasion levers or accent placement is a hypothesis.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Search interest is context, and covers part of the market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It measures what people searched for, not what a campaign achieved, and the pages captured are today's pages.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Only the open web is covered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Social, in-app and email banners are out of scope — and may be where a bank's real communication happens.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14141C"/>
                </a:solidFill>
                <a:latin typeface="Helvetica Neue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85868"/>
                </a:solidFill>
                <a:latin typeface="Helvetica Neue"/>
              </a:rPr>
              <a:t>outputs/limitations.md is regenerated from the dataset on every run, so these cannot quietly go stale.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14141C"/>
                </a:solidFill>
                <a:latin typeface="Helvetica Neue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1. Turn the rubric into a number you can quote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Finish the two-raters-per-bank split — it takes the comparison from 30 usable features to about 40 — and tighten the wording for the six features below the 60% bar before any judged feature carries a finding.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2. Fill the remaining sheet rows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Every bank now has its rows, including the two English pages restored on 23/09; what is missing is filled scores, not sheets.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3. Re-run and re-export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rubric_sheet.py merge → run_analysis.py → export_web_report.py, then re-verify the narrative's figures against the new snapshot.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4. Decide on outputs/ in git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It is regenerated on every run yet tracked, so each analysis leaves a large binary diff.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4141C"/>
                </a:solidFill>
                <a:latin typeface="Helvetica Neue"/>
              </a:rPr>
              <a:t>•  5. Then, if the team wants it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85868"/>
                </a:solidFill>
                <a:latin typeface="Helvetica Neue"/>
              </a:rPr>
              <a:t>     Savings, mortgage, pension, investment and term accounts are already collected (52 pages, 6 families); comparing each family the same way is the next step, plus a wider bank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2011680" cy="91440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Helvetica Neue"/>
              </a:rPr>
              <a:t>Measure one way. Label the trust. Claim only what the data supports.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B8B8C8"/>
                </a:solidFill>
                <a:latin typeface="Helvetica Neue"/>
              </a:rPr>
              <a:t>The pipeline, the contract and the guardrails are in the repository: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B8B8C8"/>
                </a:solidFill>
                <a:latin typeface="Helvetica Neue"/>
              </a:rPr>
              <a:t>README.md · docs/design.md · docs/pipeline.md · web/README.md · docs/decisions.md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KBC leads; ING and Belfius are level</a:t>
            </a:r>
          </a:p>
        </p:txBody>
      </p:sp>
      <p:sp>
        <p:nvSpPr>
          <p:cNvPr id="3" name="Rectangle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"/>
          <p:cNvSpPr txBox="1"/>
          <p:nvPr/>
        </p:nvSpPr>
        <p:spPr>
          <a:xfrm>
            <a:off x="685800" y="1325880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KBC</a:t>
            </a:r>
          </a:p>
        </p:txBody>
      </p:sp>
      <p:sp>
        <p:nvSpPr>
          <p:cNvPr id="5" name="Rect"/>
          <p:cNvSpPr/>
          <p:nvPr/>
        </p:nvSpPr>
        <p:spPr>
          <a:xfrm>
            <a:off x="2692400" y="1369040"/>
            <a:ext cx="355600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 txBox="1"/>
          <p:nvPr/>
        </p:nvSpPr>
        <p:spPr>
          <a:xfrm>
            <a:off x="6299200" y="1325880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21.30%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85800" y="1577301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4141C"/>
                </a:solidFill>
                <a:latin typeface="Helvetica Neue"/>
              </a:rPr>
              <a:t>Belfius</a:t>
            </a:r>
          </a:p>
        </p:txBody>
      </p:sp>
      <p:sp>
        <p:nvSpPr>
          <p:cNvPr id="8" name="Rect"/>
          <p:cNvSpPr/>
          <p:nvPr/>
        </p:nvSpPr>
        <p:spPr>
          <a:xfrm>
            <a:off x="2692400" y="1620461"/>
            <a:ext cx="3079750" cy="1524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"/>
          <p:cNvSpPr txBox="1"/>
          <p:nvPr/>
        </p:nvSpPr>
        <p:spPr>
          <a:xfrm>
            <a:off x="6299200" y="1577301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18.44%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" y="1828721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6200"/>
                </a:solidFill>
                <a:latin typeface="Helvetica Neue"/>
              </a:rPr>
              <a:t>ING</a:t>
            </a:r>
          </a:p>
        </p:txBody>
      </p:sp>
      <p:sp>
        <p:nvSpPr>
          <p:cNvPr id="11" name="Rect"/>
          <p:cNvSpPr/>
          <p:nvPr/>
        </p:nvSpPr>
        <p:spPr>
          <a:xfrm>
            <a:off x="2692400" y="1871881"/>
            <a:ext cx="3028950" cy="152400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6299200" y="1828721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F6200"/>
                </a:solidFill>
                <a:latin typeface="Helvetica Neue"/>
              </a:rPr>
              <a:t>18.13%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" y="2080141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BNP Paribas Fortis</a:t>
            </a:r>
          </a:p>
        </p:txBody>
      </p:sp>
      <p:sp>
        <p:nvSpPr>
          <p:cNvPr id="14" name="Rect"/>
          <p:cNvSpPr/>
          <p:nvPr/>
        </p:nvSpPr>
        <p:spPr>
          <a:xfrm>
            <a:off x="2692400" y="2123301"/>
            <a:ext cx="257175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"/>
          <p:cNvSpPr txBox="1"/>
          <p:nvPr/>
        </p:nvSpPr>
        <p:spPr>
          <a:xfrm>
            <a:off x="6299200" y="2080141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15.40%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685800" y="2331562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Argenta</a:t>
            </a:r>
          </a:p>
        </p:txBody>
      </p:sp>
      <p:sp>
        <p:nvSpPr>
          <p:cNvPr id="17" name="Rect"/>
          <p:cNvSpPr/>
          <p:nvPr/>
        </p:nvSpPr>
        <p:spPr>
          <a:xfrm>
            <a:off x="2692400" y="2374722"/>
            <a:ext cx="153035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6299200" y="2331562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9.18%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2582982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Crelan</a:t>
            </a:r>
          </a:p>
        </p:txBody>
      </p:sp>
      <p:sp>
        <p:nvSpPr>
          <p:cNvPr id="20" name="Rect"/>
          <p:cNvSpPr/>
          <p:nvPr/>
        </p:nvSpPr>
        <p:spPr>
          <a:xfrm>
            <a:off x="2692400" y="2626142"/>
            <a:ext cx="118110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"/>
          <p:cNvSpPr txBox="1"/>
          <p:nvPr/>
        </p:nvSpPr>
        <p:spPr>
          <a:xfrm>
            <a:off x="6299200" y="2582982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7.07%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685800" y="2834402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Beobank</a:t>
            </a:r>
          </a:p>
        </p:txBody>
      </p:sp>
      <p:sp>
        <p:nvSpPr>
          <p:cNvPr id="23" name="Rect"/>
          <p:cNvSpPr/>
          <p:nvPr/>
        </p:nvSpPr>
        <p:spPr>
          <a:xfrm>
            <a:off x="2692400" y="2877562"/>
            <a:ext cx="74295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6299200" y="2834402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4.46%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685800" y="3085823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CBC *</a:t>
            </a:r>
          </a:p>
        </p:txBody>
      </p:sp>
      <p:sp>
        <p:nvSpPr>
          <p:cNvPr id="26" name="Rect"/>
          <p:cNvSpPr/>
          <p:nvPr/>
        </p:nvSpPr>
        <p:spPr>
          <a:xfrm>
            <a:off x="2692400" y="3128983"/>
            <a:ext cx="34290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"/>
          <p:cNvSpPr txBox="1"/>
          <p:nvPr/>
        </p:nvSpPr>
        <p:spPr>
          <a:xfrm>
            <a:off x="6299200" y="3085823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2.05%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685800" y="3337243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Revolut</a:t>
            </a:r>
          </a:p>
        </p:txBody>
      </p:sp>
      <p:sp>
        <p:nvSpPr>
          <p:cNvPr id="29" name="Rect"/>
          <p:cNvSpPr/>
          <p:nvPr/>
        </p:nvSpPr>
        <p:spPr>
          <a:xfrm>
            <a:off x="2692400" y="3380403"/>
            <a:ext cx="273050" cy="1524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Box"/>
          <p:cNvSpPr txBox="1"/>
          <p:nvPr/>
        </p:nvSpPr>
        <p:spPr>
          <a:xfrm>
            <a:off x="6299200" y="3337243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1.64%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685800" y="3588663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VDK Bank *</a:t>
            </a:r>
          </a:p>
        </p:txBody>
      </p:sp>
      <p:sp>
        <p:nvSpPr>
          <p:cNvPr id="32" name="Rect"/>
          <p:cNvSpPr/>
          <p:nvPr/>
        </p:nvSpPr>
        <p:spPr>
          <a:xfrm>
            <a:off x="2692400" y="3631823"/>
            <a:ext cx="20955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Box"/>
          <p:cNvSpPr txBox="1"/>
          <p:nvPr/>
        </p:nvSpPr>
        <p:spPr>
          <a:xfrm>
            <a:off x="6299200" y="3588663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1.24%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685800" y="3840084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Keytrade Bank *</a:t>
            </a:r>
          </a:p>
        </p:txBody>
      </p:sp>
      <p:sp>
        <p:nvSpPr>
          <p:cNvPr id="35" name="Rect"/>
          <p:cNvSpPr/>
          <p:nvPr/>
        </p:nvSpPr>
        <p:spPr>
          <a:xfrm>
            <a:off x="2692400" y="3883244"/>
            <a:ext cx="6985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Box"/>
          <p:cNvSpPr txBox="1"/>
          <p:nvPr/>
        </p:nvSpPr>
        <p:spPr>
          <a:xfrm>
            <a:off x="6299200" y="3840084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0.41%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685800" y="4091504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Hello bank! *</a:t>
            </a:r>
          </a:p>
        </p:txBody>
      </p:sp>
      <p:sp>
        <p:nvSpPr>
          <p:cNvPr id="38" name="Rect"/>
          <p:cNvSpPr/>
          <p:nvPr/>
        </p:nvSpPr>
        <p:spPr>
          <a:xfrm>
            <a:off x="2692400" y="4134664"/>
            <a:ext cx="6350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Box"/>
          <p:cNvSpPr txBox="1"/>
          <p:nvPr/>
        </p:nvSpPr>
        <p:spPr>
          <a:xfrm>
            <a:off x="6299200" y="4091504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0.37%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685800" y="4342924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N26 *</a:t>
            </a:r>
          </a:p>
        </p:txBody>
      </p:sp>
      <p:sp>
        <p:nvSpPr>
          <p:cNvPr id="41" name="Rect"/>
          <p:cNvSpPr/>
          <p:nvPr/>
        </p:nvSpPr>
        <p:spPr>
          <a:xfrm>
            <a:off x="2692400" y="4386084"/>
            <a:ext cx="5080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Box"/>
          <p:cNvSpPr txBox="1"/>
          <p:nvPr/>
        </p:nvSpPr>
        <p:spPr>
          <a:xfrm>
            <a:off x="6299200" y="4342924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0.29%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685800" y="4594345"/>
            <a:ext cx="19621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bunq *</a:t>
            </a:r>
          </a:p>
        </p:txBody>
      </p:sp>
      <p:sp>
        <p:nvSpPr>
          <p:cNvPr id="44" name="Rect"/>
          <p:cNvSpPr/>
          <p:nvPr/>
        </p:nvSpPr>
        <p:spPr>
          <a:xfrm>
            <a:off x="2692400" y="4637505"/>
            <a:ext cx="19050" cy="1524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Box"/>
          <p:cNvSpPr txBox="1"/>
          <p:nvPr/>
        </p:nvSpPr>
        <p:spPr>
          <a:xfrm>
            <a:off x="6299200" y="4594345"/>
            <a:ext cx="7493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0.01%</a:t>
            </a:r>
          </a:p>
        </p:txBody>
      </p:sp>
      <p:sp>
        <p:nvSpPr>
          <p:cNvPr id="46" name="RoundRect"/>
          <p:cNvSpPr/>
          <p:nvPr/>
        </p:nvSpPr>
        <p:spPr>
          <a:xfrm>
            <a:off x="7458075" y="1329055"/>
            <a:ext cx="3790950" cy="3526234"/>
          </a:xfrm>
          <a:prstGeom prst="roundRect">
            <a:avLst>
              <a:gd name="adj" fmla="val 2791"/>
            </a:avLst>
          </a:prstGeom>
          <a:solidFill>
            <a:srgbClr val="F7F7F9"/>
          </a:solidFill>
          <a:ln w="6350">
            <a:solidFill>
              <a:srgbClr val="D8D8E0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TextBox"/>
          <p:cNvSpPr txBox="1"/>
          <p:nvPr/>
        </p:nvSpPr>
        <p:spPr>
          <a:xfrm>
            <a:off x="7766050" y="1637030"/>
            <a:ext cx="327025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GAP BELFIUS – ING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7766050" y="1977351"/>
            <a:ext cx="3270250" cy="69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0">
                <a:solidFill>
                  <a:srgbClr val="FF6200"/>
                </a:solidFill>
                <a:latin typeface="Helvetica Neue"/>
              </a:rPr>
              <a:t>0.31 pts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7766050" y="2774871"/>
            <a:ext cx="3270250" cy="1020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14141C"/>
                </a:solidFill>
                <a:latin typeface="Helvetica Neue"/>
              </a:rPr>
              <a:t>Removing one raw point per week from Belfius brings it to 18.15% — ING’s own figure. Read them as level, not ING in third.</a:t>
            </a:r>
          </a:p>
        </p:txBody>
      </p:sp>
      <p:sp>
        <p:nvSpPr>
          <p:cNvPr id="50" name="Rect"/>
          <p:cNvSpPr/>
          <p:nvPr/>
        </p:nvSpPr>
        <p:spPr>
          <a:xfrm>
            <a:off x="7766050" y="3897234"/>
            <a:ext cx="3048000" cy="127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Box"/>
          <p:cNvSpPr txBox="1"/>
          <p:nvPr/>
        </p:nvSpPr>
        <p:spPr>
          <a:xfrm>
            <a:off x="7766050" y="4049634"/>
            <a:ext cx="3270250" cy="5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141C"/>
                </a:solidFill>
                <a:latin typeface="Helvetica Neue"/>
              </a:rPr>
              <a:t>Incumbents 97.6% · challengers 2.3% of brand search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Share of brand search, 261 weeks, Sep 2021 – Sep 2026 · * too low-volume to read share or change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Where the banks to benchmark come from</a:t>
            </a:r>
          </a:p>
        </p:txBody>
      </p:sp>
      <p:sp>
        <p:nvSpPr>
          <p:cNvPr id="3" name="Rectangle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685800" y="1564580"/>
          <a:ext cx="10566400" cy="3233439"/>
        </p:xfrm>
        <a:graphic>
          <a:graphicData uri="http://schemas.openxmlformats.org/drawingml/2006/table">
            <a:tbl>
              <a:tblPr/>
              <a:tblGrid>
                <a:gridCol w="2113280"/>
                <a:gridCol w="1162304"/>
                <a:gridCol w="1162304"/>
                <a:gridCol w="1056640"/>
                <a:gridCol w="1901952"/>
                <a:gridCol w="3169920"/>
              </a:tblGrid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Bank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2021–22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2025–26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Change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Direction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141C"/>
                          </a:solidFill>
                          <a:latin typeface="Helvetica Neue"/>
                        </a:rPr>
                        <a:t>Selected as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E0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KBC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21.75%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20.13%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−1.62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Down −2.8%/yr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200"/>
                          </a:solidFill>
                          <a:latin typeface="Helvetica Neue"/>
                        </a:rPr>
                        <a:t>Largest traditional share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Belfius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18.21%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18.79%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+0.58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Flat +0.9%/yr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585868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ING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19.28%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16.79%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−2.49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Down −3.7%/yr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FF6200"/>
                          </a:solidFill>
                          <a:latin typeface="Helvetica Neue"/>
                        </a:rPr>
                        <a:t>Subject of the study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BNP Paribas Fortis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17.99%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13.60%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−4.39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Down −6.2%/yr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585868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Argenta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8.32%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9.42%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+1.10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Flat +2.0%/yr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585868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Crelan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5.12%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8.96%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+3.84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Up +16.4%/yr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200"/>
                          </a:solidFill>
                          <a:latin typeface="Helvetica Neue"/>
                        </a:rPr>
                        <a:t>Fastest-rising traditional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Beobank †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4.38%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4.34%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−0.04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Flat −1.3%/yr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585868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Revolut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0.59%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3.22%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+2.63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0" dirty="0">
                          <a:solidFill>
                            <a:srgbClr val="14141C"/>
                          </a:solidFill>
                          <a:latin typeface="Helvetica Neue"/>
                        </a:rPr>
                        <a:t>Up +37.8%/yr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6200"/>
                          </a:solidFill>
                          <a:latin typeface="Helvetica Neue"/>
                        </a:rPr>
                        <a:t>Measurable challenger</a:t>
                      </a:r>
                    </a:p>
                  </a:txBody>
                  <a:tcPr marL="57785" marR="57785" marT="57785" marB="57785" anchor="ctr">
                    <a:lnL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9"/>
                    </a:solidFill>
                  </a:tcPr>
                </a:tc>
              </a:tr>
            </a:tbl>
          </a:graphicData>
        </a:graphic>
      </p:graphicFrame>
      <p:sp>
        <p:nvSpPr>
          <p:cNvPr id="5" name="TextBox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Share per 52-week period · flat = within ±2%/yr, a convention, not a test · † direction flips without the first period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What their pages share that ING’s don’t</a:t>
            </a:r>
          </a:p>
        </p:txBody>
      </p:sp>
      <p:sp>
        <p:nvSpPr>
          <p:cNvPr id="3" name="Rectangle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"/>
          <p:cNvSpPr txBox="1"/>
          <p:nvPr/>
        </p:nvSpPr>
        <p:spPr>
          <a:xfrm>
            <a:off x="685800" y="1325880"/>
            <a:ext cx="24000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●</a:t>
            </a:r>
            <a:r>
              <a:rPr sz="1200" b="0">
                <a:solidFill>
                  <a:srgbClr val="585868"/>
                </a:solidFill>
                <a:latin typeface="Helvetica Neue"/>
              </a:rPr>
              <a:t> Mean of KBC, Crelan, Revolut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423000" y="1325880"/>
            <a:ext cx="5500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F6200"/>
                </a:solidFill>
                <a:latin typeface="Helvetica Neue"/>
              </a:rPr>
              <a:t>●</a:t>
            </a:r>
            <a:r>
              <a:rPr sz="1200" b="0">
                <a:solidFill>
                  <a:srgbClr val="585868"/>
                </a:solidFill>
                <a:latin typeface="Helvetica Neue"/>
              </a:rPr>
              <a:t> ING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4123000" y="1325880"/>
            <a:ext cx="2878127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Vertical tick = market average (z-score 0)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685800" y="1846580"/>
            <a:ext cx="2747010" cy="27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141C"/>
                </a:solidFill>
                <a:latin typeface="Helvetica Neue"/>
              </a:rPr>
              <a:t>Images carry alt text</a:t>
            </a:r>
          </a:p>
        </p:txBody>
      </p:sp>
      <p:sp>
        <p:nvSpPr>
          <p:cNvPr id="8" name="Rect"/>
          <p:cNvSpPr/>
          <p:nvPr/>
        </p:nvSpPr>
        <p:spPr>
          <a:xfrm>
            <a:off x="3606800" y="1964651"/>
            <a:ext cx="4826000" cy="127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"/>
          <p:cNvSpPr/>
          <p:nvPr/>
        </p:nvSpPr>
        <p:spPr>
          <a:xfrm>
            <a:off x="4978400" y="1844001"/>
            <a:ext cx="12700" cy="2540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Oval"/>
          <p:cNvSpPr/>
          <p:nvPr/>
        </p:nvSpPr>
        <p:spPr>
          <a:xfrm>
            <a:off x="4178300" y="1882101"/>
            <a:ext cx="177800" cy="1778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Oval"/>
          <p:cNvSpPr/>
          <p:nvPr/>
        </p:nvSpPr>
        <p:spPr>
          <a:xfrm>
            <a:off x="7531100" y="1882101"/>
            <a:ext cx="177800" cy="177800"/>
          </a:xfrm>
          <a:prstGeom prst="ellipse">
            <a:avLst/>
          </a:prstGeom>
          <a:solidFill>
            <a:srgbClr val="141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 txBox="1"/>
          <p:nvPr/>
        </p:nvSpPr>
        <p:spPr>
          <a:xfrm>
            <a:off x="8686800" y="1864341"/>
            <a:ext cx="15000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+1.91</a:t>
            </a:r>
            <a:r>
              <a:rPr sz="1200" b="0">
                <a:solidFill>
                  <a:srgbClr val="14141C"/>
                </a:solidFill>
                <a:latin typeface="Helvetica Neue"/>
              </a:rPr>
              <a:t> vs </a:t>
            </a:r>
            <a:r>
              <a:rPr sz="1200" b="0">
                <a:solidFill>
                  <a:srgbClr val="FF6200"/>
                </a:solidFill>
                <a:latin typeface="Helvetica Neue"/>
              </a:rPr>
              <a:t>−0.52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" y="2379980"/>
            <a:ext cx="2747010" cy="27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141C"/>
                </a:solidFill>
                <a:latin typeface="Helvetica Neue"/>
              </a:rPr>
              <a:t>Call-to-action contrast</a:t>
            </a:r>
          </a:p>
        </p:txBody>
      </p:sp>
      <p:sp>
        <p:nvSpPr>
          <p:cNvPr id="14" name="Rect"/>
          <p:cNvSpPr/>
          <p:nvPr/>
        </p:nvSpPr>
        <p:spPr>
          <a:xfrm>
            <a:off x="3606800" y="2498051"/>
            <a:ext cx="4826000" cy="127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"/>
          <p:cNvSpPr/>
          <p:nvPr/>
        </p:nvSpPr>
        <p:spPr>
          <a:xfrm>
            <a:off x="4978400" y="2377401"/>
            <a:ext cx="12700" cy="2540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Oval"/>
          <p:cNvSpPr/>
          <p:nvPr/>
        </p:nvSpPr>
        <p:spPr>
          <a:xfrm>
            <a:off x="4425950" y="2415501"/>
            <a:ext cx="177800" cy="1778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Oval"/>
          <p:cNvSpPr/>
          <p:nvPr/>
        </p:nvSpPr>
        <p:spPr>
          <a:xfrm>
            <a:off x="6451600" y="2415501"/>
            <a:ext cx="177800" cy="177800"/>
          </a:xfrm>
          <a:prstGeom prst="ellipse">
            <a:avLst/>
          </a:prstGeom>
          <a:solidFill>
            <a:srgbClr val="141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 txBox="1"/>
          <p:nvPr/>
        </p:nvSpPr>
        <p:spPr>
          <a:xfrm>
            <a:off x="8686800" y="2397741"/>
            <a:ext cx="15000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+1.13</a:t>
            </a:r>
            <a:r>
              <a:rPr sz="1200" b="0">
                <a:solidFill>
                  <a:srgbClr val="14141C"/>
                </a:solidFill>
                <a:latin typeface="Helvetica Neue"/>
              </a:rPr>
              <a:t> vs </a:t>
            </a:r>
            <a:r>
              <a:rPr sz="1200" b="0">
                <a:solidFill>
                  <a:srgbClr val="FF6200"/>
                </a:solidFill>
                <a:latin typeface="Helvetica Neue"/>
              </a:rPr>
              <a:t>−0.34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2913380"/>
            <a:ext cx="2747010" cy="27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141C"/>
                </a:solidFill>
                <a:latin typeface="Helvetica Neue"/>
              </a:rPr>
              <a:t>Animated elements</a:t>
            </a:r>
          </a:p>
        </p:txBody>
      </p:sp>
      <p:sp>
        <p:nvSpPr>
          <p:cNvPr id="20" name="Rect"/>
          <p:cNvSpPr/>
          <p:nvPr/>
        </p:nvSpPr>
        <p:spPr>
          <a:xfrm>
            <a:off x="3606800" y="3031451"/>
            <a:ext cx="4826000" cy="12700"/>
          </a:xfrm>
          <a:prstGeom prst="rect">
            <a:avLst/>
          </a:prstGeom>
          <a:solidFill>
            <a:srgbClr val="D8D8E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"/>
          <p:cNvSpPr/>
          <p:nvPr/>
        </p:nvSpPr>
        <p:spPr>
          <a:xfrm>
            <a:off x="4978400" y="2910801"/>
            <a:ext cx="12700" cy="254000"/>
          </a:xfrm>
          <a:prstGeom prst="rect">
            <a:avLst/>
          </a:prstGeom>
          <a:solidFill>
            <a:srgbClr val="A8A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Oval"/>
          <p:cNvSpPr/>
          <p:nvPr/>
        </p:nvSpPr>
        <p:spPr>
          <a:xfrm>
            <a:off x="4140200" y="2948901"/>
            <a:ext cx="177800" cy="177800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Oval"/>
          <p:cNvSpPr/>
          <p:nvPr/>
        </p:nvSpPr>
        <p:spPr>
          <a:xfrm>
            <a:off x="6064250" y="2948901"/>
            <a:ext cx="177800" cy="177800"/>
          </a:xfrm>
          <a:prstGeom prst="ellipse">
            <a:avLst/>
          </a:prstGeom>
          <a:solidFill>
            <a:srgbClr val="1414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"/>
          <p:cNvSpPr txBox="1"/>
          <p:nvPr/>
        </p:nvSpPr>
        <p:spPr>
          <a:xfrm>
            <a:off x="8686800" y="2931141"/>
            <a:ext cx="1500000" cy="23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4141C"/>
                </a:solidFill>
                <a:latin typeface="Helvetica Neue"/>
              </a:rPr>
              <a:t>+0.85</a:t>
            </a:r>
            <a:r>
              <a:rPr sz="1200" b="0">
                <a:solidFill>
                  <a:srgbClr val="14141C"/>
                </a:solidFill>
                <a:latin typeface="Helvetica Neue"/>
              </a:rPr>
              <a:t> vs </a:t>
            </a:r>
            <a:r>
              <a:rPr sz="1200" b="0">
                <a:solidFill>
                  <a:srgbClr val="FF6200"/>
                </a:solidFill>
                <a:latin typeface="Helvetica Neue"/>
              </a:rPr>
              <a:t>−0.55</a:t>
            </a:r>
          </a:p>
        </p:txBody>
      </p:sp>
      <p:sp>
        <p:nvSpPr>
          <p:cNvPr id="25" name="RoundRect"/>
          <p:cNvSpPr/>
          <p:nvPr/>
        </p:nvSpPr>
        <p:spPr>
          <a:xfrm>
            <a:off x="685800" y="3469601"/>
            <a:ext cx="10566400" cy="1150000"/>
          </a:xfrm>
          <a:prstGeom prst="roundRect">
            <a:avLst>
              <a:gd name="adj" fmla="val 2791"/>
            </a:avLst>
          </a:prstGeom>
          <a:solidFill>
            <a:srgbClr val="F7F7F9"/>
          </a:solidFill>
          <a:ln w="6350">
            <a:solidFill>
              <a:srgbClr val="D8D8E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TextBox"/>
          <p:cNvSpPr txBox="1"/>
          <p:nvPr/>
        </p:nvSpPr>
        <p:spPr>
          <a:xfrm>
            <a:off x="958850" y="3672801"/>
            <a:ext cx="100203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4141C"/>
                </a:solidFill>
                <a:latin typeface="Helvetica Neue"/>
              </a:rPr>
              <a:t>Selected on search attention alone. </a:t>
            </a:r>
            <a:r>
              <a:rPr sz="1400" b="0">
                <a:solidFill>
                  <a:srgbClr val="14141C"/>
                </a:solidFill>
                <a:latin typeface="Helvetica Neue"/>
              </a:rPr>
              <a:t>This shows what their pages measurably do differently — not why they are searched for.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958850" y="4272801"/>
            <a:ext cx="10020300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Pages measured: KBC 3 · Crelan 1 · Revolut 1. Beyond these three choices the brands diverge: no single recipe.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z-scores over the comparable page-feature set · today’s pages, not the pages of 2021–2025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14141C"/>
                </a:solidFill>
                <a:latin typeface="Helvetica Neue"/>
              </a:rPr>
              <a:t>Why challengers look small in search</a:t>
            </a:r>
          </a:p>
        </p:txBody>
      </p:sp>
      <p:sp>
        <p:nvSpPr>
          <p:cNvPr id="3" name="Rectangle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"/>
          <p:cNvSpPr txBox="1"/>
          <p:nvPr/>
        </p:nvSpPr>
        <p:spPr>
          <a:xfrm>
            <a:off x="685800" y="1325880"/>
            <a:ext cx="3921643" cy="69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0">
                <a:solidFill>
                  <a:srgbClr val="14141C"/>
                </a:solidFill>
                <a:latin typeface="Helvetica Neue"/>
              </a:rPr>
              <a:t>&gt; 1M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85800" y="2021801"/>
            <a:ext cx="3921643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Revolut private customers in Belgium, +~25,000/month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4899620" y="1960880"/>
            <a:ext cx="400000" cy="2996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585868"/>
                </a:solidFill>
                <a:latin typeface="Helvetica Neue"/>
              </a:rPr>
              <a:t>vs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5529858" y="1325880"/>
            <a:ext cx="1883664" cy="69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0">
                <a:solidFill>
                  <a:srgbClr val="14141C"/>
                </a:solidFill>
                <a:latin typeface="Helvetica Neue"/>
              </a:rPr>
              <a:t>1.64%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529858" y="2021801"/>
            <a:ext cx="1883664" cy="23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of brand search, 9th of 14</a:t>
            </a:r>
          </a:p>
        </p:txBody>
      </p:sp>
      <p:sp>
        <p:nvSpPr>
          <p:cNvPr id="9" name="RoundRect"/>
          <p:cNvSpPr/>
          <p:nvPr/>
        </p:nvSpPr>
        <p:spPr>
          <a:xfrm>
            <a:off x="688975" y="2492296"/>
            <a:ext cx="3380284" cy="1758553"/>
          </a:xfrm>
          <a:prstGeom prst="roundRect">
            <a:avLst>
              <a:gd name="adj" fmla="val 2791"/>
            </a:avLst>
          </a:prstGeom>
          <a:solidFill>
            <a:srgbClr val="F7F7F9"/>
          </a:solidFill>
          <a:ln w="6350">
            <a:solidFill>
              <a:srgbClr val="D8D8E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Box"/>
          <p:cNvSpPr txBox="1"/>
          <p:nvPr/>
        </p:nvSpPr>
        <p:spPr>
          <a:xfrm>
            <a:off x="895350" y="2698671"/>
            <a:ext cx="3056560" cy="29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141C"/>
                </a:solidFill>
                <a:latin typeface="Helvetica Neue"/>
              </a:rPr>
              <a:t>Navigational searches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95350" y="3049112"/>
            <a:ext cx="3056560" cy="77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14141C"/>
                </a:solidFill>
                <a:latin typeface="Helvetica Neue"/>
              </a:rPr>
              <a:t>Incumbent searches include logins, branches, opening hours. A working hypothesis, not verified at query level.</a:t>
            </a:r>
          </a:p>
        </p:txBody>
      </p:sp>
      <p:sp>
        <p:nvSpPr>
          <p:cNvPr id="12" name="RoundRect"/>
          <p:cNvSpPr/>
          <p:nvPr/>
        </p:nvSpPr>
        <p:spPr>
          <a:xfrm>
            <a:off x="4278809" y="2492296"/>
            <a:ext cx="3380284" cy="1758553"/>
          </a:xfrm>
          <a:prstGeom prst="roundRect">
            <a:avLst>
              <a:gd name="adj" fmla="val 2791"/>
            </a:avLst>
          </a:prstGeom>
          <a:solidFill>
            <a:srgbClr val="F7F7F9"/>
          </a:solidFill>
          <a:ln w="6350">
            <a:solidFill>
              <a:srgbClr val="D8D8E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TextBox"/>
          <p:cNvSpPr txBox="1"/>
          <p:nvPr/>
        </p:nvSpPr>
        <p:spPr>
          <a:xfrm>
            <a:off x="4485184" y="2698671"/>
            <a:ext cx="3056560" cy="29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141C"/>
                </a:solidFill>
                <a:latin typeface="Helvetica Neue"/>
              </a:rPr>
              <a:t>App-first journeys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4485184" y="3049112"/>
            <a:ext cx="3056560" cy="77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14141C"/>
                </a:solidFill>
                <a:latin typeface="Helvetica Neue"/>
              </a:rPr>
              <a:t>Sign-up via app stores and referral links, then daily app use without searching the name.</a:t>
            </a:r>
          </a:p>
        </p:txBody>
      </p:sp>
      <p:sp>
        <p:nvSpPr>
          <p:cNvPr id="15" name="RoundRect"/>
          <p:cNvSpPr/>
          <p:nvPr/>
        </p:nvSpPr>
        <p:spPr>
          <a:xfrm>
            <a:off x="7868741" y="2492296"/>
            <a:ext cx="3380284" cy="1758553"/>
          </a:xfrm>
          <a:prstGeom prst="roundRect">
            <a:avLst>
              <a:gd name="adj" fmla="val 2791"/>
            </a:avLst>
          </a:prstGeom>
          <a:solidFill>
            <a:srgbClr val="F7F7F9"/>
          </a:solidFill>
          <a:ln w="6350">
            <a:solidFill>
              <a:srgbClr val="D8D8E0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Box"/>
          <p:cNvSpPr txBox="1"/>
          <p:nvPr/>
        </p:nvSpPr>
        <p:spPr>
          <a:xfrm>
            <a:off x="8075116" y="2698671"/>
            <a:ext cx="3056560" cy="29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141C"/>
                </a:solidFill>
                <a:latin typeface="Helvetica Neue"/>
              </a:rPr>
              <a:t>Measurement floor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8075116" y="3049112"/>
            <a:ext cx="3056560" cy="77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14141C"/>
                </a:solidFill>
                <a:latin typeface="Helvetica Neue"/>
              </a:rPr>
              <a:t>Six brands never clear 10/100 in their own request; their share is partly rounding.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85800" y="4508024"/>
            <a:ext cx="10883392" cy="29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141C"/>
                </a:solidFill>
                <a:latin typeface="Helvetica Neue"/>
              </a:rPr>
              <a:t>Read challenger shares as a floor on attention, not a customer count.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6236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85868"/>
                </a:solidFill>
                <a:latin typeface="Helvetica Neue"/>
              </a:rPr>
              <a:t>Customer figure: Belga News Agency, 11 Mar 2026 (retrieved 21 Sep 2026) · never compared to a market-share figure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Banking Campaigns Comparator · ING DACI / Customer AI · September 2026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85868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