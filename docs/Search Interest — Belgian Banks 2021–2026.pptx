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This is a short read of how people in Belgium search for their banks on Google: fourteen banks, five years of weekly data. I answer three questions: who holds attention, how it is moving, and which competitors are worth studying.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Google Trends accepts only five terms per request, and its 0-to-100 values are only comparable inside one request, because each request is rescaled to its own peak. So I split the fourteen banks into five requests and kept ING and KBC in every one of them as a bridge. Each request gets one scaling factor from those two anchors. The largest correction applied is under half a percent: the chaining is almost an identity, not an extrapolation. Ambiguous names such as CBC, Argenta or N26 use Google Knowledge Graph topics rather than raw strings, so the data does not count searches for CBC News or an Italian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Over the full window, KBC leads with 21.3 percent of brand search. Belfius and ING come next, only 0.31 points apart. That gap is smaller than one unit of Google's scale: removing a single raw point from Belfius each week puts it exactly at ING's level. So I read ING and Belfius as level, not ING in third. The ten incumbents hold 97.6 percent of brand search, the four challengers 2.3 percent. Banks with an asterisk are too low-volume to read precisely; they stay in the ranking but I don't read their exact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This table is where the benchmark comes from. For each bank with enough search volume, I compare its share of brand search in the first and last yearly period, and its direction over the five years. The selection is made on attention alone. KBC has the largest share among traditional banks. Crelan is the fastest-rising traditional bank. Revolut is the only challenger with enough volume to measure over time. ING is the subject of the study, so it is never its own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From that, three competitors are worth studying, chosen on attention alone. KBC, the largest traditional brand, still more than three points ahead of ING. Crelan, the fastest-rising traditional bank. And Revolut, the only challenger with enough volume to measure over time. So any challenger-versus-incumbent comparison on movement is really Revolut versus the incumbents.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Then I look at what those three brands' pages measurably do differently from ING's. Three choices are shared by all three and not by ING: alt text on images, stronger call-to-action contrast, and animated elements. On each, ING sits on the other side of the market average. Beyond that the three brands diverge, so there is no single recipe. And one caveat matters: this shows differences, not why these brands are searched for. The samples are small: three KBC pages, one each for Crelan and Revolut.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Why do challengers look so small? Revolut reports more than a million private customers in Belgium, yet holds 1.6 percent of brand search, ninth of fourteen. Three reasons. Incumbent searches are partly navigational, people looking for a login or a branch; that is a hypothesis I have not verified with query-level data. Challenger journeys run through app stores and referrals, not Google. And small series hit a measurement floor. So I read challenger shares as a floor on attention, not as a measure of their customer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9B3BF"/>
                </a:solidFill>
                <a:latin typeface="IBM Plex Mono" pitchFamily="34" charset="0"/>
                <a:ea typeface="IBM Plex Mono" pitchFamily="34" charset="-122"/>
                <a:cs typeface="IBM Plex Mono" pitchFamily="34" charset="-120"/>
              </a:rPr>
              <a:t>SEARCH INTEREST · BELGIUM · 2021–2026</a:t>
            </a:r>
            <a:endParaRPr lang="en-US" sz="1200" dirty="0"/>
          </a:p>
        </p:txBody>
      </p:sp>
      <p:sp>
        <p:nvSpPr>
          <p:cNvPr id="3" name="Text 1"/>
          <p:cNvSpPr/>
          <p:nvPr/>
        </p:nvSpPr>
        <p:spPr>
          <a:xfrm>
            <a:off x="812800" y="2123579"/>
            <a:ext cx="9156700" cy="136644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4F2EC"/>
                </a:solidFill>
                <a:latin typeface="IBM Plex Sans" pitchFamily="34" charset="0"/>
                <a:ea typeface="IBM Plex Sans" pitchFamily="34" charset="-122"/>
                <a:cs typeface="IBM Plex Sans" pitchFamily="34" charset="-120"/>
              </a:rPr>
              <a:t>Who holds brand attention in Belgian banking?</a:t>
            </a:r>
            <a:endParaRPr lang="en-US" sz="4800" dirty="0"/>
          </a:p>
        </p:txBody>
      </p:sp>
      <p:sp>
        <p:nvSpPr>
          <p:cNvPr id="4" name="Text 2"/>
          <p:cNvSpPr/>
          <p:nvPr/>
        </p:nvSpPr>
        <p:spPr>
          <a:xfrm>
            <a:off x="812800" y="3667820"/>
            <a:ext cx="9156700"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C9D0D8"/>
                </a:solidFill>
                <a:latin typeface="IBM Plex Sans" pitchFamily="34" charset="0"/>
                <a:ea typeface="IBM Plex Sans" pitchFamily="34" charset="-122"/>
                <a:cs typeface="IBM Plex Sans" pitchFamily="34" charset="-120"/>
              </a:rPr>
              <a:t>Share of Google brand search for 14 banks, how it moved, and which competitors are worth studying</a:t>
            </a:r>
            <a:endParaRPr lang="en-US" sz="1800" dirty="0"/>
          </a:p>
        </p:txBody>
      </p:sp>
      <p:sp>
        <p:nvSpPr>
          <p:cNvPr id="5" name="Text 3"/>
          <p:cNvSpPr/>
          <p:nvPr/>
        </p:nvSpPr>
        <p:spPr>
          <a:xfrm>
            <a:off x="812800" y="5359499"/>
            <a:ext cx="538559" cy="47238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F08A52"/>
                </a:solidFill>
                <a:latin typeface="IBM Plex Mono" pitchFamily="34" charset="0"/>
                <a:ea typeface="IBM Plex Mono" pitchFamily="34" charset="-122"/>
                <a:cs typeface="IBM Plex Mono" pitchFamily="34" charset="-120"/>
              </a:rPr>
              <a:t>14</a:t>
            </a:r>
            <a:endParaRPr lang="en-US" sz="3200" dirty="0"/>
          </a:p>
        </p:txBody>
      </p:sp>
      <p:sp>
        <p:nvSpPr>
          <p:cNvPr id="6" name="Text 4"/>
          <p:cNvSpPr/>
          <p:nvPr/>
        </p:nvSpPr>
        <p:spPr>
          <a:xfrm>
            <a:off x="812800" y="5831880"/>
            <a:ext cx="5385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BF"/>
                </a:solidFill>
                <a:latin typeface="IBM Plex Sans" pitchFamily="34" charset="0"/>
                <a:ea typeface="IBM Plex Sans" pitchFamily="34" charset="-122"/>
                <a:cs typeface="IBM Plex Sans" pitchFamily="34" charset="-120"/>
              </a:rPr>
              <a:t>banks</a:t>
            </a:r>
            <a:endParaRPr lang="en-US" sz="1200" dirty="0"/>
          </a:p>
        </p:txBody>
      </p:sp>
      <p:sp>
        <p:nvSpPr>
          <p:cNvPr id="7" name="Text 5"/>
          <p:cNvSpPr/>
          <p:nvPr/>
        </p:nvSpPr>
        <p:spPr>
          <a:xfrm>
            <a:off x="2062559" y="5359499"/>
            <a:ext cx="1167606" cy="47238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F08A52"/>
                </a:solidFill>
                <a:latin typeface="IBM Plex Mono" pitchFamily="34" charset="0"/>
                <a:ea typeface="IBM Plex Mono" pitchFamily="34" charset="-122"/>
                <a:cs typeface="IBM Plex Mono" pitchFamily="34" charset="-120"/>
              </a:rPr>
              <a:t>261</a:t>
            </a:r>
            <a:endParaRPr lang="en-US" sz="3200" dirty="0"/>
          </a:p>
        </p:txBody>
      </p:sp>
      <p:sp>
        <p:nvSpPr>
          <p:cNvPr id="8" name="Text 6"/>
          <p:cNvSpPr/>
          <p:nvPr/>
        </p:nvSpPr>
        <p:spPr>
          <a:xfrm>
            <a:off x="2062559" y="5831880"/>
            <a:ext cx="11676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BF"/>
                </a:solidFill>
                <a:latin typeface="IBM Plex Sans" pitchFamily="34" charset="0"/>
                <a:ea typeface="IBM Plex Sans" pitchFamily="34" charset="-122"/>
                <a:cs typeface="IBM Plex Sans" pitchFamily="34" charset="-120"/>
              </a:rPr>
              <a:t>complete weeks</a:t>
            </a:r>
            <a:endParaRPr lang="en-US" sz="1200" dirty="0"/>
          </a:p>
        </p:txBody>
      </p:sp>
      <p:sp>
        <p:nvSpPr>
          <p:cNvPr id="9" name="Text 7"/>
          <p:cNvSpPr/>
          <p:nvPr/>
        </p:nvSpPr>
        <p:spPr>
          <a:xfrm>
            <a:off x="3941366" y="5359499"/>
            <a:ext cx="1013123" cy="47238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F08A52"/>
                </a:solidFill>
                <a:latin typeface="IBM Plex Mono" pitchFamily="34" charset="0"/>
                <a:ea typeface="IBM Plex Mono" pitchFamily="34" charset="-122"/>
                <a:cs typeface="IBM Plex Mono" pitchFamily="34" charset="-120"/>
              </a:rPr>
              <a:t>5</a:t>
            </a:r>
            <a:endParaRPr lang="en-US" sz="3200" dirty="0"/>
          </a:p>
        </p:txBody>
      </p:sp>
      <p:sp>
        <p:nvSpPr>
          <p:cNvPr id="10" name="Text 8"/>
          <p:cNvSpPr/>
          <p:nvPr/>
        </p:nvSpPr>
        <p:spPr>
          <a:xfrm>
            <a:off x="3941366" y="5831880"/>
            <a:ext cx="10131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3BF"/>
                </a:solidFill>
                <a:latin typeface="IBM Plex Sans" pitchFamily="34" charset="0"/>
                <a:ea typeface="IBM Plex Sans" pitchFamily="34" charset="-122"/>
                <a:cs typeface="IBM Plex Sans" pitchFamily="34" charset="-120"/>
              </a:rPr>
              <a:t>yearly periods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Google Trends via pytrends · Belgium · weekly · 261 complete weeks, 19 Sep 2021 – 13 Sep 2026</a:t>
            </a:r>
            <a:endParaRPr lang="en-US" sz="1200" dirty="0"/>
          </a:p>
        </p:txBody>
      </p:sp>
      <p:sp>
        <p:nvSpPr>
          <p:cNvPr id="3" name="Text 1"/>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2530"/>
                </a:solidFill>
                <a:latin typeface="IBM Plex Sans" pitchFamily="34" charset="0"/>
                <a:ea typeface="IBM Plex Sans" pitchFamily="34" charset="-122"/>
                <a:cs typeface="IBM Plex Sans" pitchFamily="34" charset="-120"/>
              </a:rPr>
              <a:t>Five requests, bridged by ING and KBC</a:t>
            </a:r>
            <a:endParaRPr lang="en-US" sz="3200" dirty="0"/>
          </a:p>
        </p:txBody>
      </p:sp>
      <p:sp>
        <p:nvSpPr>
          <p:cNvPr id="4" name="Text 2"/>
          <p:cNvSpPr/>
          <p:nvPr/>
        </p:nvSpPr>
        <p:spPr>
          <a:xfrm>
            <a:off x="812800" y="1612900"/>
            <a:ext cx="5755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Google Trends: at most 5 terms per request, each rescaled 0–100 to its own peak</a:t>
            </a:r>
            <a:endParaRPr lang="en-US" sz="1200" dirty="0"/>
          </a:p>
        </p:txBody>
      </p:sp>
      <p:sp>
        <p:nvSpPr>
          <p:cNvPr id="5" name="Text 3"/>
          <p:cNvSpPr/>
          <p:nvPr/>
        </p:nvSpPr>
        <p:spPr>
          <a:xfrm>
            <a:off x="812800" y="2004020"/>
            <a:ext cx="406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Mono" pitchFamily="34" charset="0"/>
                <a:ea typeface="IBM Plex Mono" pitchFamily="34" charset="-122"/>
                <a:cs typeface="IBM Plex Mono" pitchFamily="34" charset="-120"/>
              </a:rPr>
              <a:t>01</a:t>
            </a:r>
            <a:endParaRPr lang="en-US" sz="1200" dirty="0"/>
          </a:p>
        </p:txBody>
      </p:sp>
      <p:sp>
        <p:nvSpPr>
          <p:cNvPr id="6" name="Shape 4"/>
          <p:cNvSpPr/>
          <p:nvPr/>
        </p:nvSpPr>
        <p:spPr>
          <a:xfrm>
            <a:off x="1244600" y="1953220"/>
            <a:ext cx="528638" cy="314920"/>
          </a:xfrm>
          <a:prstGeom prst="roundRect">
            <a:avLst>
              <a:gd name="adj" fmla="val 48393"/>
            </a:avLst>
          </a:prstGeom>
          <a:solidFill>
            <a:srgbClr val="16202B"/>
          </a:solidFill>
          <a:ln/>
        </p:spPr>
      </p:sp>
      <p:sp>
        <p:nvSpPr>
          <p:cNvPr id="7" name="Text 5"/>
          <p:cNvSpPr/>
          <p:nvPr/>
        </p:nvSpPr>
        <p:spPr>
          <a:xfrm>
            <a:off x="1371600" y="2004020"/>
            <a:ext cx="3254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ING</a:t>
            </a:r>
            <a:endParaRPr lang="en-US" sz="1200" dirty="0"/>
          </a:p>
        </p:txBody>
      </p:sp>
      <p:sp>
        <p:nvSpPr>
          <p:cNvPr id="8" name="Shape 6"/>
          <p:cNvSpPr/>
          <p:nvPr/>
        </p:nvSpPr>
        <p:spPr>
          <a:xfrm>
            <a:off x="1849438" y="1953220"/>
            <a:ext cx="544810" cy="314920"/>
          </a:xfrm>
          <a:prstGeom prst="roundRect">
            <a:avLst>
              <a:gd name="adj" fmla="val 48393"/>
            </a:avLst>
          </a:prstGeom>
          <a:solidFill>
            <a:srgbClr val="16202B"/>
          </a:solidFill>
          <a:ln/>
        </p:spPr>
      </p:sp>
      <p:sp>
        <p:nvSpPr>
          <p:cNvPr id="9" name="Text 7"/>
          <p:cNvSpPr/>
          <p:nvPr/>
        </p:nvSpPr>
        <p:spPr>
          <a:xfrm>
            <a:off x="1976438" y="2004020"/>
            <a:ext cx="3416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KBC</a:t>
            </a:r>
            <a:endParaRPr lang="en-US" sz="1200" dirty="0"/>
          </a:p>
        </p:txBody>
      </p:sp>
      <p:sp>
        <p:nvSpPr>
          <p:cNvPr id="10" name="Shape 8"/>
          <p:cNvSpPr/>
          <p:nvPr/>
        </p:nvSpPr>
        <p:spPr>
          <a:xfrm>
            <a:off x="2476798" y="1959570"/>
            <a:ext cx="530126" cy="302220"/>
          </a:xfrm>
          <a:prstGeom prst="roundRect">
            <a:avLst>
              <a:gd name="adj" fmla="val 48326"/>
            </a:avLst>
          </a:prstGeom>
          <a:solidFill>
            <a:srgbClr val="FBFAF6"/>
          </a:solidFill>
          <a:ln w="12700">
            <a:solidFill>
              <a:srgbClr val="1D6F63"/>
            </a:solidFill>
            <a:prstDash val="dash"/>
          </a:ln>
        </p:spPr>
      </p:sp>
      <p:sp>
        <p:nvSpPr>
          <p:cNvPr id="11" name="Text 9"/>
          <p:cNvSpPr/>
          <p:nvPr/>
        </p:nvSpPr>
        <p:spPr>
          <a:xfrm>
            <a:off x="2597448" y="2004020"/>
            <a:ext cx="3396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CBC</a:t>
            </a:r>
            <a:endParaRPr lang="en-US" sz="1200" dirty="0"/>
          </a:p>
        </p:txBody>
      </p:sp>
      <p:sp>
        <p:nvSpPr>
          <p:cNvPr id="12" name="Text 10"/>
          <p:cNvSpPr/>
          <p:nvPr/>
        </p:nvSpPr>
        <p:spPr>
          <a:xfrm>
            <a:off x="3089473" y="2004020"/>
            <a:ext cx="8738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F63"/>
                </a:solidFill>
                <a:latin typeface="IBM Plex Mono" pitchFamily="34" charset="0"/>
                <a:ea typeface="IBM Plex Mono" pitchFamily="34" charset="-122"/>
                <a:cs typeface="IBM Plex Mono" pitchFamily="34" charset="-120"/>
              </a:rPr>
              <a:t>reference</a:t>
            </a:r>
            <a:endParaRPr lang="en-US" sz="1200" dirty="0"/>
          </a:p>
        </p:txBody>
      </p:sp>
      <p:sp>
        <p:nvSpPr>
          <p:cNvPr id="13" name="Text 11"/>
          <p:cNvSpPr/>
          <p:nvPr/>
        </p:nvSpPr>
        <p:spPr>
          <a:xfrm>
            <a:off x="812800" y="2445941"/>
            <a:ext cx="406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Mono" pitchFamily="34" charset="0"/>
                <a:ea typeface="IBM Plex Mono" pitchFamily="34" charset="-122"/>
                <a:cs typeface="IBM Plex Mono" pitchFamily="34" charset="-120"/>
              </a:rPr>
              <a:t>02</a:t>
            </a:r>
            <a:endParaRPr lang="en-US" sz="1200" dirty="0"/>
          </a:p>
        </p:txBody>
      </p:sp>
      <p:sp>
        <p:nvSpPr>
          <p:cNvPr id="14" name="Shape 12"/>
          <p:cNvSpPr/>
          <p:nvPr/>
        </p:nvSpPr>
        <p:spPr>
          <a:xfrm>
            <a:off x="1244600" y="2395141"/>
            <a:ext cx="528638" cy="314920"/>
          </a:xfrm>
          <a:prstGeom prst="roundRect">
            <a:avLst>
              <a:gd name="adj" fmla="val 48393"/>
            </a:avLst>
          </a:prstGeom>
          <a:solidFill>
            <a:srgbClr val="16202B"/>
          </a:solidFill>
          <a:ln/>
        </p:spPr>
      </p:sp>
      <p:sp>
        <p:nvSpPr>
          <p:cNvPr id="15" name="Text 13"/>
          <p:cNvSpPr/>
          <p:nvPr/>
        </p:nvSpPr>
        <p:spPr>
          <a:xfrm>
            <a:off x="1371600" y="2445941"/>
            <a:ext cx="3254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ING</a:t>
            </a:r>
            <a:endParaRPr lang="en-US" sz="1200" dirty="0"/>
          </a:p>
        </p:txBody>
      </p:sp>
      <p:sp>
        <p:nvSpPr>
          <p:cNvPr id="16" name="Shape 14"/>
          <p:cNvSpPr/>
          <p:nvPr/>
        </p:nvSpPr>
        <p:spPr>
          <a:xfrm>
            <a:off x="1849438" y="2395141"/>
            <a:ext cx="544810" cy="314920"/>
          </a:xfrm>
          <a:prstGeom prst="roundRect">
            <a:avLst>
              <a:gd name="adj" fmla="val 48393"/>
            </a:avLst>
          </a:prstGeom>
          <a:solidFill>
            <a:srgbClr val="16202B"/>
          </a:solidFill>
          <a:ln/>
        </p:spPr>
      </p:sp>
      <p:sp>
        <p:nvSpPr>
          <p:cNvPr id="17" name="Text 15"/>
          <p:cNvSpPr/>
          <p:nvPr/>
        </p:nvSpPr>
        <p:spPr>
          <a:xfrm>
            <a:off x="1976438" y="2445941"/>
            <a:ext cx="3416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KBC</a:t>
            </a:r>
            <a:endParaRPr lang="en-US" sz="1200" dirty="0"/>
          </a:p>
        </p:txBody>
      </p:sp>
      <p:sp>
        <p:nvSpPr>
          <p:cNvPr id="18" name="Shape 16"/>
          <p:cNvSpPr/>
          <p:nvPr/>
        </p:nvSpPr>
        <p:spPr>
          <a:xfrm>
            <a:off x="2476798" y="2401491"/>
            <a:ext cx="1512193" cy="302220"/>
          </a:xfrm>
          <a:prstGeom prst="roundRect">
            <a:avLst>
              <a:gd name="adj" fmla="val 48326"/>
            </a:avLst>
          </a:prstGeom>
          <a:solidFill>
            <a:srgbClr val="FBFAF6"/>
          </a:solidFill>
          <a:ln w="12700">
            <a:solidFill>
              <a:srgbClr val="1D6F63"/>
            </a:solidFill>
            <a:prstDash val="dash"/>
          </a:ln>
        </p:spPr>
      </p:sp>
      <p:sp>
        <p:nvSpPr>
          <p:cNvPr id="19" name="Text 17"/>
          <p:cNvSpPr/>
          <p:nvPr/>
        </p:nvSpPr>
        <p:spPr>
          <a:xfrm>
            <a:off x="2597448" y="2445941"/>
            <a:ext cx="1321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BNP Paribas Fortis</a:t>
            </a:r>
            <a:endParaRPr lang="en-US" sz="1200" dirty="0"/>
          </a:p>
        </p:txBody>
      </p:sp>
      <p:sp>
        <p:nvSpPr>
          <p:cNvPr id="20" name="Shape 18"/>
          <p:cNvSpPr/>
          <p:nvPr/>
        </p:nvSpPr>
        <p:spPr>
          <a:xfrm>
            <a:off x="4077891" y="2401491"/>
            <a:ext cx="776089" cy="302220"/>
          </a:xfrm>
          <a:prstGeom prst="roundRect">
            <a:avLst>
              <a:gd name="adj" fmla="val 48326"/>
            </a:avLst>
          </a:prstGeom>
          <a:solidFill>
            <a:srgbClr val="FBFAF6"/>
          </a:solidFill>
          <a:ln w="12700">
            <a:solidFill>
              <a:srgbClr val="1D6F63"/>
            </a:solidFill>
            <a:prstDash val="dash"/>
          </a:ln>
        </p:spPr>
      </p:sp>
      <p:sp>
        <p:nvSpPr>
          <p:cNvPr id="21" name="Text 19"/>
          <p:cNvSpPr/>
          <p:nvPr/>
        </p:nvSpPr>
        <p:spPr>
          <a:xfrm>
            <a:off x="4198541" y="2445941"/>
            <a:ext cx="5855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Argenta</a:t>
            </a:r>
            <a:endParaRPr lang="en-US" sz="1200" dirty="0"/>
          </a:p>
        </p:txBody>
      </p:sp>
      <p:sp>
        <p:nvSpPr>
          <p:cNvPr id="22" name="Shape 20"/>
          <p:cNvSpPr/>
          <p:nvPr/>
        </p:nvSpPr>
        <p:spPr>
          <a:xfrm>
            <a:off x="4942880" y="2401491"/>
            <a:ext cx="684213" cy="302220"/>
          </a:xfrm>
          <a:prstGeom prst="roundRect">
            <a:avLst>
              <a:gd name="adj" fmla="val 48326"/>
            </a:avLst>
          </a:prstGeom>
          <a:solidFill>
            <a:srgbClr val="FBFAF6"/>
          </a:solidFill>
          <a:ln w="12700">
            <a:solidFill>
              <a:srgbClr val="DEDAD0"/>
            </a:solidFill>
            <a:prstDash val="solid"/>
          </a:ln>
        </p:spPr>
      </p:sp>
      <p:sp>
        <p:nvSpPr>
          <p:cNvPr id="23" name="Text 21"/>
          <p:cNvSpPr/>
          <p:nvPr/>
        </p:nvSpPr>
        <p:spPr>
          <a:xfrm>
            <a:off x="5063530" y="2445941"/>
            <a:ext cx="49371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Crelan</a:t>
            </a:r>
            <a:endParaRPr lang="en-US" sz="1200" dirty="0"/>
          </a:p>
        </p:txBody>
      </p:sp>
      <p:sp>
        <p:nvSpPr>
          <p:cNvPr id="24" name="Text 22"/>
          <p:cNvSpPr/>
          <p:nvPr/>
        </p:nvSpPr>
        <p:spPr>
          <a:xfrm>
            <a:off x="812800" y="2887861"/>
            <a:ext cx="406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Mono" pitchFamily="34" charset="0"/>
                <a:ea typeface="IBM Plex Mono" pitchFamily="34" charset="-122"/>
                <a:cs typeface="IBM Plex Mono" pitchFamily="34" charset="-120"/>
              </a:rPr>
              <a:t>03</a:t>
            </a:r>
            <a:endParaRPr lang="en-US" sz="1200" dirty="0"/>
          </a:p>
        </p:txBody>
      </p:sp>
      <p:sp>
        <p:nvSpPr>
          <p:cNvPr id="25" name="Shape 23"/>
          <p:cNvSpPr/>
          <p:nvPr/>
        </p:nvSpPr>
        <p:spPr>
          <a:xfrm>
            <a:off x="1244600" y="2837061"/>
            <a:ext cx="528638" cy="314920"/>
          </a:xfrm>
          <a:prstGeom prst="roundRect">
            <a:avLst>
              <a:gd name="adj" fmla="val 48393"/>
            </a:avLst>
          </a:prstGeom>
          <a:solidFill>
            <a:srgbClr val="16202B"/>
          </a:solidFill>
          <a:ln/>
        </p:spPr>
      </p:sp>
      <p:sp>
        <p:nvSpPr>
          <p:cNvPr id="26" name="Text 24"/>
          <p:cNvSpPr/>
          <p:nvPr/>
        </p:nvSpPr>
        <p:spPr>
          <a:xfrm>
            <a:off x="1371600" y="2887861"/>
            <a:ext cx="3254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ING</a:t>
            </a:r>
            <a:endParaRPr lang="en-US" sz="1200" dirty="0"/>
          </a:p>
        </p:txBody>
      </p:sp>
      <p:sp>
        <p:nvSpPr>
          <p:cNvPr id="27" name="Shape 25"/>
          <p:cNvSpPr/>
          <p:nvPr/>
        </p:nvSpPr>
        <p:spPr>
          <a:xfrm>
            <a:off x="1849438" y="2837061"/>
            <a:ext cx="544810" cy="314920"/>
          </a:xfrm>
          <a:prstGeom prst="roundRect">
            <a:avLst>
              <a:gd name="adj" fmla="val 48393"/>
            </a:avLst>
          </a:prstGeom>
          <a:solidFill>
            <a:srgbClr val="16202B"/>
          </a:solidFill>
          <a:ln/>
        </p:spPr>
      </p:sp>
      <p:sp>
        <p:nvSpPr>
          <p:cNvPr id="28" name="Text 26"/>
          <p:cNvSpPr/>
          <p:nvPr/>
        </p:nvSpPr>
        <p:spPr>
          <a:xfrm>
            <a:off x="1976438" y="2887861"/>
            <a:ext cx="3416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KBC</a:t>
            </a:r>
            <a:endParaRPr lang="en-US" sz="1200" dirty="0"/>
          </a:p>
        </p:txBody>
      </p:sp>
      <p:sp>
        <p:nvSpPr>
          <p:cNvPr id="29" name="Shape 27"/>
          <p:cNvSpPr/>
          <p:nvPr/>
        </p:nvSpPr>
        <p:spPr>
          <a:xfrm>
            <a:off x="2476798" y="2843411"/>
            <a:ext cx="759619" cy="302220"/>
          </a:xfrm>
          <a:prstGeom prst="roundRect">
            <a:avLst>
              <a:gd name="adj" fmla="val 48326"/>
            </a:avLst>
          </a:prstGeom>
          <a:solidFill>
            <a:srgbClr val="FBFAF6"/>
          </a:solidFill>
          <a:ln w="12700">
            <a:solidFill>
              <a:srgbClr val="DEDAD0"/>
            </a:solidFill>
            <a:prstDash val="solid"/>
          </a:ln>
        </p:spPr>
      </p:sp>
      <p:sp>
        <p:nvSpPr>
          <p:cNvPr id="30" name="Text 28"/>
          <p:cNvSpPr/>
          <p:nvPr/>
        </p:nvSpPr>
        <p:spPr>
          <a:xfrm>
            <a:off x="2597448" y="2887861"/>
            <a:ext cx="5691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Revolut</a:t>
            </a:r>
            <a:endParaRPr lang="en-US" sz="1200" dirty="0"/>
          </a:p>
        </p:txBody>
      </p:sp>
      <p:sp>
        <p:nvSpPr>
          <p:cNvPr id="31" name="Shape 29"/>
          <p:cNvSpPr/>
          <p:nvPr/>
        </p:nvSpPr>
        <p:spPr>
          <a:xfrm>
            <a:off x="3325316" y="2843411"/>
            <a:ext cx="532011" cy="302220"/>
          </a:xfrm>
          <a:prstGeom prst="roundRect">
            <a:avLst>
              <a:gd name="adj" fmla="val 48326"/>
            </a:avLst>
          </a:prstGeom>
          <a:solidFill>
            <a:srgbClr val="FBFAF6"/>
          </a:solidFill>
          <a:ln w="12700">
            <a:solidFill>
              <a:srgbClr val="1D6F63"/>
            </a:solidFill>
            <a:prstDash val="dash"/>
          </a:ln>
        </p:spPr>
      </p:sp>
      <p:sp>
        <p:nvSpPr>
          <p:cNvPr id="32" name="Text 30"/>
          <p:cNvSpPr/>
          <p:nvPr/>
        </p:nvSpPr>
        <p:spPr>
          <a:xfrm>
            <a:off x="3445966" y="2887861"/>
            <a:ext cx="3415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N26</a:t>
            </a:r>
            <a:endParaRPr lang="en-US" sz="1200" dirty="0"/>
          </a:p>
        </p:txBody>
      </p:sp>
      <p:sp>
        <p:nvSpPr>
          <p:cNvPr id="33" name="Shape 31"/>
          <p:cNvSpPr/>
          <p:nvPr/>
        </p:nvSpPr>
        <p:spPr>
          <a:xfrm>
            <a:off x="3946227" y="2843411"/>
            <a:ext cx="591245" cy="302220"/>
          </a:xfrm>
          <a:prstGeom prst="roundRect">
            <a:avLst>
              <a:gd name="adj" fmla="val 48326"/>
            </a:avLst>
          </a:prstGeom>
          <a:solidFill>
            <a:srgbClr val="FBFAF6"/>
          </a:solidFill>
          <a:ln w="12700">
            <a:solidFill>
              <a:srgbClr val="DEDAD0"/>
            </a:solidFill>
            <a:prstDash val="solid"/>
          </a:ln>
        </p:spPr>
      </p:sp>
      <p:sp>
        <p:nvSpPr>
          <p:cNvPr id="34" name="Text 32"/>
          <p:cNvSpPr/>
          <p:nvPr/>
        </p:nvSpPr>
        <p:spPr>
          <a:xfrm>
            <a:off x="4066877" y="2887861"/>
            <a:ext cx="4007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bunq</a:t>
            </a:r>
            <a:endParaRPr lang="en-US" sz="1200" dirty="0"/>
          </a:p>
        </p:txBody>
      </p:sp>
      <p:sp>
        <p:nvSpPr>
          <p:cNvPr id="35" name="Text 33"/>
          <p:cNvSpPr/>
          <p:nvPr/>
        </p:nvSpPr>
        <p:spPr>
          <a:xfrm>
            <a:off x="812800" y="3329781"/>
            <a:ext cx="406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Mono" pitchFamily="34" charset="0"/>
                <a:ea typeface="IBM Plex Mono" pitchFamily="34" charset="-122"/>
                <a:cs typeface="IBM Plex Mono" pitchFamily="34" charset="-120"/>
              </a:rPr>
              <a:t>04</a:t>
            </a:r>
            <a:endParaRPr lang="en-US" sz="1200" dirty="0"/>
          </a:p>
        </p:txBody>
      </p:sp>
      <p:sp>
        <p:nvSpPr>
          <p:cNvPr id="36" name="Shape 34"/>
          <p:cNvSpPr/>
          <p:nvPr/>
        </p:nvSpPr>
        <p:spPr>
          <a:xfrm>
            <a:off x="1244600" y="3278981"/>
            <a:ext cx="528638" cy="314920"/>
          </a:xfrm>
          <a:prstGeom prst="roundRect">
            <a:avLst>
              <a:gd name="adj" fmla="val 48393"/>
            </a:avLst>
          </a:prstGeom>
          <a:solidFill>
            <a:srgbClr val="16202B"/>
          </a:solidFill>
          <a:ln/>
        </p:spPr>
      </p:sp>
      <p:sp>
        <p:nvSpPr>
          <p:cNvPr id="37" name="Text 35"/>
          <p:cNvSpPr/>
          <p:nvPr/>
        </p:nvSpPr>
        <p:spPr>
          <a:xfrm>
            <a:off x="1371600" y="3329781"/>
            <a:ext cx="3254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ING</a:t>
            </a:r>
            <a:endParaRPr lang="en-US" sz="1200" dirty="0"/>
          </a:p>
        </p:txBody>
      </p:sp>
      <p:sp>
        <p:nvSpPr>
          <p:cNvPr id="38" name="Shape 36"/>
          <p:cNvSpPr/>
          <p:nvPr/>
        </p:nvSpPr>
        <p:spPr>
          <a:xfrm>
            <a:off x="1849438" y="3278981"/>
            <a:ext cx="544810" cy="314920"/>
          </a:xfrm>
          <a:prstGeom prst="roundRect">
            <a:avLst>
              <a:gd name="adj" fmla="val 48393"/>
            </a:avLst>
          </a:prstGeom>
          <a:solidFill>
            <a:srgbClr val="16202B"/>
          </a:solidFill>
          <a:ln/>
        </p:spPr>
      </p:sp>
      <p:sp>
        <p:nvSpPr>
          <p:cNvPr id="39" name="Text 37"/>
          <p:cNvSpPr/>
          <p:nvPr/>
        </p:nvSpPr>
        <p:spPr>
          <a:xfrm>
            <a:off x="1976438" y="3329781"/>
            <a:ext cx="3416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KBC</a:t>
            </a:r>
            <a:endParaRPr lang="en-US" sz="1200" dirty="0"/>
          </a:p>
        </p:txBody>
      </p:sp>
      <p:sp>
        <p:nvSpPr>
          <p:cNvPr id="40" name="Shape 38"/>
          <p:cNvSpPr/>
          <p:nvPr/>
        </p:nvSpPr>
        <p:spPr>
          <a:xfrm>
            <a:off x="2476798" y="3285331"/>
            <a:ext cx="713184" cy="302220"/>
          </a:xfrm>
          <a:prstGeom prst="roundRect">
            <a:avLst>
              <a:gd name="adj" fmla="val 48326"/>
            </a:avLst>
          </a:prstGeom>
          <a:solidFill>
            <a:srgbClr val="FBFAF6"/>
          </a:solidFill>
          <a:ln w="12700">
            <a:solidFill>
              <a:srgbClr val="DEDAD0"/>
            </a:solidFill>
            <a:prstDash val="solid"/>
          </a:ln>
        </p:spPr>
      </p:sp>
      <p:sp>
        <p:nvSpPr>
          <p:cNvPr id="41" name="Text 39"/>
          <p:cNvSpPr/>
          <p:nvPr/>
        </p:nvSpPr>
        <p:spPr>
          <a:xfrm>
            <a:off x="2597448" y="3329781"/>
            <a:ext cx="5226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Belfius</a:t>
            </a:r>
            <a:endParaRPr lang="en-US" sz="1200" dirty="0"/>
          </a:p>
        </p:txBody>
      </p:sp>
      <p:sp>
        <p:nvSpPr>
          <p:cNvPr id="42" name="Shape 40"/>
          <p:cNvSpPr/>
          <p:nvPr/>
        </p:nvSpPr>
        <p:spPr>
          <a:xfrm>
            <a:off x="3278882" y="3285331"/>
            <a:ext cx="846534" cy="302220"/>
          </a:xfrm>
          <a:prstGeom prst="roundRect">
            <a:avLst>
              <a:gd name="adj" fmla="val 48326"/>
            </a:avLst>
          </a:prstGeom>
          <a:solidFill>
            <a:srgbClr val="FBFAF6"/>
          </a:solidFill>
          <a:ln w="12700">
            <a:solidFill>
              <a:srgbClr val="DEDAD0"/>
            </a:solidFill>
            <a:prstDash val="solid"/>
          </a:ln>
        </p:spPr>
      </p:sp>
      <p:sp>
        <p:nvSpPr>
          <p:cNvPr id="43" name="Text 41"/>
          <p:cNvSpPr/>
          <p:nvPr/>
        </p:nvSpPr>
        <p:spPr>
          <a:xfrm>
            <a:off x="3399532" y="3329781"/>
            <a:ext cx="6560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Beobank</a:t>
            </a:r>
            <a:endParaRPr lang="en-US" sz="1200" dirty="0"/>
          </a:p>
        </p:txBody>
      </p:sp>
      <p:sp>
        <p:nvSpPr>
          <p:cNvPr id="44" name="Shape 42"/>
          <p:cNvSpPr/>
          <p:nvPr/>
        </p:nvSpPr>
        <p:spPr>
          <a:xfrm>
            <a:off x="4214316" y="3285331"/>
            <a:ext cx="916781" cy="302220"/>
          </a:xfrm>
          <a:prstGeom prst="roundRect">
            <a:avLst>
              <a:gd name="adj" fmla="val 48326"/>
            </a:avLst>
          </a:prstGeom>
          <a:solidFill>
            <a:srgbClr val="FBFAF6"/>
          </a:solidFill>
          <a:ln w="12700">
            <a:solidFill>
              <a:srgbClr val="1D6F63"/>
            </a:solidFill>
            <a:prstDash val="dash"/>
          </a:ln>
        </p:spPr>
      </p:sp>
      <p:sp>
        <p:nvSpPr>
          <p:cNvPr id="45" name="Text 43"/>
          <p:cNvSpPr/>
          <p:nvPr/>
        </p:nvSpPr>
        <p:spPr>
          <a:xfrm>
            <a:off x="4334966" y="3329781"/>
            <a:ext cx="7262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VDK Bank</a:t>
            </a:r>
            <a:endParaRPr lang="en-US" sz="1200" dirty="0"/>
          </a:p>
        </p:txBody>
      </p:sp>
      <p:sp>
        <p:nvSpPr>
          <p:cNvPr id="46" name="Text 44"/>
          <p:cNvSpPr/>
          <p:nvPr/>
        </p:nvSpPr>
        <p:spPr>
          <a:xfrm>
            <a:off x="812800" y="3771702"/>
            <a:ext cx="406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Mono" pitchFamily="34" charset="0"/>
                <a:ea typeface="IBM Plex Mono" pitchFamily="34" charset="-122"/>
                <a:cs typeface="IBM Plex Mono" pitchFamily="34" charset="-120"/>
              </a:rPr>
              <a:t>05</a:t>
            </a:r>
            <a:endParaRPr lang="en-US" sz="1200" dirty="0"/>
          </a:p>
        </p:txBody>
      </p:sp>
      <p:sp>
        <p:nvSpPr>
          <p:cNvPr id="47" name="Shape 45"/>
          <p:cNvSpPr/>
          <p:nvPr/>
        </p:nvSpPr>
        <p:spPr>
          <a:xfrm>
            <a:off x="1244600" y="3720902"/>
            <a:ext cx="528638" cy="314920"/>
          </a:xfrm>
          <a:prstGeom prst="roundRect">
            <a:avLst>
              <a:gd name="adj" fmla="val 48393"/>
            </a:avLst>
          </a:prstGeom>
          <a:solidFill>
            <a:srgbClr val="16202B"/>
          </a:solidFill>
          <a:ln/>
        </p:spPr>
      </p:sp>
      <p:sp>
        <p:nvSpPr>
          <p:cNvPr id="48" name="Text 46"/>
          <p:cNvSpPr/>
          <p:nvPr/>
        </p:nvSpPr>
        <p:spPr>
          <a:xfrm>
            <a:off x="1371600" y="3771702"/>
            <a:ext cx="3254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ING</a:t>
            </a:r>
            <a:endParaRPr lang="en-US" sz="1200" dirty="0"/>
          </a:p>
        </p:txBody>
      </p:sp>
      <p:sp>
        <p:nvSpPr>
          <p:cNvPr id="49" name="Shape 47"/>
          <p:cNvSpPr/>
          <p:nvPr/>
        </p:nvSpPr>
        <p:spPr>
          <a:xfrm>
            <a:off x="1849438" y="3720902"/>
            <a:ext cx="544810" cy="314920"/>
          </a:xfrm>
          <a:prstGeom prst="roundRect">
            <a:avLst>
              <a:gd name="adj" fmla="val 48393"/>
            </a:avLst>
          </a:prstGeom>
          <a:solidFill>
            <a:srgbClr val="16202B"/>
          </a:solidFill>
          <a:ln/>
        </p:spPr>
      </p:sp>
      <p:sp>
        <p:nvSpPr>
          <p:cNvPr id="50" name="Text 48"/>
          <p:cNvSpPr/>
          <p:nvPr/>
        </p:nvSpPr>
        <p:spPr>
          <a:xfrm>
            <a:off x="1976438" y="3771702"/>
            <a:ext cx="3416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2EC"/>
                </a:solidFill>
                <a:latin typeface="IBM Plex Sans" pitchFamily="34" charset="0"/>
                <a:ea typeface="IBM Plex Sans" pitchFamily="34" charset="-122"/>
                <a:cs typeface="IBM Plex Sans" pitchFamily="34" charset="-120"/>
              </a:rPr>
              <a:t>KBC</a:t>
            </a:r>
            <a:endParaRPr lang="en-US" sz="1200" dirty="0"/>
          </a:p>
        </p:txBody>
      </p:sp>
      <p:sp>
        <p:nvSpPr>
          <p:cNvPr id="51" name="Shape 49"/>
          <p:cNvSpPr/>
          <p:nvPr/>
        </p:nvSpPr>
        <p:spPr>
          <a:xfrm>
            <a:off x="2476798" y="3727252"/>
            <a:ext cx="1016198" cy="302220"/>
          </a:xfrm>
          <a:prstGeom prst="roundRect">
            <a:avLst>
              <a:gd name="adj" fmla="val 48326"/>
            </a:avLst>
          </a:prstGeom>
          <a:solidFill>
            <a:srgbClr val="FBFAF6"/>
          </a:solidFill>
          <a:ln w="12700">
            <a:solidFill>
              <a:srgbClr val="DEDAD0"/>
            </a:solidFill>
            <a:prstDash val="solid"/>
          </a:ln>
        </p:spPr>
      </p:sp>
      <p:sp>
        <p:nvSpPr>
          <p:cNvPr id="52" name="Text 50"/>
          <p:cNvSpPr/>
          <p:nvPr/>
        </p:nvSpPr>
        <p:spPr>
          <a:xfrm>
            <a:off x="2597448" y="3771702"/>
            <a:ext cx="8256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Hello bank!</a:t>
            </a:r>
            <a:endParaRPr lang="en-US" sz="1200" dirty="0"/>
          </a:p>
        </p:txBody>
      </p:sp>
      <p:sp>
        <p:nvSpPr>
          <p:cNvPr id="53" name="Shape 51"/>
          <p:cNvSpPr/>
          <p:nvPr/>
        </p:nvSpPr>
        <p:spPr>
          <a:xfrm>
            <a:off x="3581896" y="3727252"/>
            <a:ext cx="1239143" cy="302220"/>
          </a:xfrm>
          <a:prstGeom prst="roundRect">
            <a:avLst>
              <a:gd name="adj" fmla="val 48326"/>
            </a:avLst>
          </a:prstGeom>
          <a:solidFill>
            <a:srgbClr val="FBFAF6"/>
          </a:solidFill>
          <a:ln w="12700">
            <a:solidFill>
              <a:srgbClr val="DEDAD0"/>
            </a:solidFill>
            <a:prstDash val="solid"/>
          </a:ln>
        </p:spPr>
      </p:sp>
      <p:sp>
        <p:nvSpPr>
          <p:cNvPr id="54" name="Text 52"/>
          <p:cNvSpPr/>
          <p:nvPr/>
        </p:nvSpPr>
        <p:spPr>
          <a:xfrm>
            <a:off x="3702546" y="3771702"/>
            <a:ext cx="10486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Keytrade Bank</a:t>
            </a:r>
            <a:endParaRPr lang="en-US" sz="1200" dirty="0"/>
          </a:p>
        </p:txBody>
      </p:sp>
      <p:sp>
        <p:nvSpPr>
          <p:cNvPr id="55" name="Text 53"/>
          <p:cNvSpPr/>
          <p:nvPr/>
        </p:nvSpPr>
        <p:spPr>
          <a:xfrm>
            <a:off x="812800" y="4162822"/>
            <a:ext cx="18756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a:t>
            </a:r>
            <a:r>
              <a:rPr lang="en-US" sz="1200" dirty="0">
                <a:solidFill>
                  <a:srgbClr val="5B6470"/>
                </a:solidFill>
                <a:latin typeface="IBM Plex Sans" pitchFamily="34" charset="0"/>
                <a:ea typeface="IBM Plex Sans" pitchFamily="34" charset="-122"/>
                <a:cs typeface="IBM Plex Sans" pitchFamily="34" charset="-120"/>
              </a:rPr>
              <a:t> Anchors in every request</a:t>
            </a:r>
            <a:endParaRPr lang="en-US" sz="1200" dirty="0"/>
          </a:p>
        </p:txBody>
      </p:sp>
      <p:sp>
        <p:nvSpPr>
          <p:cNvPr id="56" name="Text 54"/>
          <p:cNvSpPr/>
          <p:nvPr/>
        </p:nvSpPr>
        <p:spPr>
          <a:xfrm>
            <a:off x="2837061" y="4162822"/>
            <a:ext cx="244297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F63"/>
                </a:solidFill>
                <a:latin typeface="IBM Plex Sans" pitchFamily="34" charset="0"/>
                <a:ea typeface="IBM Plex Sans" pitchFamily="34" charset="-122"/>
                <a:cs typeface="IBM Plex Sans" pitchFamily="34" charset="-120"/>
              </a:rPr>
              <a:t>▭</a:t>
            </a:r>
            <a:r>
              <a:rPr lang="en-US" sz="1200" dirty="0">
                <a:solidFill>
                  <a:srgbClr val="5B6470"/>
                </a:solidFill>
                <a:latin typeface="IBM Plex Sans" pitchFamily="34" charset="0"/>
                <a:ea typeface="IBM Plex Sans" pitchFamily="34" charset="-122"/>
                <a:cs typeface="IBM Plex Sans" pitchFamily="34" charset="-120"/>
              </a:rPr>
              <a:t> Dashed: Knowledge Graph topic</a:t>
            </a:r>
            <a:endParaRPr lang="en-US" sz="1200" dirty="0"/>
          </a:p>
        </p:txBody>
      </p:sp>
      <p:sp>
        <p:nvSpPr>
          <p:cNvPr id="57" name="Text 55"/>
          <p:cNvSpPr/>
          <p:nvPr/>
        </p:nvSpPr>
        <p:spPr>
          <a:xfrm>
            <a:off x="6908800" y="1612900"/>
            <a:ext cx="4604512"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1D6F63"/>
                </a:solidFill>
                <a:latin typeface="IBM Plex Mono" pitchFamily="34" charset="0"/>
                <a:ea typeface="IBM Plex Mono" pitchFamily="34" charset="-122"/>
                <a:cs typeface="IBM Plex Mono" pitchFamily="34" charset="-120"/>
              </a:rPr>
              <a:t>&lt; 0.5%</a:t>
            </a:r>
            <a:endParaRPr lang="en-US" sz="4800" dirty="0"/>
          </a:p>
        </p:txBody>
      </p:sp>
      <p:sp>
        <p:nvSpPr>
          <p:cNvPr id="58" name="Text 56"/>
          <p:cNvSpPr/>
          <p:nvPr/>
        </p:nvSpPr>
        <p:spPr>
          <a:xfrm>
            <a:off x="6908800" y="2435820"/>
            <a:ext cx="46045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Largest scaling correction applied to any request — a near-identity, not an extrapolation.</a:t>
            </a:r>
            <a:endParaRPr lang="en-US" sz="1400" dirty="0"/>
          </a:p>
        </p:txBody>
      </p:sp>
      <p:pic>
        <p:nvPicPr>
          <p:cNvPr id="59" name="Image 0" descr="line">    </p:cNvPr>
          <p:cNvPicPr>
            <a:picLocks noChangeAspect="1"/>
          </p:cNvPicPr>
          <p:nvPr/>
        </p:nvPicPr>
        <p:blipFill>
          <a:blip r:embed="rId1"/>
          <a:srcRect l="0" r="0" t="0" b="0"/>
          <a:stretch/>
        </p:blipFill>
        <p:spPr>
          <a:xfrm>
            <a:off x="6908800" y="3085902"/>
            <a:ext cx="3556000" cy="25400"/>
          </a:xfrm>
          <a:prstGeom prst="rect">
            <a:avLst/>
          </a:prstGeom>
        </p:spPr>
      </p:pic>
      <p:sp>
        <p:nvSpPr>
          <p:cNvPr id="60" name="Text 57"/>
          <p:cNvSpPr/>
          <p:nvPr/>
        </p:nvSpPr>
        <p:spPr>
          <a:xfrm>
            <a:off x="6908800" y="3263702"/>
            <a:ext cx="46045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ING and KBC sit in every request, so each request gets one scaling factor from the same two anchors.</a:t>
            </a:r>
            <a:endParaRPr lang="en-US" sz="1400" dirty="0"/>
          </a:p>
        </p:txBody>
      </p:sp>
      <p:sp>
        <p:nvSpPr>
          <p:cNvPr id="61" name="Text 58"/>
          <p:cNvSpPr/>
          <p:nvPr/>
        </p:nvSpPr>
        <p:spPr>
          <a:xfrm>
            <a:off x="6908800" y="3917950"/>
            <a:ext cx="46045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Topics keep ambiguous names clean: “CBC” alone also catches CBC News and blood-count tests.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2530"/>
                </a:solidFill>
                <a:latin typeface="IBM Plex Sans" pitchFamily="34" charset="0"/>
                <a:ea typeface="IBM Plex Sans" pitchFamily="34" charset="-122"/>
                <a:cs typeface="IBM Plex Sans" pitchFamily="34" charset="-120"/>
              </a:rPr>
              <a:t>KBC leads; ING and Belfius are level</a:t>
            </a:r>
            <a:endParaRPr lang="en-US" sz="3200" dirty="0"/>
          </a:p>
        </p:txBody>
      </p:sp>
      <p:sp>
        <p:nvSpPr>
          <p:cNvPr id="3" name="Text 1"/>
          <p:cNvSpPr/>
          <p:nvPr/>
        </p:nvSpPr>
        <p:spPr>
          <a:xfrm>
            <a:off x="812800" y="156458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KBC</a:t>
            </a:r>
            <a:endParaRPr lang="en-US" sz="1200" dirty="0"/>
          </a:p>
        </p:txBody>
      </p:sp>
      <p:sp>
        <p:nvSpPr>
          <p:cNvPr id="4" name="Shape 2"/>
          <p:cNvSpPr/>
          <p:nvPr/>
        </p:nvSpPr>
        <p:spPr>
          <a:xfrm>
            <a:off x="2819400" y="1595041"/>
            <a:ext cx="3556000" cy="152400"/>
          </a:xfrm>
          <a:prstGeom prst="rect">
            <a:avLst/>
          </a:prstGeom>
          <a:solidFill>
            <a:srgbClr val="8A929C"/>
          </a:solidFill>
          <a:ln/>
        </p:spPr>
      </p:sp>
      <p:sp>
        <p:nvSpPr>
          <p:cNvPr id="5" name="Text 3"/>
          <p:cNvSpPr/>
          <p:nvPr/>
        </p:nvSpPr>
        <p:spPr>
          <a:xfrm>
            <a:off x="6426200" y="1564580"/>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C2530"/>
                </a:solidFill>
                <a:latin typeface="IBM Plex Mono" pitchFamily="34" charset="0"/>
                <a:ea typeface="IBM Plex Mono" pitchFamily="34" charset="-122"/>
                <a:cs typeface="IBM Plex Mono" pitchFamily="34" charset="-120"/>
              </a:rPr>
              <a:t>21.30%</a:t>
            </a:r>
            <a:endParaRPr lang="en-US" sz="1200" dirty="0"/>
          </a:p>
        </p:txBody>
      </p:sp>
      <p:sp>
        <p:nvSpPr>
          <p:cNvPr id="6" name="Text 4"/>
          <p:cNvSpPr/>
          <p:nvPr/>
        </p:nvSpPr>
        <p:spPr>
          <a:xfrm>
            <a:off x="812800" y="1816001"/>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63"/>
                </a:solidFill>
                <a:latin typeface="IBM Plex Sans" pitchFamily="34" charset="0"/>
                <a:ea typeface="IBM Plex Sans" pitchFamily="34" charset="-122"/>
                <a:cs typeface="IBM Plex Sans" pitchFamily="34" charset="-120"/>
              </a:rPr>
              <a:t>Belfius</a:t>
            </a:r>
            <a:endParaRPr lang="en-US" sz="1200" dirty="0"/>
          </a:p>
        </p:txBody>
      </p:sp>
      <p:sp>
        <p:nvSpPr>
          <p:cNvPr id="7" name="Shape 5"/>
          <p:cNvSpPr/>
          <p:nvPr/>
        </p:nvSpPr>
        <p:spPr>
          <a:xfrm>
            <a:off x="2819400" y="1846461"/>
            <a:ext cx="3079750" cy="152400"/>
          </a:xfrm>
          <a:prstGeom prst="rect">
            <a:avLst/>
          </a:prstGeom>
          <a:solidFill>
            <a:srgbClr val="1D6F63"/>
          </a:solidFill>
          <a:ln/>
        </p:spPr>
      </p:sp>
      <p:sp>
        <p:nvSpPr>
          <p:cNvPr id="8" name="Text 6"/>
          <p:cNvSpPr/>
          <p:nvPr/>
        </p:nvSpPr>
        <p:spPr>
          <a:xfrm>
            <a:off x="6426200" y="1816001"/>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D6F63"/>
                </a:solidFill>
                <a:latin typeface="IBM Plex Mono" pitchFamily="34" charset="0"/>
                <a:ea typeface="IBM Plex Mono" pitchFamily="34" charset="-122"/>
                <a:cs typeface="IBM Plex Mono" pitchFamily="34" charset="-120"/>
              </a:rPr>
              <a:t>18.44%</a:t>
            </a:r>
            <a:endParaRPr lang="en-US" sz="1200" dirty="0"/>
          </a:p>
        </p:txBody>
      </p:sp>
      <p:sp>
        <p:nvSpPr>
          <p:cNvPr id="9" name="Text 7"/>
          <p:cNvSpPr/>
          <p:nvPr/>
        </p:nvSpPr>
        <p:spPr>
          <a:xfrm>
            <a:off x="812800" y="2067421"/>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461A"/>
                </a:solidFill>
                <a:latin typeface="IBM Plex Sans" pitchFamily="34" charset="0"/>
                <a:ea typeface="IBM Plex Sans" pitchFamily="34" charset="-122"/>
                <a:cs typeface="IBM Plex Sans" pitchFamily="34" charset="-120"/>
              </a:rPr>
              <a:t>ING</a:t>
            </a:r>
            <a:endParaRPr lang="en-US" sz="1200" dirty="0"/>
          </a:p>
        </p:txBody>
      </p:sp>
      <p:sp>
        <p:nvSpPr>
          <p:cNvPr id="10" name="Shape 8"/>
          <p:cNvSpPr/>
          <p:nvPr/>
        </p:nvSpPr>
        <p:spPr>
          <a:xfrm>
            <a:off x="2819400" y="2097881"/>
            <a:ext cx="3028950" cy="152400"/>
          </a:xfrm>
          <a:prstGeom prst="rect">
            <a:avLst/>
          </a:prstGeom>
          <a:solidFill>
            <a:srgbClr val="C4501C"/>
          </a:solidFill>
          <a:ln/>
        </p:spPr>
      </p:sp>
      <p:sp>
        <p:nvSpPr>
          <p:cNvPr id="11" name="Text 9"/>
          <p:cNvSpPr/>
          <p:nvPr/>
        </p:nvSpPr>
        <p:spPr>
          <a:xfrm>
            <a:off x="6426200" y="2067421"/>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3461A"/>
                </a:solidFill>
                <a:latin typeface="IBM Plex Mono" pitchFamily="34" charset="0"/>
                <a:ea typeface="IBM Plex Mono" pitchFamily="34" charset="-122"/>
                <a:cs typeface="IBM Plex Mono" pitchFamily="34" charset="-120"/>
              </a:rPr>
              <a:t>18.13%</a:t>
            </a:r>
            <a:endParaRPr lang="en-US" sz="1200" dirty="0"/>
          </a:p>
        </p:txBody>
      </p:sp>
      <p:sp>
        <p:nvSpPr>
          <p:cNvPr id="12" name="Text 10"/>
          <p:cNvSpPr/>
          <p:nvPr/>
        </p:nvSpPr>
        <p:spPr>
          <a:xfrm>
            <a:off x="812800" y="231884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BNP Paribas Fortis</a:t>
            </a:r>
            <a:endParaRPr lang="en-US" sz="1200" dirty="0"/>
          </a:p>
        </p:txBody>
      </p:sp>
      <p:sp>
        <p:nvSpPr>
          <p:cNvPr id="13" name="Shape 11"/>
          <p:cNvSpPr/>
          <p:nvPr/>
        </p:nvSpPr>
        <p:spPr>
          <a:xfrm>
            <a:off x="2819400" y="2349302"/>
            <a:ext cx="2571750" cy="152400"/>
          </a:xfrm>
          <a:prstGeom prst="rect">
            <a:avLst/>
          </a:prstGeom>
          <a:solidFill>
            <a:srgbClr val="8A929C"/>
          </a:solidFill>
          <a:ln/>
        </p:spPr>
      </p:sp>
      <p:sp>
        <p:nvSpPr>
          <p:cNvPr id="14" name="Text 12"/>
          <p:cNvSpPr/>
          <p:nvPr/>
        </p:nvSpPr>
        <p:spPr>
          <a:xfrm>
            <a:off x="6426200" y="2318841"/>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C2530"/>
                </a:solidFill>
                <a:latin typeface="IBM Plex Mono" pitchFamily="34" charset="0"/>
                <a:ea typeface="IBM Plex Mono" pitchFamily="34" charset="-122"/>
                <a:cs typeface="IBM Plex Mono" pitchFamily="34" charset="-120"/>
              </a:rPr>
              <a:t>15.40%</a:t>
            </a:r>
            <a:endParaRPr lang="en-US" sz="1200" dirty="0"/>
          </a:p>
        </p:txBody>
      </p:sp>
      <p:sp>
        <p:nvSpPr>
          <p:cNvPr id="15" name="Text 13"/>
          <p:cNvSpPr/>
          <p:nvPr/>
        </p:nvSpPr>
        <p:spPr>
          <a:xfrm>
            <a:off x="812800" y="2570262"/>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Argenta</a:t>
            </a:r>
            <a:endParaRPr lang="en-US" sz="1200" dirty="0"/>
          </a:p>
        </p:txBody>
      </p:sp>
      <p:sp>
        <p:nvSpPr>
          <p:cNvPr id="16" name="Shape 14"/>
          <p:cNvSpPr/>
          <p:nvPr/>
        </p:nvSpPr>
        <p:spPr>
          <a:xfrm>
            <a:off x="2819400" y="2600722"/>
            <a:ext cx="1530350" cy="152400"/>
          </a:xfrm>
          <a:prstGeom prst="rect">
            <a:avLst/>
          </a:prstGeom>
          <a:solidFill>
            <a:srgbClr val="8A929C"/>
          </a:solidFill>
          <a:ln/>
        </p:spPr>
      </p:sp>
      <p:sp>
        <p:nvSpPr>
          <p:cNvPr id="17" name="Text 15"/>
          <p:cNvSpPr/>
          <p:nvPr/>
        </p:nvSpPr>
        <p:spPr>
          <a:xfrm>
            <a:off x="6426200" y="2570262"/>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C2530"/>
                </a:solidFill>
                <a:latin typeface="IBM Plex Mono" pitchFamily="34" charset="0"/>
                <a:ea typeface="IBM Plex Mono" pitchFamily="34" charset="-122"/>
                <a:cs typeface="IBM Plex Mono" pitchFamily="34" charset="-120"/>
              </a:rPr>
              <a:t>9.18%</a:t>
            </a:r>
            <a:endParaRPr lang="en-US" sz="1200" dirty="0"/>
          </a:p>
        </p:txBody>
      </p:sp>
      <p:sp>
        <p:nvSpPr>
          <p:cNvPr id="18" name="Text 16"/>
          <p:cNvSpPr/>
          <p:nvPr/>
        </p:nvSpPr>
        <p:spPr>
          <a:xfrm>
            <a:off x="812800" y="2821682"/>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Crelan</a:t>
            </a:r>
            <a:endParaRPr lang="en-US" sz="1200" dirty="0"/>
          </a:p>
        </p:txBody>
      </p:sp>
      <p:sp>
        <p:nvSpPr>
          <p:cNvPr id="19" name="Shape 17"/>
          <p:cNvSpPr/>
          <p:nvPr/>
        </p:nvSpPr>
        <p:spPr>
          <a:xfrm>
            <a:off x="2819400" y="2852142"/>
            <a:ext cx="1181100" cy="152400"/>
          </a:xfrm>
          <a:prstGeom prst="rect">
            <a:avLst/>
          </a:prstGeom>
          <a:solidFill>
            <a:srgbClr val="8A929C"/>
          </a:solidFill>
          <a:ln/>
        </p:spPr>
      </p:sp>
      <p:sp>
        <p:nvSpPr>
          <p:cNvPr id="20" name="Text 18"/>
          <p:cNvSpPr/>
          <p:nvPr/>
        </p:nvSpPr>
        <p:spPr>
          <a:xfrm>
            <a:off x="6426200" y="2821682"/>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C2530"/>
                </a:solidFill>
                <a:latin typeface="IBM Plex Mono" pitchFamily="34" charset="0"/>
                <a:ea typeface="IBM Plex Mono" pitchFamily="34" charset="-122"/>
                <a:cs typeface="IBM Plex Mono" pitchFamily="34" charset="-120"/>
              </a:rPr>
              <a:t>7.07%</a:t>
            </a:r>
            <a:endParaRPr lang="en-US" sz="1200" dirty="0"/>
          </a:p>
        </p:txBody>
      </p:sp>
      <p:sp>
        <p:nvSpPr>
          <p:cNvPr id="21" name="Text 19"/>
          <p:cNvSpPr/>
          <p:nvPr/>
        </p:nvSpPr>
        <p:spPr>
          <a:xfrm>
            <a:off x="812800" y="3073102"/>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Beobank</a:t>
            </a:r>
            <a:endParaRPr lang="en-US" sz="1200" dirty="0"/>
          </a:p>
        </p:txBody>
      </p:sp>
      <p:sp>
        <p:nvSpPr>
          <p:cNvPr id="22" name="Shape 20"/>
          <p:cNvSpPr/>
          <p:nvPr/>
        </p:nvSpPr>
        <p:spPr>
          <a:xfrm>
            <a:off x="2819400" y="3103563"/>
            <a:ext cx="742950" cy="152400"/>
          </a:xfrm>
          <a:prstGeom prst="rect">
            <a:avLst/>
          </a:prstGeom>
          <a:solidFill>
            <a:srgbClr val="8A929C"/>
          </a:solidFill>
          <a:ln/>
        </p:spPr>
      </p:sp>
      <p:sp>
        <p:nvSpPr>
          <p:cNvPr id="23" name="Text 21"/>
          <p:cNvSpPr/>
          <p:nvPr/>
        </p:nvSpPr>
        <p:spPr>
          <a:xfrm>
            <a:off x="6426200" y="3073102"/>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C2530"/>
                </a:solidFill>
                <a:latin typeface="IBM Plex Mono" pitchFamily="34" charset="0"/>
                <a:ea typeface="IBM Plex Mono" pitchFamily="34" charset="-122"/>
                <a:cs typeface="IBM Plex Mono" pitchFamily="34" charset="-120"/>
              </a:rPr>
              <a:t>4.46%</a:t>
            </a:r>
            <a:endParaRPr lang="en-US" sz="1200" dirty="0"/>
          </a:p>
        </p:txBody>
      </p:sp>
      <p:sp>
        <p:nvSpPr>
          <p:cNvPr id="24" name="Text 22"/>
          <p:cNvSpPr/>
          <p:nvPr/>
        </p:nvSpPr>
        <p:spPr>
          <a:xfrm>
            <a:off x="812800" y="3324523"/>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CBC *</a:t>
            </a:r>
            <a:endParaRPr lang="en-US" sz="1200" dirty="0"/>
          </a:p>
        </p:txBody>
      </p:sp>
      <p:sp>
        <p:nvSpPr>
          <p:cNvPr id="25" name="Shape 23"/>
          <p:cNvSpPr/>
          <p:nvPr/>
        </p:nvSpPr>
        <p:spPr>
          <a:xfrm>
            <a:off x="2819400" y="3354983"/>
            <a:ext cx="342900" cy="152400"/>
          </a:xfrm>
          <a:prstGeom prst="rect">
            <a:avLst/>
          </a:prstGeom>
          <a:solidFill>
            <a:srgbClr val="CFCAC0"/>
          </a:solidFill>
          <a:ln/>
        </p:spPr>
      </p:sp>
      <p:sp>
        <p:nvSpPr>
          <p:cNvPr id="26" name="Text 24"/>
          <p:cNvSpPr/>
          <p:nvPr/>
        </p:nvSpPr>
        <p:spPr>
          <a:xfrm>
            <a:off x="6426200" y="3324523"/>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IBM Plex Mono" pitchFamily="34" charset="0"/>
                <a:ea typeface="IBM Plex Mono" pitchFamily="34" charset="-122"/>
                <a:cs typeface="IBM Plex Mono" pitchFamily="34" charset="-120"/>
              </a:rPr>
              <a:t>2.05%</a:t>
            </a:r>
            <a:endParaRPr lang="en-US" sz="1200" dirty="0"/>
          </a:p>
        </p:txBody>
      </p:sp>
      <p:sp>
        <p:nvSpPr>
          <p:cNvPr id="27" name="Text 25"/>
          <p:cNvSpPr/>
          <p:nvPr/>
        </p:nvSpPr>
        <p:spPr>
          <a:xfrm>
            <a:off x="812800" y="3575943"/>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C2530"/>
                </a:solidFill>
                <a:latin typeface="IBM Plex Sans" pitchFamily="34" charset="0"/>
                <a:ea typeface="IBM Plex Sans" pitchFamily="34" charset="-122"/>
                <a:cs typeface="IBM Plex Sans" pitchFamily="34" charset="-120"/>
              </a:rPr>
              <a:t>Revolut</a:t>
            </a:r>
            <a:endParaRPr lang="en-US" sz="1200" dirty="0"/>
          </a:p>
        </p:txBody>
      </p:sp>
      <p:sp>
        <p:nvSpPr>
          <p:cNvPr id="28" name="Shape 26"/>
          <p:cNvSpPr/>
          <p:nvPr/>
        </p:nvSpPr>
        <p:spPr>
          <a:xfrm>
            <a:off x="2819400" y="3606403"/>
            <a:ext cx="273050" cy="152400"/>
          </a:xfrm>
          <a:prstGeom prst="rect">
            <a:avLst/>
          </a:prstGeom>
          <a:solidFill>
            <a:srgbClr val="8A929C"/>
          </a:solidFill>
          <a:ln/>
        </p:spPr>
      </p:sp>
      <p:sp>
        <p:nvSpPr>
          <p:cNvPr id="29" name="Text 27"/>
          <p:cNvSpPr/>
          <p:nvPr/>
        </p:nvSpPr>
        <p:spPr>
          <a:xfrm>
            <a:off x="6426200" y="3575943"/>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C2530"/>
                </a:solidFill>
                <a:latin typeface="IBM Plex Mono" pitchFamily="34" charset="0"/>
                <a:ea typeface="IBM Plex Mono" pitchFamily="34" charset="-122"/>
                <a:cs typeface="IBM Plex Mono" pitchFamily="34" charset="-120"/>
              </a:rPr>
              <a:t>1.64%</a:t>
            </a:r>
            <a:endParaRPr lang="en-US" sz="1200" dirty="0"/>
          </a:p>
        </p:txBody>
      </p:sp>
      <p:sp>
        <p:nvSpPr>
          <p:cNvPr id="30" name="Text 28"/>
          <p:cNvSpPr/>
          <p:nvPr/>
        </p:nvSpPr>
        <p:spPr>
          <a:xfrm>
            <a:off x="812800" y="3827363"/>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VDK Bank *</a:t>
            </a:r>
            <a:endParaRPr lang="en-US" sz="1200" dirty="0"/>
          </a:p>
        </p:txBody>
      </p:sp>
      <p:sp>
        <p:nvSpPr>
          <p:cNvPr id="31" name="Shape 29"/>
          <p:cNvSpPr/>
          <p:nvPr/>
        </p:nvSpPr>
        <p:spPr>
          <a:xfrm>
            <a:off x="2819400" y="3857823"/>
            <a:ext cx="209550" cy="152400"/>
          </a:xfrm>
          <a:prstGeom prst="rect">
            <a:avLst/>
          </a:prstGeom>
          <a:solidFill>
            <a:srgbClr val="CFCAC0"/>
          </a:solidFill>
          <a:ln/>
        </p:spPr>
      </p:sp>
      <p:sp>
        <p:nvSpPr>
          <p:cNvPr id="32" name="Text 30"/>
          <p:cNvSpPr/>
          <p:nvPr/>
        </p:nvSpPr>
        <p:spPr>
          <a:xfrm>
            <a:off x="6426200" y="3827363"/>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IBM Plex Mono" pitchFamily="34" charset="0"/>
                <a:ea typeface="IBM Plex Mono" pitchFamily="34" charset="-122"/>
                <a:cs typeface="IBM Plex Mono" pitchFamily="34" charset="-120"/>
              </a:rPr>
              <a:t>1.24%</a:t>
            </a:r>
            <a:endParaRPr lang="en-US" sz="1200" dirty="0"/>
          </a:p>
        </p:txBody>
      </p:sp>
      <p:sp>
        <p:nvSpPr>
          <p:cNvPr id="33" name="Text 31"/>
          <p:cNvSpPr/>
          <p:nvPr/>
        </p:nvSpPr>
        <p:spPr>
          <a:xfrm>
            <a:off x="812800" y="4078784"/>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Keytrade Bank *</a:t>
            </a:r>
            <a:endParaRPr lang="en-US" sz="1200" dirty="0"/>
          </a:p>
        </p:txBody>
      </p:sp>
      <p:sp>
        <p:nvSpPr>
          <p:cNvPr id="34" name="Shape 32"/>
          <p:cNvSpPr/>
          <p:nvPr/>
        </p:nvSpPr>
        <p:spPr>
          <a:xfrm>
            <a:off x="2819400" y="4109244"/>
            <a:ext cx="69850" cy="152400"/>
          </a:xfrm>
          <a:prstGeom prst="rect">
            <a:avLst/>
          </a:prstGeom>
          <a:solidFill>
            <a:srgbClr val="CFCAC0"/>
          </a:solidFill>
          <a:ln/>
        </p:spPr>
      </p:sp>
      <p:sp>
        <p:nvSpPr>
          <p:cNvPr id="35" name="Text 33"/>
          <p:cNvSpPr/>
          <p:nvPr/>
        </p:nvSpPr>
        <p:spPr>
          <a:xfrm>
            <a:off x="6426200" y="4078784"/>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IBM Plex Mono" pitchFamily="34" charset="0"/>
                <a:ea typeface="IBM Plex Mono" pitchFamily="34" charset="-122"/>
                <a:cs typeface="IBM Plex Mono" pitchFamily="34" charset="-120"/>
              </a:rPr>
              <a:t>0.41%</a:t>
            </a:r>
            <a:endParaRPr lang="en-US" sz="1200" dirty="0"/>
          </a:p>
        </p:txBody>
      </p:sp>
      <p:sp>
        <p:nvSpPr>
          <p:cNvPr id="36" name="Text 34"/>
          <p:cNvSpPr/>
          <p:nvPr/>
        </p:nvSpPr>
        <p:spPr>
          <a:xfrm>
            <a:off x="812800" y="4330204"/>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Hello bank! *</a:t>
            </a:r>
            <a:endParaRPr lang="en-US" sz="1200" dirty="0"/>
          </a:p>
        </p:txBody>
      </p:sp>
      <p:sp>
        <p:nvSpPr>
          <p:cNvPr id="37" name="Shape 35"/>
          <p:cNvSpPr/>
          <p:nvPr/>
        </p:nvSpPr>
        <p:spPr>
          <a:xfrm>
            <a:off x="2819400" y="4360664"/>
            <a:ext cx="63500" cy="152400"/>
          </a:xfrm>
          <a:prstGeom prst="rect">
            <a:avLst/>
          </a:prstGeom>
          <a:solidFill>
            <a:srgbClr val="CFCAC0"/>
          </a:solidFill>
          <a:ln/>
        </p:spPr>
      </p:sp>
      <p:sp>
        <p:nvSpPr>
          <p:cNvPr id="38" name="Text 36"/>
          <p:cNvSpPr/>
          <p:nvPr/>
        </p:nvSpPr>
        <p:spPr>
          <a:xfrm>
            <a:off x="6426200" y="4330204"/>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IBM Plex Mono" pitchFamily="34" charset="0"/>
                <a:ea typeface="IBM Plex Mono" pitchFamily="34" charset="-122"/>
                <a:cs typeface="IBM Plex Mono" pitchFamily="34" charset="-120"/>
              </a:rPr>
              <a:t>0.37%</a:t>
            </a:r>
            <a:endParaRPr lang="en-US" sz="1200" dirty="0"/>
          </a:p>
        </p:txBody>
      </p:sp>
      <p:sp>
        <p:nvSpPr>
          <p:cNvPr id="39" name="Text 37"/>
          <p:cNvSpPr/>
          <p:nvPr/>
        </p:nvSpPr>
        <p:spPr>
          <a:xfrm>
            <a:off x="812800" y="4581624"/>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N26 *</a:t>
            </a:r>
            <a:endParaRPr lang="en-US" sz="1200" dirty="0"/>
          </a:p>
        </p:txBody>
      </p:sp>
      <p:sp>
        <p:nvSpPr>
          <p:cNvPr id="40" name="Shape 38"/>
          <p:cNvSpPr/>
          <p:nvPr/>
        </p:nvSpPr>
        <p:spPr>
          <a:xfrm>
            <a:off x="2819400" y="4612084"/>
            <a:ext cx="50800" cy="152400"/>
          </a:xfrm>
          <a:prstGeom prst="rect">
            <a:avLst/>
          </a:prstGeom>
          <a:solidFill>
            <a:srgbClr val="CFCAC0"/>
          </a:solidFill>
          <a:ln/>
        </p:spPr>
      </p:sp>
      <p:sp>
        <p:nvSpPr>
          <p:cNvPr id="41" name="Text 39"/>
          <p:cNvSpPr/>
          <p:nvPr/>
        </p:nvSpPr>
        <p:spPr>
          <a:xfrm>
            <a:off x="6426200" y="4581624"/>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IBM Plex Mono" pitchFamily="34" charset="0"/>
                <a:ea typeface="IBM Plex Mono" pitchFamily="34" charset="-122"/>
                <a:cs typeface="IBM Plex Mono" pitchFamily="34" charset="-120"/>
              </a:rPr>
              <a:t>0.29%</a:t>
            </a:r>
            <a:endParaRPr lang="en-US" sz="1200" dirty="0"/>
          </a:p>
        </p:txBody>
      </p:sp>
      <p:sp>
        <p:nvSpPr>
          <p:cNvPr id="42" name="Text 40"/>
          <p:cNvSpPr/>
          <p:nvPr/>
        </p:nvSpPr>
        <p:spPr>
          <a:xfrm>
            <a:off x="812800" y="4833045"/>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bunq *</a:t>
            </a:r>
            <a:endParaRPr lang="en-US" sz="1200" dirty="0"/>
          </a:p>
        </p:txBody>
      </p:sp>
      <p:sp>
        <p:nvSpPr>
          <p:cNvPr id="43" name="Shape 41"/>
          <p:cNvSpPr/>
          <p:nvPr/>
        </p:nvSpPr>
        <p:spPr>
          <a:xfrm>
            <a:off x="2819400" y="4863505"/>
            <a:ext cx="19050" cy="152400"/>
          </a:xfrm>
          <a:prstGeom prst="rect">
            <a:avLst/>
          </a:prstGeom>
          <a:solidFill>
            <a:srgbClr val="CFCAC0"/>
          </a:solidFill>
          <a:ln/>
        </p:spPr>
      </p:sp>
      <p:sp>
        <p:nvSpPr>
          <p:cNvPr id="44" name="Text 42"/>
          <p:cNvSpPr/>
          <p:nvPr/>
        </p:nvSpPr>
        <p:spPr>
          <a:xfrm>
            <a:off x="6426200" y="4833045"/>
            <a:ext cx="749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0"/>
                </a:solidFill>
                <a:latin typeface="IBM Plex Mono" pitchFamily="34" charset="0"/>
                <a:ea typeface="IBM Plex Mono" pitchFamily="34" charset="-122"/>
                <a:cs typeface="IBM Plex Mono" pitchFamily="34" charset="-120"/>
              </a:rPr>
              <a:t>0.01%</a:t>
            </a:r>
            <a:endParaRPr lang="en-US" sz="1200" dirty="0"/>
          </a:p>
        </p:txBody>
      </p:sp>
      <p:sp>
        <p:nvSpPr>
          <p:cNvPr id="45" name="Shape 43"/>
          <p:cNvSpPr/>
          <p:nvPr/>
        </p:nvSpPr>
        <p:spPr>
          <a:xfrm>
            <a:off x="7585075" y="1567755"/>
            <a:ext cx="3790950" cy="3526234"/>
          </a:xfrm>
          <a:prstGeom prst="roundRect">
            <a:avLst>
              <a:gd name="adj" fmla="val 2791"/>
            </a:avLst>
          </a:prstGeom>
          <a:solidFill>
            <a:srgbClr val="FBFAF6"/>
          </a:solidFill>
          <a:ln w="6350">
            <a:solidFill>
              <a:srgbClr val="DEDAD0"/>
            </a:solidFill>
            <a:prstDash val="solid"/>
          </a:ln>
        </p:spPr>
      </p:sp>
      <p:sp>
        <p:nvSpPr>
          <p:cNvPr id="46" name="Text 44"/>
          <p:cNvSpPr/>
          <p:nvPr/>
        </p:nvSpPr>
        <p:spPr>
          <a:xfrm>
            <a:off x="7893050" y="1875730"/>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B6470"/>
                </a:solidFill>
                <a:latin typeface="IBM Plex Mono" pitchFamily="34" charset="0"/>
                <a:ea typeface="IBM Plex Mono" pitchFamily="34" charset="-122"/>
                <a:cs typeface="IBM Plex Mono" pitchFamily="34" charset="-120"/>
              </a:rPr>
              <a:t>GAP BELFIUS – ING</a:t>
            </a:r>
            <a:endParaRPr lang="en-US" sz="1200" dirty="0"/>
          </a:p>
        </p:txBody>
      </p:sp>
      <p:sp>
        <p:nvSpPr>
          <p:cNvPr id="47" name="Text 45"/>
          <p:cNvSpPr/>
          <p:nvPr/>
        </p:nvSpPr>
        <p:spPr>
          <a:xfrm>
            <a:off x="7893050" y="2216051"/>
            <a:ext cx="3270250"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3461A"/>
                </a:solidFill>
                <a:latin typeface="IBM Plex Mono" pitchFamily="34" charset="0"/>
                <a:ea typeface="IBM Plex Mono" pitchFamily="34" charset="-122"/>
                <a:cs typeface="IBM Plex Mono" pitchFamily="34" charset="-120"/>
              </a:rPr>
              <a:t>0.31 pts</a:t>
            </a:r>
            <a:endParaRPr lang="en-US" sz="4800" dirty="0"/>
          </a:p>
        </p:txBody>
      </p:sp>
      <p:sp>
        <p:nvSpPr>
          <p:cNvPr id="48" name="Text 46"/>
          <p:cNvSpPr/>
          <p:nvPr/>
        </p:nvSpPr>
        <p:spPr>
          <a:xfrm>
            <a:off x="7893050" y="3013571"/>
            <a:ext cx="3270250"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Removing one raw point per week from Belfius brings it to 18.15% — ING’s own figure. Read them as level, not ING in third.</a:t>
            </a:r>
            <a:endParaRPr lang="en-US" sz="1400" dirty="0"/>
          </a:p>
        </p:txBody>
      </p:sp>
      <p:pic>
        <p:nvPicPr>
          <p:cNvPr id="49" name="Image 0" descr="line">    </p:cNvPr>
          <p:cNvPicPr>
            <a:picLocks noChangeAspect="1"/>
          </p:cNvPicPr>
          <p:nvPr/>
        </p:nvPicPr>
        <p:blipFill>
          <a:blip r:embed="rId1"/>
          <a:srcRect l="0" r="0" t="0" b="0"/>
          <a:stretch/>
        </p:blipFill>
        <p:spPr>
          <a:xfrm>
            <a:off x="7893050" y="4135934"/>
            <a:ext cx="3048000" cy="25400"/>
          </a:xfrm>
          <a:prstGeom prst="rect">
            <a:avLst/>
          </a:prstGeom>
        </p:spPr>
      </p:pic>
      <p:sp>
        <p:nvSpPr>
          <p:cNvPr id="50" name="Text 47"/>
          <p:cNvSpPr/>
          <p:nvPr/>
        </p:nvSpPr>
        <p:spPr>
          <a:xfrm>
            <a:off x="7893050" y="4288334"/>
            <a:ext cx="327025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530"/>
                </a:solidFill>
                <a:latin typeface="IBM Plex Sans" pitchFamily="34" charset="0"/>
                <a:ea typeface="IBM Plex Sans" pitchFamily="34" charset="-122"/>
                <a:cs typeface="IBM Plex Sans" pitchFamily="34" charset="-120"/>
              </a:rPr>
              <a:t>Incumbents 97.6%</a:t>
            </a:r>
            <a:r>
              <a:rPr lang="en-US" sz="1400" dirty="0">
                <a:solidFill>
                  <a:srgbClr val="1C2530"/>
                </a:solidFill>
                <a:latin typeface="IBM Plex Sans" pitchFamily="34" charset="0"/>
                <a:ea typeface="IBM Plex Sans" pitchFamily="34" charset="-122"/>
                <a:cs typeface="IBM Plex Sans" pitchFamily="34" charset="-120"/>
              </a:rPr>
              <a:t> · challengers 2.3% of brand search</a:t>
            </a:r>
            <a:endParaRPr lang="en-US" sz="1400" dirty="0"/>
          </a:p>
        </p:txBody>
      </p:sp>
      <p:sp>
        <p:nvSpPr>
          <p:cNvPr id="51" name="Text 4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Share of brand search, 261 weeks, Sep 2021 – Sep 2026 · * too low-volume to read share or change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2530"/>
                </a:solidFill>
                <a:latin typeface="IBM Plex Sans" pitchFamily="34" charset="0"/>
                <a:ea typeface="IBM Plex Sans" pitchFamily="34" charset="-122"/>
                <a:cs typeface="IBM Plex Sans" pitchFamily="34" charset="-120"/>
              </a:rPr>
              <a:t>Where the banks to benchmark come from</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564580"/>
          <a:ext cx="10566400" cy="3233440"/>
        </p:xfrm>
        <a:graphic>
          <a:graphicData uri="http://schemas.openxmlformats.org/drawingml/2006/table">
            <a:tbl>
              <a:tblPr/>
              <a:tblGrid>
                <a:gridCol w="2113280"/>
                <a:gridCol w="1162304"/>
                <a:gridCol w="1162304"/>
                <a:gridCol w="1056640"/>
                <a:gridCol w="1901952"/>
                <a:gridCol w="3169920"/>
              </a:tblGrid>
              <a:tr h="359271">
                <a:tc>
                  <a:txBody>
                    <a:bodyPr/>
                    <a:lstStyle/>
                    <a:p>
                      <a:pPr indent="0" marL="0">
                        <a:lnSpc>
                          <a:spcPts val="1820"/>
                        </a:lnSpc>
                        <a:buNone/>
                      </a:pPr>
                      <a:r>
                        <a:rPr lang="en-US" sz="1300" b="1" dirty="0">
                          <a:solidFill>
                            <a:srgbClr val="1C2530"/>
                          </a:solidFill>
                          <a:latin typeface="IBM Plex Sans" pitchFamily="34" charset="0"/>
                          <a:ea typeface="IBM Plex Sans" pitchFamily="34" charset="-122"/>
                          <a:cs typeface="IBM Plex Sans" pitchFamily="34" charset="-120"/>
                        </a:rPr>
                        <a:t>Bank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E3E2DD"/>
                    </a:solidFill>
                  </a:tcPr>
                </a:tc>
                <a:tc>
                  <a:txBody>
                    <a:bodyPr/>
                    <a:lstStyle/>
                    <a:p>
                      <a:pPr algn="r" indent="0" marL="0">
                        <a:lnSpc>
                          <a:spcPts val="1820"/>
                        </a:lnSpc>
                        <a:buNone/>
                      </a:pPr>
                      <a:r>
                        <a:rPr lang="en-US" sz="1300" b="1" dirty="0">
                          <a:solidFill>
                            <a:srgbClr val="1C2530"/>
                          </a:solidFill>
                          <a:latin typeface="IBM Plex Sans" pitchFamily="34" charset="0"/>
                          <a:ea typeface="IBM Plex Sans" pitchFamily="34" charset="-122"/>
                          <a:cs typeface="IBM Plex Sans" pitchFamily="34" charset="-120"/>
                        </a:rPr>
                        <a:t>2021–22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E3E2DD"/>
                    </a:solidFill>
                  </a:tcPr>
                </a:tc>
                <a:tc>
                  <a:txBody>
                    <a:bodyPr/>
                    <a:lstStyle/>
                    <a:p>
                      <a:pPr algn="r" indent="0" marL="0">
                        <a:lnSpc>
                          <a:spcPts val="1820"/>
                        </a:lnSpc>
                        <a:buNone/>
                      </a:pPr>
                      <a:r>
                        <a:rPr lang="en-US" sz="1300" b="1" dirty="0">
                          <a:solidFill>
                            <a:srgbClr val="1C2530"/>
                          </a:solidFill>
                          <a:latin typeface="IBM Plex Sans" pitchFamily="34" charset="0"/>
                          <a:ea typeface="IBM Plex Sans" pitchFamily="34" charset="-122"/>
                          <a:cs typeface="IBM Plex Sans" pitchFamily="34" charset="-120"/>
                        </a:rPr>
                        <a:t>2025–26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E3E2DD"/>
                    </a:solidFill>
                  </a:tcPr>
                </a:tc>
                <a:tc>
                  <a:txBody>
                    <a:bodyPr/>
                    <a:lstStyle/>
                    <a:p>
                      <a:pPr algn="r" indent="0" marL="0">
                        <a:lnSpc>
                          <a:spcPts val="1820"/>
                        </a:lnSpc>
                        <a:buNone/>
                      </a:pPr>
                      <a:r>
                        <a:rPr lang="en-US" sz="1300" b="1" dirty="0">
                          <a:solidFill>
                            <a:srgbClr val="1C2530"/>
                          </a:solidFill>
                          <a:latin typeface="IBM Plex Sans" pitchFamily="34" charset="0"/>
                          <a:ea typeface="IBM Plex Sans" pitchFamily="34" charset="-122"/>
                          <a:cs typeface="IBM Plex Sans" pitchFamily="34" charset="-120"/>
                        </a:rPr>
                        <a:t>Change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E3E2DD"/>
                    </a:solidFill>
                  </a:tcPr>
                </a:tc>
                <a:tc>
                  <a:txBody>
                    <a:bodyPr/>
                    <a:lstStyle/>
                    <a:p>
                      <a:pPr indent="0" marL="0">
                        <a:lnSpc>
                          <a:spcPts val="1820"/>
                        </a:lnSpc>
                        <a:buNone/>
                      </a:pPr>
                      <a:r>
                        <a:rPr lang="en-US" sz="1300" b="1" dirty="0">
                          <a:solidFill>
                            <a:srgbClr val="1C2530"/>
                          </a:solidFill>
                          <a:latin typeface="IBM Plex Sans" pitchFamily="34" charset="0"/>
                          <a:ea typeface="IBM Plex Sans" pitchFamily="34" charset="-122"/>
                          <a:cs typeface="IBM Plex Sans" pitchFamily="34" charset="-120"/>
                        </a:rPr>
                        <a:t>Direction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E3E2DD"/>
                    </a:solidFill>
                  </a:tcPr>
                </a:tc>
                <a:tc>
                  <a:txBody>
                    <a:bodyPr/>
                    <a:lstStyle/>
                    <a:p>
                      <a:pPr indent="0" marL="0">
                        <a:lnSpc>
                          <a:spcPts val="1820"/>
                        </a:lnSpc>
                        <a:buNone/>
                      </a:pPr>
                      <a:r>
                        <a:rPr lang="en-US" sz="1300" b="1" dirty="0">
                          <a:solidFill>
                            <a:srgbClr val="1C2530"/>
                          </a:solidFill>
                          <a:latin typeface="IBM Plex Sans" pitchFamily="34" charset="0"/>
                          <a:ea typeface="IBM Plex Sans" pitchFamily="34" charset="-122"/>
                          <a:cs typeface="IBM Plex Sans" pitchFamily="34" charset="-120"/>
                        </a:rPr>
                        <a:t>Selected 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E3E2DD"/>
                    </a:solidFill>
                  </a:tcPr>
                </a:tc>
              </a:tr>
              <a:tr h="359271">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KBC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21.75%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20.13%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−1.62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Down −2.8%/yr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indent="0" marL="0">
                        <a:lnSpc>
                          <a:spcPts val="1820"/>
                        </a:lnSpc>
                        <a:buNone/>
                      </a:pPr>
                      <a:r>
                        <a:rPr lang="en-US" sz="1300" dirty="0">
                          <a:solidFill>
                            <a:srgbClr val="1D6F63"/>
                          </a:solidFill>
                          <a:latin typeface="IBM Plex Sans" pitchFamily="34" charset="0"/>
                          <a:ea typeface="IBM Plex Sans" pitchFamily="34" charset="-122"/>
                          <a:cs typeface="IBM Plex Sans" pitchFamily="34" charset="-120"/>
                        </a:rPr>
                        <a:t>Largest traditional share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r>
              <a:tr h="359271">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Belfius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18.21%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18.79%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+0.58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Flat +0.9%/yr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19.28%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16.79%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−2.49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Down −3.7%/yr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5B6470"/>
                          </a:solidFill>
                          <a:latin typeface="IBM Plex Sans" pitchFamily="34" charset="0"/>
                          <a:ea typeface="IBM Plex Sans" pitchFamily="34" charset="-122"/>
                          <a:cs typeface="IBM Plex Sans" pitchFamily="34" charset="-120"/>
                        </a:rPr>
                        <a:t>Subject of the study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BNP Paribas Fortis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17.99%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13.60%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−4.39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Down −6.2%/yr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Argenta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8.32%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9.42%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+1.10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Flat +2.0%/yr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Crelan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5.12%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8.96%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+3.84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Up +16.4%/yr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indent="0" marL="0">
                        <a:lnSpc>
                          <a:spcPts val="1820"/>
                        </a:lnSpc>
                        <a:buNone/>
                      </a:pPr>
                      <a:r>
                        <a:rPr lang="en-US" sz="1300" dirty="0">
                          <a:solidFill>
                            <a:srgbClr val="1D6F63"/>
                          </a:solidFill>
                          <a:latin typeface="IBM Plex Sans" pitchFamily="34" charset="0"/>
                          <a:ea typeface="IBM Plex Sans" pitchFamily="34" charset="-122"/>
                          <a:cs typeface="IBM Plex Sans" pitchFamily="34" charset="-120"/>
                        </a:rPr>
                        <a:t>Fastest-rising traditional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r>
              <a:tr h="359271">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Beobank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4.38%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4.34%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−0.04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Flat −1.3%/yr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tcPr>
                </a:tc>
              </a:tr>
              <a:tr h="359271">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Revolut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0.59%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3.22%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algn="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+2.63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indent="0" marL="0">
                        <a:lnSpc>
                          <a:spcPts val="1820"/>
                        </a:lnSpc>
                        <a:buNone/>
                      </a:pPr>
                      <a:r>
                        <a:rPr lang="en-US" sz="1300" dirty="0">
                          <a:solidFill>
                            <a:srgbClr val="1C2530"/>
                          </a:solidFill>
                          <a:latin typeface="IBM Plex Sans" pitchFamily="34" charset="0"/>
                          <a:ea typeface="IBM Plex Sans" pitchFamily="34" charset="-122"/>
                          <a:cs typeface="IBM Plex Sans" pitchFamily="34" charset="-120"/>
                        </a:rPr>
                        <a:t>Up +37.8%/yr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c>
                  <a:txBody>
                    <a:bodyPr/>
                    <a:lstStyle/>
                    <a:p>
                      <a:pPr indent="0" marL="0">
                        <a:lnSpc>
                          <a:spcPts val="1820"/>
                        </a:lnSpc>
                        <a:buNone/>
                      </a:pPr>
                      <a:r>
                        <a:rPr lang="en-US" sz="1300" dirty="0">
                          <a:solidFill>
                            <a:srgbClr val="1D6F63"/>
                          </a:solidFill>
                          <a:latin typeface="IBM Plex Sans" pitchFamily="34" charset="0"/>
                          <a:ea typeface="IBM Plex Sans" pitchFamily="34" charset="-122"/>
                          <a:cs typeface="IBM Plex Sans" pitchFamily="34" charset="-120"/>
                        </a:rPr>
                        <a:t>Measurable challenger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5C3"/>
                      </a:solidFill>
                      <a:prstDash val="solid"/>
                      <a:round/>
                      <a:headEnd type="none" w="med" len="med"/>
                      <a:tailEnd type="none" w="med" len="med"/>
                    </a:lnL>
                    <a:lnR w="12700" cap="flat" cmpd="sng" algn="ctr">
                      <a:solidFill>
                        <a:srgbClr val="C4C5C3"/>
                      </a:solidFill>
                      <a:prstDash val="solid"/>
                      <a:round/>
                      <a:headEnd type="none" w="med" len="med"/>
                      <a:tailEnd type="none" w="med" len="med"/>
                    </a:lnR>
                    <a:lnT w="12700" cap="flat" cmpd="sng" algn="ctr">
                      <a:solidFill>
                        <a:srgbClr val="C4C5C3"/>
                      </a:solidFill>
                      <a:prstDash val="solid"/>
                      <a:round/>
                      <a:headEnd type="none" w="med" len="med"/>
                      <a:tailEnd type="none" w="med" len="med"/>
                    </a:lnT>
                    <a:lnB w="12700" cap="flat" cmpd="sng" algn="ctr">
                      <a:solidFill>
                        <a:srgbClr val="C4C5C3"/>
                      </a:solidFill>
                      <a:prstDash val="solid"/>
                      <a:round/>
                      <a:headEnd type="none" w="med" len="med"/>
                      <a:tailEnd type="none" w="med" len="med"/>
                    </a:lnB>
                    <a:solidFill>
                      <a:srgbClr val="DCEBE7"/>
                    </a:solidFill>
                  </a:tcPr>
                </a:tc>
              </a:tr>
            </a:tbl>
          </a:graphicData>
        </a:graphic>
      </p:graphicFrame>
      <p:sp>
        <p:nvSpPr>
          <p:cNvPr id="4" name="Text 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Share per 52-week period · flat = within ±2%/yr, a convention, not a test · † direction flips without the first period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2530"/>
                </a:solidFill>
                <a:latin typeface="IBM Plex Sans" pitchFamily="34" charset="0"/>
                <a:ea typeface="IBM Plex Sans" pitchFamily="34" charset="-122"/>
                <a:cs typeface="IBM Plex Sans" pitchFamily="34" charset="-120"/>
              </a:rPr>
              <a:t>Three competitors worth studying</a:t>
            </a:r>
            <a:endParaRPr lang="en-US" sz="3200" dirty="0"/>
          </a:p>
        </p:txBody>
      </p:sp>
      <p:sp>
        <p:nvSpPr>
          <p:cNvPr id="3" name="Shape 1"/>
          <p:cNvSpPr/>
          <p:nvPr/>
        </p:nvSpPr>
        <p:spPr>
          <a:xfrm>
            <a:off x="815975" y="1567755"/>
            <a:ext cx="3380284" cy="2987873"/>
          </a:xfrm>
          <a:prstGeom prst="roundRect">
            <a:avLst>
              <a:gd name="adj" fmla="val 3294"/>
            </a:avLst>
          </a:prstGeom>
          <a:solidFill>
            <a:srgbClr val="FBFAF6"/>
          </a:solidFill>
          <a:ln w="6350">
            <a:solidFill>
              <a:srgbClr val="DEDAD0"/>
            </a:solidFill>
            <a:prstDash val="solid"/>
          </a:ln>
        </p:spPr>
      </p:sp>
      <p:sp>
        <p:nvSpPr>
          <p:cNvPr id="4" name="Text 2"/>
          <p:cNvSpPr/>
          <p:nvPr/>
        </p:nvSpPr>
        <p:spPr>
          <a:xfrm>
            <a:off x="1073150" y="18249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B6470"/>
                </a:solidFill>
                <a:latin typeface="IBM Plex Mono" pitchFamily="34" charset="0"/>
                <a:ea typeface="IBM Plex Mono" pitchFamily="34" charset="-122"/>
                <a:cs typeface="IBM Plex Mono" pitchFamily="34" charset="-120"/>
              </a:rPr>
              <a:t>LARGEST TRADITIONAL</a:t>
            </a:r>
            <a:endParaRPr lang="en-US" sz="1200" dirty="0"/>
          </a:p>
        </p:txBody>
      </p:sp>
      <p:sp>
        <p:nvSpPr>
          <p:cNvPr id="5" name="Text 3"/>
          <p:cNvSpPr/>
          <p:nvPr/>
        </p:nvSpPr>
        <p:spPr>
          <a:xfrm>
            <a:off x="1073150" y="2139851"/>
            <a:ext cx="295191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2530"/>
                </a:solidFill>
                <a:latin typeface="IBM Plex Sans" pitchFamily="34" charset="0"/>
                <a:ea typeface="IBM Plex Sans" pitchFamily="34" charset="-122"/>
                <a:cs typeface="IBM Plex Sans" pitchFamily="34" charset="-120"/>
              </a:rPr>
              <a:t>KBC</a:t>
            </a:r>
            <a:endParaRPr lang="en-US" sz="3200" dirty="0"/>
          </a:p>
        </p:txBody>
      </p:sp>
      <p:sp>
        <p:nvSpPr>
          <p:cNvPr id="6" name="Text 4"/>
          <p:cNvSpPr/>
          <p:nvPr/>
        </p:nvSpPr>
        <p:spPr>
          <a:xfrm>
            <a:off x="1073150" y="2688431"/>
            <a:ext cx="2951912" cy="47238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C2530"/>
                </a:solidFill>
                <a:latin typeface="IBM Plex Mono" pitchFamily="34" charset="0"/>
                <a:ea typeface="IBM Plex Mono" pitchFamily="34" charset="-122"/>
                <a:cs typeface="IBM Plex Mono" pitchFamily="34" charset="-120"/>
              </a:rPr>
              <a:t>20.13%</a:t>
            </a:r>
            <a:endParaRPr lang="en-US" sz="3200" dirty="0"/>
          </a:p>
        </p:txBody>
      </p:sp>
      <p:sp>
        <p:nvSpPr>
          <p:cNvPr id="7" name="Text 5"/>
          <p:cNvSpPr/>
          <p:nvPr/>
        </p:nvSpPr>
        <p:spPr>
          <a:xfrm>
            <a:off x="1073150" y="3237012"/>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last-period share</a:t>
            </a:r>
            <a:endParaRPr lang="en-US" sz="1200" dirty="0"/>
          </a:p>
        </p:txBody>
      </p:sp>
      <p:sp>
        <p:nvSpPr>
          <p:cNvPr id="8" name="Text 6"/>
          <p:cNvSpPr/>
          <p:nvPr/>
        </p:nvSpPr>
        <p:spPr>
          <a:xfrm>
            <a:off x="1073150" y="3551932"/>
            <a:ext cx="2951912"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+3.34 pts ahead of ING</a:t>
            </a:r>
            <a:endParaRPr lang="en-US" sz="1400" dirty="0"/>
          </a:p>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Down −2.8%/yr</a:t>
            </a:r>
            <a:endParaRPr lang="en-US" sz="1400" dirty="0"/>
          </a:p>
        </p:txBody>
      </p:sp>
      <p:sp>
        <p:nvSpPr>
          <p:cNvPr id="9" name="Shape 7"/>
          <p:cNvSpPr/>
          <p:nvPr/>
        </p:nvSpPr>
        <p:spPr>
          <a:xfrm>
            <a:off x="4405809" y="1567755"/>
            <a:ext cx="3380383" cy="2987873"/>
          </a:xfrm>
          <a:prstGeom prst="roundRect">
            <a:avLst>
              <a:gd name="adj" fmla="val 3294"/>
            </a:avLst>
          </a:prstGeom>
          <a:solidFill>
            <a:srgbClr val="FBFAF6"/>
          </a:solidFill>
          <a:ln w="6350">
            <a:solidFill>
              <a:srgbClr val="DEDAD0"/>
            </a:solidFill>
            <a:prstDash val="solid"/>
          </a:ln>
        </p:spPr>
      </p:sp>
      <p:sp>
        <p:nvSpPr>
          <p:cNvPr id="10" name="Text 8"/>
          <p:cNvSpPr/>
          <p:nvPr/>
        </p:nvSpPr>
        <p:spPr>
          <a:xfrm>
            <a:off x="4662984" y="1824930"/>
            <a:ext cx="2952014"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B6470"/>
                </a:solidFill>
                <a:latin typeface="IBM Plex Mono" pitchFamily="34" charset="0"/>
                <a:ea typeface="IBM Plex Mono" pitchFamily="34" charset="-122"/>
                <a:cs typeface="IBM Plex Mono" pitchFamily="34" charset="-120"/>
              </a:rPr>
              <a:t>FASTEST-RISING TRADITIONAL</a:t>
            </a:r>
            <a:endParaRPr lang="en-US" sz="1200" dirty="0"/>
          </a:p>
        </p:txBody>
      </p:sp>
      <p:sp>
        <p:nvSpPr>
          <p:cNvPr id="11" name="Text 9"/>
          <p:cNvSpPr/>
          <p:nvPr/>
        </p:nvSpPr>
        <p:spPr>
          <a:xfrm>
            <a:off x="4662984" y="2139851"/>
            <a:ext cx="2952014"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2530"/>
                </a:solidFill>
                <a:latin typeface="IBM Plex Sans" pitchFamily="34" charset="0"/>
                <a:ea typeface="IBM Plex Sans" pitchFamily="34" charset="-122"/>
                <a:cs typeface="IBM Plex Sans" pitchFamily="34" charset="-120"/>
              </a:rPr>
              <a:t>Crelan</a:t>
            </a:r>
            <a:endParaRPr lang="en-US" sz="3200" dirty="0"/>
          </a:p>
        </p:txBody>
      </p:sp>
      <p:sp>
        <p:nvSpPr>
          <p:cNvPr id="12" name="Text 10"/>
          <p:cNvSpPr/>
          <p:nvPr/>
        </p:nvSpPr>
        <p:spPr>
          <a:xfrm>
            <a:off x="4662984" y="2688431"/>
            <a:ext cx="2952014" cy="47238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D6F63"/>
                </a:solidFill>
                <a:latin typeface="IBM Plex Mono" pitchFamily="34" charset="0"/>
                <a:ea typeface="IBM Plex Mono" pitchFamily="34" charset="-122"/>
                <a:cs typeface="IBM Plex Mono" pitchFamily="34" charset="-120"/>
              </a:rPr>
              <a:t>+16.4%/yr</a:t>
            </a:r>
            <a:endParaRPr lang="en-US" sz="3200" dirty="0"/>
          </a:p>
        </p:txBody>
      </p:sp>
      <p:sp>
        <p:nvSpPr>
          <p:cNvPr id="13" name="Text 11"/>
          <p:cNvSpPr/>
          <p:nvPr/>
        </p:nvSpPr>
        <p:spPr>
          <a:xfrm>
            <a:off x="4662984" y="3237012"/>
            <a:ext cx="295201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momentum</a:t>
            </a:r>
            <a:endParaRPr lang="en-US" sz="1200" dirty="0"/>
          </a:p>
        </p:txBody>
      </p:sp>
      <p:sp>
        <p:nvSpPr>
          <p:cNvPr id="14" name="Text 12"/>
          <p:cNvSpPr/>
          <p:nvPr/>
        </p:nvSpPr>
        <p:spPr>
          <a:xfrm>
            <a:off x="4662984" y="3551932"/>
            <a:ext cx="2952014"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8.96% last period</a:t>
            </a:r>
            <a:endParaRPr lang="en-US" sz="1400" dirty="0"/>
          </a:p>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+3.84 pts over five years</a:t>
            </a:r>
            <a:endParaRPr lang="en-US" sz="1400" dirty="0"/>
          </a:p>
        </p:txBody>
      </p:sp>
      <p:sp>
        <p:nvSpPr>
          <p:cNvPr id="15" name="Shape 13"/>
          <p:cNvSpPr/>
          <p:nvPr/>
        </p:nvSpPr>
        <p:spPr>
          <a:xfrm>
            <a:off x="7995741" y="1567755"/>
            <a:ext cx="3380284" cy="2987873"/>
          </a:xfrm>
          <a:prstGeom prst="roundRect">
            <a:avLst>
              <a:gd name="adj" fmla="val 3294"/>
            </a:avLst>
          </a:prstGeom>
          <a:solidFill>
            <a:srgbClr val="FBFAF6"/>
          </a:solidFill>
          <a:ln w="6350">
            <a:solidFill>
              <a:srgbClr val="DEDAD0"/>
            </a:solidFill>
            <a:prstDash val="solid"/>
          </a:ln>
        </p:spPr>
      </p:sp>
      <p:sp>
        <p:nvSpPr>
          <p:cNvPr id="16" name="Text 14"/>
          <p:cNvSpPr/>
          <p:nvPr/>
        </p:nvSpPr>
        <p:spPr>
          <a:xfrm>
            <a:off x="8252916" y="1824930"/>
            <a:ext cx="2951912"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B6470"/>
                </a:solidFill>
                <a:latin typeface="IBM Plex Mono" pitchFamily="34" charset="0"/>
                <a:ea typeface="IBM Plex Mono" pitchFamily="34" charset="-122"/>
                <a:cs typeface="IBM Plex Mono" pitchFamily="34" charset="-120"/>
              </a:rPr>
              <a:t>THE MEASURABLE CHALLENGER</a:t>
            </a:r>
            <a:endParaRPr lang="en-US" sz="1200" dirty="0"/>
          </a:p>
        </p:txBody>
      </p:sp>
      <p:sp>
        <p:nvSpPr>
          <p:cNvPr id="17" name="Text 15"/>
          <p:cNvSpPr/>
          <p:nvPr/>
        </p:nvSpPr>
        <p:spPr>
          <a:xfrm>
            <a:off x="8252916" y="2139851"/>
            <a:ext cx="295191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2530"/>
                </a:solidFill>
                <a:latin typeface="IBM Plex Sans" pitchFamily="34" charset="0"/>
                <a:ea typeface="IBM Plex Sans" pitchFamily="34" charset="-122"/>
                <a:cs typeface="IBM Plex Sans" pitchFamily="34" charset="-120"/>
              </a:rPr>
              <a:t>Revolut</a:t>
            </a:r>
            <a:endParaRPr lang="en-US" sz="3200" dirty="0"/>
          </a:p>
        </p:txBody>
      </p:sp>
      <p:sp>
        <p:nvSpPr>
          <p:cNvPr id="18" name="Text 16"/>
          <p:cNvSpPr/>
          <p:nvPr/>
        </p:nvSpPr>
        <p:spPr>
          <a:xfrm>
            <a:off x="8252916" y="2688431"/>
            <a:ext cx="2951912" cy="472380"/>
          </a:xfrm>
          <a:prstGeom prst="rect">
            <a:avLst/>
          </a:prstGeom>
          <a:noFill/>
          <a:ln/>
        </p:spPr>
        <p:txBody>
          <a:bodyPr wrap="square" lIns="0" tIns="0" rIns="0" bIns="0" rtlCol="0" anchor="t">
            <a:normAutofit/>
          </a:bodyPr>
          <a:lstStyle/>
          <a:p>
            <a:pPr algn="l" indent="0" marL="0">
              <a:lnSpc>
                <a:spcPts val="3520"/>
              </a:lnSpc>
              <a:buNone/>
            </a:pPr>
            <a:r>
              <a:rPr lang="en-US" sz="3200" dirty="0">
                <a:solidFill>
                  <a:srgbClr val="1D6F63"/>
                </a:solidFill>
                <a:latin typeface="IBM Plex Mono" pitchFamily="34" charset="0"/>
                <a:ea typeface="IBM Plex Mono" pitchFamily="34" charset="-122"/>
                <a:cs typeface="IBM Plex Mono" pitchFamily="34" charset="-120"/>
              </a:rPr>
              <a:t>+37.8%/yr</a:t>
            </a:r>
            <a:endParaRPr lang="en-US" sz="3200" dirty="0"/>
          </a:p>
        </p:txBody>
      </p:sp>
      <p:sp>
        <p:nvSpPr>
          <p:cNvPr id="19" name="Text 17"/>
          <p:cNvSpPr/>
          <p:nvPr/>
        </p:nvSpPr>
        <p:spPr>
          <a:xfrm>
            <a:off x="8252916" y="3237012"/>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momentum</a:t>
            </a:r>
            <a:endParaRPr lang="en-US" sz="1200" dirty="0"/>
          </a:p>
        </p:txBody>
      </p:sp>
      <p:sp>
        <p:nvSpPr>
          <p:cNvPr id="20" name="Text 18"/>
          <p:cNvSpPr/>
          <p:nvPr/>
        </p:nvSpPr>
        <p:spPr>
          <a:xfrm>
            <a:off x="8252916" y="3551932"/>
            <a:ext cx="295191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3.22% last period</a:t>
            </a:r>
            <a:endParaRPr lang="en-US" sz="1400" dirty="0"/>
          </a:p>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Keytrade, N26, bunq: too little volume</a:t>
            </a:r>
            <a:endParaRPr lang="en-US" sz="1400" dirty="0"/>
          </a:p>
        </p:txBody>
      </p:sp>
      <p:sp>
        <p:nvSpPr>
          <p:cNvPr id="21" name="Shape 19"/>
          <p:cNvSpPr/>
          <p:nvPr/>
        </p:nvSpPr>
        <p:spPr>
          <a:xfrm>
            <a:off x="812800" y="4863604"/>
            <a:ext cx="10566400" cy="553641"/>
          </a:xfrm>
          <a:prstGeom prst="roundRect">
            <a:avLst>
              <a:gd name="adj" fmla="val 18351"/>
            </a:avLst>
          </a:prstGeom>
          <a:solidFill>
            <a:srgbClr val="F6E1D4"/>
          </a:solidFill>
          <a:ln/>
        </p:spPr>
      </p:sp>
      <p:sp>
        <p:nvSpPr>
          <p:cNvPr id="22" name="Text 20"/>
          <p:cNvSpPr/>
          <p:nvPr/>
        </p:nvSpPr>
        <p:spPr>
          <a:xfrm>
            <a:off x="1066800" y="5016004"/>
            <a:ext cx="755713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3461A"/>
                </a:solidFill>
                <a:latin typeface="IBM Plex Sans" pitchFamily="34" charset="0"/>
                <a:ea typeface="IBM Plex Sans" pitchFamily="34" charset="-122"/>
                <a:cs typeface="IBM Plex Sans" pitchFamily="34" charset="-120"/>
              </a:rPr>
              <a:t>ING for comparison:</a:t>
            </a:r>
            <a:r>
              <a:rPr lang="en-US" sz="1400" dirty="0">
                <a:solidFill>
                  <a:srgbClr val="B3461A"/>
                </a:solidFill>
                <a:latin typeface="IBM Plex Sans" pitchFamily="34" charset="0"/>
                <a:ea typeface="IBM Plex Sans" pitchFamily="34" charset="-122"/>
                <a:cs typeface="IBM Plex Sans" pitchFamily="34" charset="-120"/>
              </a:rPr>
              <a:t> 16.79% in the last period · down −3.7%/yr · chosen on attention alone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2530"/>
                </a:solidFill>
                <a:latin typeface="IBM Plex Sans" pitchFamily="34" charset="0"/>
                <a:ea typeface="IBM Plex Sans" pitchFamily="34" charset="-122"/>
                <a:cs typeface="IBM Plex Sans" pitchFamily="34" charset="-120"/>
              </a:rPr>
              <a:t>What their pages share that ING’s don’t</a:t>
            </a:r>
            <a:endParaRPr lang="en-US" sz="3200" dirty="0"/>
          </a:p>
        </p:txBody>
      </p:sp>
      <p:sp>
        <p:nvSpPr>
          <p:cNvPr id="3" name="Text 1"/>
          <p:cNvSpPr/>
          <p:nvPr/>
        </p:nvSpPr>
        <p:spPr>
          <a:xfrm>
            <a:off x="812800" y="1513780"/>
            <a:ext cx="21795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F63"/>
                </a:solidFill>
                <a:latin typeface="IBM Plex Sans" pitchFamily="34" charset="0"/>
                <a:ea typeface="IBM Plex Sans" pitchFamily="34" charset="-122"/>
                <a:cs typeface="IBM Plex Sans" pitchFamily="34" charset="-120"/>
              </a:rPr>
              <a:t>●</a:t>
            </a:r>
            <a:r>
              <a:rPr lang="en-US" sz="1200" dirty="0">
                <a:solidFill>
                  <a:srgbClr val="5B6470"/>
                </a:solidFill>
                <a:latin typeface="IBM Plex Sans" pitchFamily="34" charset="0"/>
                <a:ea typeface="IBM Plex Sans" pitchFamily="34" charset="-122"/>
                <a:cs typeface="IBM Plex Sans" pitchFamily="34" charset="-120"/>
              </a:rPr>
              <a:t> Mean of KBC, Crelan, Revolut</a:t>
            </a:r>
            <a:endParaRPr lang="en-US" sz="1200" dirty="0"/>
          </a:p>
        </p:txBody>
      </p:sp>
      <p:sp>
        <p:nvSpPr>
          <p:cNvPr id="4" name="Text 2"/>
          <p:cNvSpPr/>
          <p:nvPr/>
        </p:nvSpPr>
        <p:spPr>
          <a:xfrm>
            <a:off x="3182838" y="1513780"/>
            <a:ext cx="45352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4501C"/>
                </a:solidFill>
                <a:latin typeface="IBM Plex Sans" pitchFamily="34" charset="0"/>
                <a:ea typeface="IBM Plex Sans" pitchFamily="34" charset="-122"/>
                <a:cs typeface="IBM Plex Sans" pitchFamily="34" charset="-120"/>
              </a:rPr>
              <a:t>●</a:t>
            </a:r>
            <a:r>
              <a:rPr lang="en-US" sz="1200" dirty="0">
                <a:solidFill>
                  <a:srgbClr val="5B6470"/>
                </a:solidFill>
                <a:latin typeface="IBM Plex Sans" pitchFamily="34" charset="0"/>
                <a:ea typeface="IBM Plex Sans" pitchFamily="34" charset="-122"/>
                <a:cs typeface="IBM Plex Sans" pitchFamily="34" charset="-120"/>
              </a:rPr>
              <a:t> ING</a:t>
            </a:r>
            <a:endParaRPr lang="en-US" sz="1200" dirty="0"/>
          </a:p>
        </p:txBody>
      </p:sp>
      <p:sp>
        <p:nvSpPr>
          <p:cNvPr id="5" name="Text 3"/>
          <p:cNvSpPr/>
          <p:nvPr/>
        </p:nvSpPr>
        <p:spPr>
          <a:xfrm>
            <a:off x="3839567" y="1513780"/>
            <a:ext cx="28781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Vertical tick = market average (z-score 0)</a:t>
            </a:r>
            <a:endParaRPr lang="en-US" sz="1200" dirty="0"/>
          </a:p>
        </p:txBody>
      </p:sp>
      <p:sp>
        <p:nvSpPr>
          <p:cNvPr id="6" name="Text 4"/>
          <p:cNvSpPr/>
          <p:nvPr/>
        </p:nvSpPr>
        <p:spPr>
          <a:xfrm>
            <a:off x="812800" y="2034480"/>
            <a:ext cx="274701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530"/>
                </a:solidFill>
                <a:latin typeface="IBM Plex Sans" pitchFamily="34" charset="0"/>
                <a:ea typeface="IBM Plex Sans" pitchFamily="34" charset="-122"/>
                <a:cs typeface="IBM Plex Sans" pitchFamily="34" charset="-120"/>
              </a:rPr>
              <a:t>Images carry alt text</a:t>
            </a:r>
            <a:endParaRPr lang="en-US" sz="1400" dirty="0"/>
          </a:p>
        </p:txBody>
      </p:sp>
      <p:sp>
        <p:nvSpPr>
          <p:cNvPr id="7" name="Shape 5"/>
          <p:cNvSpPr/>
          <p:nvPr/>
        </p:nvSpPr>
        <p:spPr>
          <a:xfrm>
            <a:off x="3733800" y="2152551"/>
            <a:ext cx="4826000" cy="12700"/>
          </a:xfrm>
          <a:prstGeom prst="rect">
            <a:avLst/>
          </a:prstGeom>
          <a:solidFill>
            <a:srgbClr val="CFCAC0"/>
          </a:solidFill>
          <a:ln/>
        </p:spPr>
      </p:sp>
      <p:sp>
        <p:nvSpPr>
          <p:cNvPr id="8" name="Shape 6"/>
          <p:cNvSpPr/>
          <p:nvPr/>
        </p:nvSpPr>
        <p:spPr>
          <a:xfrm>
            <a:off x="5105400" y="2031901"/>
            <a:ext cx="12700" cy="254000"/>
          </a:xfrm>
          <a:prstGeom prst="rect">
            <a:avLst/>
          </a:prstGeom>
          <a:solidFill>
            <a:srgbClr val="8A929C"/>
          </a:solidFill>
          <a:ln/>
        </p:spPr>
      </p:sp>
      <p:sp>
        <p:nvSpPr>
          <p:cNvPr id="9" name="Shape 7"/>
          <p:cNvSpPr/>
          <p:nvPr/>
        </p:nvSpPr>
        <p:spPr>
          <a:xfrm>
            <a:off x="4305300" y="2070001"/>
            <a:ext cx="177800" cy="177800"/>
          </a:xfrm>
          <a:prstGeom prst="roundRect">
            <a:avLst>
              <a:gd name="adj" fmla="val 50000"/>
            </a:avLst>
          </a:prstGeom>
          <a:solidFill>
            <a:srgbClr val="C4501C"/>
          </a:solidFill>
          <a:ln/>
        </p:spPr>
      </p:sp>
      <p:sp>
        <p:nvSpPr>
          <p:cNvPr id="10" name="Shape 8"/>
          <p:cNvSpPr/>
          <p:nvPr/>
        </p:nvSpPr>
        <p:spPr>
          <a:xfrm>
            <a:off x="7658100" y="2070001"/>
            <a:ext cx="177800" cy="177800"/>
          </a:xfrm>
          <a:prstGeom prst="roundRect">
            <a:avLst>
              <a:gd name="adj" fmla="val 50000"/>
            </a:avLst>
          </a:prstGeom>
          <a:solidFill>
            <a:srgbClr val="1D6F63"/>
          </a:solidFill>
          <a:ln/>
        </p:spPr>
      </p:sp>
      <p:sp>
        <p:nvSpPr>
          <p:cNvPr id="11" name="Text 9"/>
          <p:cNvSpPr/>
          <p:nvPr/>
        </p:nvSpPr>
        <p:spPr>
          <a:xfrm>
            <a:off x="8813800" y="2052241"/>
            <a:ext cx="1331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F63"/>
                </a:solidFill>
                <a:latin typeface="IBM Plex Mono" pitchFamily="34" charset="0"/>
                <a:ea typeface="IBM Plex Mono" pitchFamily="34" charset="-122"/>
                <a:cs typeface="IBM Plex Mono" pitchFamily="34" charset="-120"/>
              </a:rPr>
              <a:t>+1.91</a:t>
            </a:r>
            <a:r>
              <a:rPr lang="en-US" sz="1200" dirty="0">
                <a:solidFill>
                  <a:srgbClr val="1C2530"/>
                </a:solidFill>
                <a:latin typeface="IBM Plex Mono" pitchFamily="34" charset="0"/>
                <a:ea typeface="IBM Plex Mono" pitchFamily="34" charset="-122"/>
                <a:cs typeface="IBM Plex Mono" pitchFamily="34" charset="-120"/>
              </a:rPr>
              <a:t> vs </a:t>
            </a:r>
            <a:r>
              <a:rPr lang="en-US" sz="1200" dirty="0">
                <a:solidFill>
                  <a:srgbClr val="B3461A"/>
                </a:solidFill>
                <a:latin typeface="IBM Plex Mono" pitchFamily="34" charset="0"/>
                <a:ea typeface="IBM Plex Mono" pitchFamily="34" charset="-122"/>
                <a:cs typeface="IBM Plex Mono" pitchFamily="34" charset="-120"/>
              </a:rPr>
              <a:t>−0.52</a:t>
            </a:r>
            <a:endParaRPr lang="en-US" sz="1200" dirty="0"/>
          </a:p>
        </p:txBody>
      </p:sp>
      <p:sp>
        <p:nvSpPr>
          <p:cNvPr id="12" name="Text 10"/>
          <p:cNvSpPr/>
          <p:nvPr/>
        </p:nvSpPr>
        <p:spPr>
          <a:xfrm>
            <a:off x="812800" y="2567880"/>
            <a:ext cx="274701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530"/>
                </a:solidFill>
                <a:latin typeface="IBM Plex Sans" pitchFamily="34" charset="0"/>
                <a:ea typeface="IBM Plex Sans" pitchFamily="34" charset="-122"/>
                <a:cs typeface="IBM Plex Sans" pitchFamily="34" charset="-120"/>
              </a:rPr>
              <a:t>Call-to-action contrast</a:t>
            </a:r>
            <a:endParaRPr lang="en-US" sz="1400" dirty="0"/>
          </a:p>
        </p:txBody>
      </p:sp>
      <p:sp>
        <p:nvSpPr>
          <p:cNvPr id="13" name="Shape 11"/>
          <p:cNvSpPr/>
          <p:nvPr/>
        </p:nvSpPr>
        <p:spPr>
          <a:xfrm>
            <a:off x="3733800" y="2685951"/>
            <a:ext cx="4826000" cy="12700"/>
          </a:xfrm>
          <a:prstGeom prst="rect">
            <a:avLst/>
          </a:prstGeom>
          <a:solidFill>
            <a:srgbClr val="CFCAC0"/>
          </a:solidFill>
          <a:ln/>
        </p:spPr>
      </p:sp>
      <p:sp>
        <p:nvSpPr>
          <p:cNvPr id="14" name="Shape 12"/>
          <p:cNvSpPr/>
          <p:nvPr/>
        </p:nvSpPr>
        <p:spPr>
          <a:xfrm>
            <a:off x="5105400" y="2565301"/>
            <a:ext cx="12700" cy="254000"/>
          </a:xfrm>
          <a:prstGeom prst="rect">
            <a:avLst/>
          </a:prstGeom>
          <a:solidFill>
            <a:srgbClr val="8A929C"/>
          </a:solidFill>
          <a:ln/>
        </p:spPr>
      </p:sp>
      <p:sp>
        <p:nvSpPr>
          <p:cNvPr id="15" name="Shape 13"/>
          <p:cNvSpPr/>
          <p:nvPr/>
        </p:nvSpPr>
        <p:spPr>
          <a:xfrm>
            <a:off x="4552950" y="2603401"/>
            <a:ext cx="177800" cy="177800"/>
          </a:xfrm>
          <a:prstGeom prst="roundRect">
            <a:avLst>
              <a:gd name="adj" fmla="val 50000"/>
            </a:avLst>
          </a:prstGeom>
          <a:solidFill>
            <a:srgbClr val="C4501C"/>
          </a:solidFill>
          <a:ln/>
        </p:spPr>
      </p:sp>
      <p:sp>
        <p:nvSpPr>
          <p:cNvPr id="16" name="Shape 14"/>
          <p:cNvSpPr/>
          <p:nvPr/>
        </p:nvSpPr>
        <p:spPr>
          <a:xfrm>
            <a:off x="6578600" y="2603401"/>
            <a:ext cx="177800" cy="177800"/>
          </a:xfrm>
          <a:prstGeom prst="roundRect">
            <a:avLst>
              <a:gd name="adj" fmla="val 50000"/>
            </a:avLst>
          </a:prstGeom>
          <a:solidFill>
            <a:srgbClr val="1D6F63"/>
          </a:solidFill>
          <a:ln/>
        </p:spPr>
      </p:sp>
      <p:sp>
        <p:nvSpPr>
          <p:cNvPr id="17" name="Text 15"/>
          <p:cNvSpPr/>
          <p:nvPr/>
        </p:nvSpPr>
        <p:spPr>
          <a:xfrm>
            <a:off x="8813800" y="2585641"/>
            <a:ext cx="1331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F63"/>
                </a:solidFill>
                <a:latin typeface="IBM Plex Mono" pitchFamily="34" charset="0"/>
                <a:ea typeface="IBM Plex Mono" pitchFamily="34" charset="-122"/>
                <a:cs typeface="IBM Plex Mono" pitchFamily="34" charset="-120"/>
              </a:rPr>
              <a:t>+1.13</a:t>
            </a:r>
            <a:r>
              <a:rPr lang="en-US" sz="1200" dirty="0">
                <a:solidFill>
                  <a:srgbClr val="1C2530"/>
                </a:solidFill>
                <a:latin typeface="IBM Plex Mono" pitchFamily="34" charset="0"/>
                <a:ea typeface="IBM Plex Mono" pitchFamily="34" charset="-122"/>
                <a:cs typeface="IBM Plex Mono" pitchFamily="34" charset="-120"/>
              </a:rPr>
              <a:t> vs </a:t>
            </a:r>
            <a:r>
              <a:rPr lang="en-US" sz="1200" dirty="0">
                <a:solidFill>
                  <a:srgbClr val="B3461A"/>
                </a:solidFill>
                <a:latin typeface="IBM Plex Mono" pitchFamily="34" charset="0"/>
                <a:ea typeface="IBM Plex Mono" pitchFamily="34" charset="-122"/>
                <a:cs typeface="IBM Plex Mono" pitchFamily="34" charset="-120"/>
              </a:rPr>
              <a:t>−0.34</a:t>
            </a:r>
            <a:endParaRPr lang="en-US" sz="1200" dirty="0"/>
          </a:p>
        </p:txBody>
      </p:sp>
      <p:sp>
        <p:nvSpPr>
          <p:cNvPr id="18" name="Text 16"/>
          <p:cNvSpPr/>
          <p:nvPr/>
        </p:nvSpPr>
        <p:spPr>
          <a:xfrm>
            <a:off x="812800" y="3101280"/>
            <a:ext cx="274701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530"/>
                </a:solidFill>
                <a:latin typeface="IBM Plex Sans" pitchFamily="34" charset="0"/>
                <a:ea typeface="IBM Plex Sans" pitchFamily="34" charset="-122"/>
                <a:cs typeface="IBM Plex Sans" pitchFamily="34" charset="-120"/>
              </a:rPr>
              <a:t>Animated elements</a:t>
            </a:r>
            <a:endParaRPr lang="en-US" sz="1400" dirty="0"/>
          </a:p>
        </p:txBody>
      </p:sp>
      <p:sp>
        <p:nvSpPr>
          <p:cNvPr id="19" name="Shape 17"/>
          <p:cNvSpPr/>
          <p:nvPr/>
        </p:nvSpPr>
        <p:spPr>
          <a:xfrm>
            <a:off x="3733800" y="3219351"/>
            <a:ext cx="4826000" cy="12700"/>
          </a:xfrm>
          <a:prstGeom prst="rect">
            <a:avLst/>
          </a:prstGeom>
          <a:solidFill>
            <a:srgbClr val="CFCAC0"/>
          </a:solidFill>
          <a:ln/>
        </p:spPr>
      </p:sp>
      <p:sp>
        <p:nvSpPr>
          <p:cNvPr id="20" name="Shape 18"/>
          <p:cNvSpPr/>
          <p:nvPr/>
        </p:nvSpPr>
        <p:spPr>
          <a:xfrm>
            <a:off x="5105400" y="3098701"/>
            <a:ext cx="12700" cy="254000"/>
          </a:xfrm>
          <a:prstGeom prst="rect">
            <a:avLst/>
          </a:prstGeom>
          <a:solidFill>
            <a:srgbClr val="8A929C"/>
          </a:solidFill>
          <a:ln/>
        </p:spPr>
      </p:sp>
      <p:sp>
        <p:nvSpPr>
          <p:cNvPr id="21" name="Shape 19"/>
          <p:cNvSpPr/>
          <p:nvPr/>
        </p:nvSpPr>
        <p:spPr>
          <a:xfrm>
            <a:off x="4267200" y="3136801"/>
            <a:ext cx="177800" cy="177800"/>
          </a:xfrm>
          <a:prstGeom prst="roundRect">
            <a:avLst>
              <a:gd name="adj" fmla="val 50000"/>
            </a:avLst>
          </a:prstGeom>
          <a:solidFill>
            <a:srgbClr val="C4501C"/>
          </a:solidFill>
          <a:ln/>
        </p:spPr>
      </p:sp>
      <p:sp>
        <p:nvSpPr>
          <p:cNvPr id="22" name="Shape 20"/>
          <p:cNvSpPr/>
          <p:nvPr/>
        </p:nvSpPr>
        <p:spPr>
          <a:xfrm>
            <a:off x="6191250" y="3136801"/>
            <a:ext cx="177800" cy="177800"/>
          </a:xfrm>
          <a:prstGeom prst="roundRect">
            <a:avLst>
              <a:gd name="adj" fmla="val 50000"/>
            </a:avLst>
          </a:prstGeom>
          <a:solidFill>
            <a:srgbClr val="1D6F63"/>
          </a:solidFill>
          <a:ln/>
        </p:spPr>
      </p:sp>
      <p:sp>
        <p:nvSpPr>
          <p:cNvPr id="23" name="Text 21"/>
          <p:cNvSpPr/>
          <p:nvPr/>
        </p:nvSpPr>
        <p:spPr>
          <a:xfrm>
            <a:off x="8813800" y="3119041"/>
            <a:ext cx="1331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D6F63"/>
                </a:solidFill>
                <a:latin typeface="IBM Plex Mono" pitchFamily="34" charset="0"/>
                <a:ea typeface="IBM Plex Mono" pitchFamily="34" charset="-122"/>
                <a:cs typeface="IBM Plex Mono" pitchFamily="34" charset="-120"/>
              </a:rPr>
              <a:t>+0.85</a:t>
            </a:r>
            <a:r>
              <a:rPr lang="en-US" sz="1200" dirty="0">
                <a:solidFill>
                  <a:srgbClr val="1C2530"/>
                </a:solidFill>
                <a:latin typeface="IBM Plex Mono" pitchFamily="34" charset="0"/>
                <a:ea typeface="IBM Plex Mono" pitchFamily="34" charset="-122"/>
                <a:cs typeface="IBM Plex Mono" pitchFamily="34" charset="-120"/>
              </a:rPr>
              <a:t> vs </a:t>
            </a:r>
            <a:r>
              <a:rPr lang="en-US" sz="1200" dirty="0">
                <a:solidFill>
                  <a:srgbClr val="B3461A"/>
                </a:solidFill>
                <a:latin typeface="IBM Plex Mono" pitchFamily="34" charset="0"/>
                <a:ea typeface="IBM Plex Mono" pitchFamily="34" charset="-122"/>
                <a:cs typeface="IBM Plex Mono" pitchFamily="34" charset="-120"/>
              </a:rPr>
              <a:t>−0.55</a:t>
            </a:r>
            <a:endParaRPr lang="en-US" sz="1200" dirty="0"/>
          </a:p>
        </p:txBody>
      </p:sp>
      <p:sp>
        <p:nvSpPr>
          <p:cNvPr id="24" name="Shape 22"/>
          <p:cNvSpPr/>
          <p:nvPr/>
        </p:nvSpPr>
        <p:spPr>
          <a:xfrm>
            <a:off x="812800" y="3657501"/>
            <a:ext cx="10566400" cy="944761"/>
          </a:xfrm>
          <a:prstGeom prst="roundRect">
            <a:avLst>
              <a:gd name="adj" fmla="val 5377"/>
            </a:avLst>
          </a:prstGeom>
          <a:solidFill>
            <a:srgbClr val="FBFAF6"/>
          </a:solidFill>
          <a:ln/>
        </p:spPr>
      </p:sp>
      <p:sp>
        <p:nvSpPr>
          <p:cNvPr id="25" name="Shape 23"/>
          <p:cNvSpPr/>
          <p:nvPr/>
        </p:nvSpPr>
        <p:spPr>
          <a:xfrm>
            <a:off x="831850" y="3657501"/>
            <a:ext cx="0" cy="944761"/>
          </a:xfrm>
          <a:prstGeom prst="line">
            <a:avLst/>
          </a:prstGeom>
          <a:noFill/>
          <a:ln w="38100">
            <a:solidFill>
              <a:srgbClr val="1D6F63"/>
            </a:solidFill>
            <a:prstDash val="solid"/>
          </a:ln>
        </p:spPr>
      </p:sp>
      <p:sp>
        <p:nvSpPr>
          <p:cNvPr id="26" name="Text 24"/>
          <p:cNvSpPr/>
          <p:nvPr/>
        </p:nvSpPr>
        <p:spPr>
          <a:xfrm>
            <a:off x="1104900" y="3860701"/>
            <a:ext cx="10320909"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C2530"/>
                </a:solidFill>
                <a:latin typeface="IBM Plex Sans" pitchFamily="34" charset="0"/>
                <a:ea typeface="IBM Plex Sans" pitchFamily="34" charset="-122"/>
                <a:cs typeface="IBM Plex Sans" pitchFamily="34" charset="-120"/>
              </a:rPr>
              <a:t>Selected on search attention alone.</a:t>
            </a:r>
            <a:r>
              <a:rPr lang="en-US" sz="1400" dirty="0">
                <a:solidFill>
                  <a:srgbClr val="1C2530"/>
                </a:solidFill>
                <a:latin typeface="IBM Plex Sans" pitchFamily="34" charset="0"/>
                <a:ea typeface="IBM Plex Sans" pitchFamily="34" charset="-122"/>
                <a:cs typeface="IBM Plex Sans" pitchFamily="34" charset="-120"/>
              </a:rPr>
              <a:t> This shows what their pages measurably do differently — not why they are searched for.</a:t>
            </a:r>
            <a:endParaRPr lang="en-US" sz="1400" dirty="0"/>
          </a:p>
        </p:txBody>
      </p:sp>
      <p:sp>
        <p:nvSpPr>
          <p:cNvPr id="27" name="Text 25"/>
          <p:cNvSpPr/>
          <p:nvPr/>
        </p:nvSpPr>
        <p:spPr>
          <a:xfrm>
            <a:off x="1104900" y="4185741"/>
            <a:ext cx="103209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Pages measured: KBC 3 · Crelan 1 · Revolut 1. Beyond these three choices the brands diverge: no single recipe.</a:t>
            </a:r>
            <a:endParaRPr lang="en-US" sz="12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z-scores over the comparable page-feature set · today’s pages, not the pages of 2021–2025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C2530"/>
                </a:solidFill>
                <a:latin typeface="IBM Plex Sans" pitchFamily="34" charset="0"/>
                <a:ea typeface="IBM Plex Sans" pitchFamily="34" charset="-122"/>
                <a:cs typeface="IBM Plex Sans" pitchFamily="34" charset="-120"/>
              </a:rPr>
              <a:t>Why challengers look small in search</a:t>
            </a:r>
            <a:endParaRPr lang="en-US" sz="3200" dirty="0"/>
          </a:p>
        </p:txBody>
      </p:sp>
      <p:sp>
        <p:nvSpPr>
          <p:cNvPr id="3" name="Text 1"/>
          <p:cNvSpPr/>
          <p:nvPr/>
        </p:nvSpPr>
        <p:spPr>
          <a:xfrm>
            <a:off x="812800" y="1513780"/>
            <a:ext cx="3921643"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1D6F63"/>
                </a:solidFill>
                <a:latin typeface="IBM Plex Mono" pitchFamily="34" charset="0"/>
                <a:ea typeface="IBM Plex Mono" pitchFamily="34" charset="-122"/>
                <a:cs typeface="IBM Plex Mono" pitchFamily="34" charset="-120"/>
              </a:rPr>
              <a:t>&gt; 1M</a:t>
            </a:r>
            <a:endParaRPr lang="en-US" sz="4800" dirty="0"/>
          </a:p>
        </p:txBody>
      </p:sp>
      <p:sp>
        <p:nvSpPr>
          <p:cNvPr id="4" name="Text 2"/>
          <p:cNvSpPr/>
          <p:nvPr/>
        </p:nvSpPr>
        <p:spPr>
          <a:xfrm>
            <a:off x="812800" y="2209701"/>
            <a:ext cx="392164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Revolut private customers in Belgium, +~25,000/month</a:t>
            </a:r>
            <a:endParaRPr lang="en-US" sz="1200" dirty="0"/>
          </a:p>
        </p:txBody>
      </p:sp>
      <p:sp>
        <p:nvSpPr>
          <p:cNvPr id="5" name="Text 3"/>
          <p:cNvSpPr/>
          <p:nvPr/>
        </p:nvSpPr>
        <p:spPr>
          <a:xfrm>
            <a:off x="5026620" y="2148780"/>
            <a:ext cx="274638" cy="29964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5B6470"/>
                </a:solidFill>
                <a:latin typeface="IBM Plex Sans" pitchFamily="34" charset="0"/>
                <a:ea typeface="IBM Plex Sans" pitchFamily="34" charset="-122"/>
                <a:cs typeface="IBM Plex Sans" pitchFamily="34" charset="-120"/>
              </a:rPr>
              <a:t>vs</a:t>
            </a:r>
            <a:endParaRPr lang="en-US" sz="1800" dirty="0"/>
          </a:p>
        </p:txBody>
      </p:sp>
      <p:sp>
        <p:nvSpPr>
          <p:cNvPr id="6" name="Text 4"/>
          <p:cNvSpPr/>
          <p:nvPr/>
        </p:nvSpPr>
        <p:spPr>
          <a:xfrm>
            <a:off x="5656858" y="1513780"/>
            <a:ext cx="1883664"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1C2530"/>
                </a:solidFill>
                <a:latin typeface="IBM Plex Mono" pitchFamily="34" charset="0"/>
                <a:ea typeface="IBM Plex Mono" pitchFamily="34" charset="-122"/>
                <a:cs typeface="IBM Plex Mono" pitchFamily="34" charset="-120"/>
              </a:rPr>
              <a:t>1.64%</a:t>
            </a:r>
            <a:endParaRPr lang="en-US" sz="4800" dirty="0"/>
          </a:p>
        </p:txBody>
      </p:sp>
      <p:sp>
        <p:nvSpPr>
          <p:cNvPr id="7" name="Text 5"/>
          <p:cNvSpPr/>
          <p:nvPr/>
        </p:nvSpPr>
        <p:spPr>
          <a:xfrm>
            <a:off x="5656858" y="2209701"/>
            <a:ext cx="18836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of brand search, 9th of 14</a:t>
            </a:r>
            <a:endParaRPr lang="en-US" sz="1200" dirty="0"/>
          </a:p>
        </p:txBody>
      </p:sp>
      <p:sp>
        <p:nvSpPr>
          <p:cNvPr id="8" name="Shape 6"/>
          <p:cNvSpPr/>
          <p:nvPr/>
        </p:nvSpPr>
        <p:spPr>
          <a:xfrm>
            <a:off x="815975" y="2680196"/>
            <a:ext cx="3380284" cy="1758553"/>
          </a:xfrm>
          <a:prstGeom prst="roundRect">
            <a:avLst>
              <a:gd name="adj" fmla="val 5597"/>
            </a:avLst>
          </a:prstGeom>
          <a:solidFill>
            <a:srgbClr val="FBFAF6"/>
          </a:solidFill>
          <a:ln w="6350">
            <a:solidFill>
              <a:srgbClr val="DEDAD0"/>
            </a:solidFill>
            <a:prstDash val="solid"/>
          </a:ln>
        </p:spPr>
      </p:sp>
      <p:sp>
        <p:nvSpPr>
          <p:cNvPr id="9" name="Text 7"/>
          <p:cNvSpPr/>
          <p:nvPr/>
        </p:nvSpPr>
        <p:spPr>
          <a:xfrm>
            <a:off x="1022350" y="2886571"/>
            <a:ext cx="305656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530"/>
                </a:solidFill>
                <a:latin typeface="IBM Plex Sans" pitchFamily="34" charset="0"/>
                <a:ea typeface="IBM Plex Sans" pitchFamily="34" charset="-122"/>
                <a:cs typeface="IBM Plex Sans" pitchFamily="34" charset="-120"/>
              </a:rPr>
              <a:t>Navigational searches</a:t>
            </a:r>
            <a:endParaRPr lang="en-US" sz="1800" dirty="0"/>
          </a:p>
        </p:txBody>
      </p:sp>
      <p:sp>
        <p:nvSpPr>
          <p:cNvPr id="10" name="Text 8"/>
          <p:cNvSpPr/>
          <p:nvPr/>
        </p:nvSpPr>
        <p:spPr>
          <a:xfrm>
            <a:off x="1022350" y="3237012"/>
            <a:ext cx="3056560"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Incumbent searches include logins, branches, opening hours. A working hypothesis, not verified at query level.</a:t>
            </a:r>
            <a:endParaRPr lang="en-US" sz="1400" dirty="0"/>
          </a:p>
        </p:txBody>
      </p:sp>
      <p:sp>
        <p:nvSpPr>
          <p:cNvPr id="11" name="Shape 9"/>
          <p:cNvSpPr/>
          <p:nvPr/>
        </p:nvSpPr>
        <p:spPr>
          <a:xfrm>
            <a:off x="4405809" y="2680196"/>
            <a:ext cx="3380383" cy="1758553"/>
          </a:xfrm>
          <a:prstGeom prst="roundRect">
            <a:avLst>
              <a:gd name="adj" fmla="val 5597"/>
            </a:avLst>
          </a:prstGeom>
          <a:solidFill>
            <a:srgbClr val="FBFAF6"/>
          </a:solidFill>
          <a:ln w="6350">
            <a:solidFill>
              <a:srgbClr val="DEDAD0"/>
            </a:solidFill>
            <a:prstDash val="solid"/>
          </a:ln>
        </p:spPr>
      </p:sp>
      <p:sp>
        <p:nvSpPr>
          <p:cNvPr id="12" name="Text 10"/>
          <p:cNvSpPr/>
          <p:nvPr/>
        </p:nvSpPr>
        <p:spPr>
          <a:xfrm>
            <a:off x="4612184" y="2886571"/>
            <a:ext cx="305666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530"/>
                </a:solidFill>
                <a:latin typeface="IBM Plex Sans" pitchFamily="34" charset="0"/>
                <a:ea typeface="IBM Plex Sans" pitchFamily="34" charset="-122"/>
                <a:cs typeface="IBM Plex Sans" pitchFamily="34" charset="-120"/>
              </a:rPr>
              <a:t>App-first journeys</a:t>
            </a:r>
            <a:endParaRPr lang="en-US" sz="1800" dirty="0"/>
          </a:p>
        </p:txBody>
      </p:sp>
      <p:sp>
        <p:nvSpPr>
          <p:cNvPr id="13" name="Text 11"/>
          <p:cNvSpPr/>
          <p:nvPr/>
        </p:nvSpPr>
        <p:spPr>
          <a:xfrm>
            <a:off x="4612184" y="3237012"/>
            <a:ext cx="3056662"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Sign-up via app stores and referral links, then daily app use without searching the name.</a:t>
            </a:r>
            <a:endParaRPr lang="en-US" sz="1400" dirty="0"/>
          </a:p>
        </p:txBody>
      </p:sp>
      <p:sp>
        <p:nvSpPr>
          <p:cNvPr id="14" name="Shape 12"/>
          <p:cNvSpPr/>
          <p:nvPr/>
        </p:nvSpPr>
        <p:spPr>
          <a:xfrm>
            <a:off x="7995741" y="2680196"/>
            <a:ext cx="3380284" cy="1758553"/>
          </a:xfrm>
          <a:prstGeom prst="roundRect">
            <a:avLst>
              <a:gd name="adj" fmla="val 5597"/>
            </a:avLst>
          </a:prstGeom>
          <a:solidFill>
            <a:srgbClr val="FBFAF6"/>
          </a:solidFill>
          <a:ln w="6350">
            <a:solidFill>
              <a:srgbClr val="DEDAD0"/>
            </a:solidFill>
            <a:prstDash val="solid"/>
          </a:ln>
        </p:spPr>
      </p:sp>
      <p:sp>
        <p:nvSpPr>
          <p:cNvPr id="15" name="Text 13"/>
          <p:cNvSpPr/>
          <p:nvPr/>
        </p:nvSpPr>
        <p:spPr>
          <a:xfrm>
            <a:off x="8202116" y="2886571"/>
            <a:ext cx="305656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C2530"/>
                </a:solidFill>
                <a:latin typeface="IBM Plex Sans" pitchFamily="34" charset="0"/>
                <a:ea typeface="IBM Plex Sans" pitchFamily="34" charset="-122"/>
                <a:cs typeface="IBM Plex Sans" pitchFamily="34" charset="-120"/>
              </a:rPr>
              <a:t>Measurement floor</a:t>
            </a:r>
            <a:endParaRPr lang="en-US" sz="1800" dirty="0"/>
          </a:p>
        </p:txBody>
      </p:sp>
      <p:sp>
        <p:nvSpPr>
          <p:cNvPr id="16" name="Text 14"/>
          <p:cNvSpPr/>
          <p:nvPr/>
        </p:nvSpPr>
        <p:spPr>
          <a:xfrm>
            <a:off x="8202116" y="3237012"/>
            <a:ext cx="3056560"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C2530"/>
                </a:solidFill>
                <a:latin typeface="IBM Plex Sans" pitchFamily="34" charset="0"/>
                <a:ea typeface="IBM Plex Sans" pitchFamily="34" charset="-122"/>
                <a:cs typeface="IBM Plex Sans" pitchFamily="34" charset="-120"/>
              </a:rPr>
              <a:t>Six brands never clear 10/100 in their own request; their share is partly rounding.</a:t>
            </a:r>
            <a:endParaRPr lang="en-US" sz="1400" dirty="0"/>
          </a:p>
        </p:txBody>
      </p:sp>
      <p:sp>
        <p:nvSpPr>
          <p:cNvPr id="17" name="Text 15"/>
          <p:cNvSpPr/>
          <p:nvPr/>
        </p:nvSpPr>
        <p:spPr>
          <a:xfrm>
            <a:off x="812800" y="4695924"/>
            <a:ext cx="10883392"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D6F63"/>
                </a:solidFill>
                <a:latin typeface="IBM Plex Sans" pitchFamily="34" charset="0"/>
                <a:ea typeface="IBM Plex Sans" pitchFamily="34" charset="-122"/>
                <a:cs typeface="IBM Plex Sans" pitchFamily="34" charset="-120"/>
              </a:rPr>
              <a:t>Read challenger shares as a floor on attention, not a customer count.</a:t>
            </a:r>
            <a:endParaRPr lang="en-US" sz="18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0"/>
                </a:solidFill>
                <a:latin typeface="IBM Plex Sans" pitchFamily="34" charset="0"/>
                <a:ea typeface="IBM Plex Sans" pitchFamily="34" charset="-122"/>
                <a:cs typeface="IBM Plex Sans" pitchFamily="34" charset="-120"/>
              </a:rPr>
              <a:t>Customer figure: Belga News Agency, 11 Mar 2026 (retrieved 21 Sep 2026) · never compared to a market-share figure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Interest — Belgian Banks 2021–2026</dc:title>
  <dc:subject>PptxGenJS Presentation</dc:subject>
  <dc:creator>PptxGenJS</dc:creator>
  <cp:lastModifiedBy>PptxGenJS</cp:lastModifiedBy>
  <cp:revision>1</cp:revision>
  <dcterms:created xsi:type="dcterms:W3CDTF">2026-09-23T08:27:23Z</dcterms:created>
  <dcterms:modified xsi:type="dcterms:W3CDTF">2026-09-23T08:27:23Z</dcterms:modified>
</cp:coreProperties>
</file>