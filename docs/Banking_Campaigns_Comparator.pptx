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62" r:id="rId4"/>
    <p:sldId id="258" r:id="rId5"/>
    <p:sldId id="259" r:id="rId6"/>
    <p:sldId id="260" r:id="rId7"/>
    <p:sldId id="261" r:id="rId8"/>
    <p:sldId id="263" r:id="rId9"/>
    <p:sldId id="264" r:id="rId10"/>
    <p:sldId id="265" r:id="rId11"/>
    <p:sldId id="266" r:id="rId12"/>
    <p:sldId id="267" r:id="rId13"/>
    <p:sldId id="268" r:id="rId14"/>
    <p:sldId id="270" r:id="rId15"/>
    <p:sldId id="271" r:id="rId16"/>
    <p:sldId id="298" r:id="rId17"/>
    <p:sldId id="273" r:id="rId18"/>
    <p:sldId id="274" r:id="rId19"/>
    <p:sldId id="275" r:id="rId20"/>
    <p:sldId id="276" r:id="rId21"/>
    <p:sldId id="269"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022" autoAdjust="0"/>
  </p:normalViewPr>
  <p:slideViewPr>
    <p:cSldViewPr snapToGrid="0" snapToObjects="1">
      <p:cViewPr varScale="1">
        <p:scale>
          <a:sx n="95" d="100"/>
          <a:sy n="95" d="100"/>
        </p:scale>
        <p:origin x="115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A65B6-A2CF-4CB4-ADA6-4FB12DC6F514}" type="datetimeFigureOut">
              <a:rPr lang="fr-BE" smtClean="0"/>
              <a:t>25-09-26</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8D499-DB7D-4F44-9C48-D7F5314CC23E}" type="slidenum">
              <a:rPr lang="fr-BE" smtClean="0"/>
              <a:t>‹#›</a:t>
            </a:fld>
            <a:endParaRPr lang="fr-BE"/>
          </a:p>
        </p:txBody>
      </p:sp>
    </p:spTree>
    <p:extLst>
      <p:ext uri="{BB962C8B-B14F-4D97-AF65-F5344CB8AC3E}">
        <p14:creationId xmlns:p14="http://schemas.microsoft.com/office/powerpoint/2010/main" val="155576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As part of the ING DACI two-week P of C, we set out to answer one question: how do Belgian banks communicate about similar products on the open web, and what can ING learn from it? </a:t>
            </a:r>
            <a:endParaRPr lang="fr-BE"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1800" dirty="0">
                <a:effectLst/>
                <a:latin typeface="Aptos" panose="020B0004020202020204" pitchFamily="34" charset="0"/>
                <a:ea typeface="Aptos" panose="020B0004020202020204" pitchFamily="34" charset="0"/>
                <a:cs typeface="Times New Roman" panose="02020603050405020304" pitchFamily="18" charset="0"/>
              </a:rPr>
              <a:t>To move away from subjective design opinions, we built a fully reproducible, ..</a:t>
            </a:r>
            <a:endParaRPr lang="fr-BE" dirty="0"/>
          </a:p>
        </p:txBody>
      </p:sp>
      <p:sp>
        <p:nvSpPr>
          <p:cNvPr id="4" name="Slide Number Placeholder 3"/>
          <p:cNvSpPr>
            <a:spLocks noGrp="1"/>
          </p:cNvSpPr>
          <p:nvPr>
            <p:ph type="sldNum" sz="quarter" idx="5"/>
          </p:nvPr>
        </p:nvSpPr>
        <p:spPr/>
        <p:txBody>
          <a:bodyPr/>
          <a:lstStyle/>
          <a:p>
            <a:fld id="{3BD8D499-DB7D-4F44-9C48-D7F5314CC23E}" type="slidenum">
              <a:rPr lang="fr-BE" smtClean="0"/>
              <a:t>1</a:t>
            </a:fld>
            <a:endParaRPr lang="fr-BE"/>
          </a:p>
        </p:txBody>
      </p:sp>
    </p:spTree>
    <p:extLst>
      <p:ext uri="{BB962C8B-B14F-4D97-AF65-F5344CB8AC3E}">
        <p14:creationId xmlns:p14="http://schemas.microsoft.com/office/powerpoint/2010/main" val="3952029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part of the ING DACI two-week P of C, we set out to answer one question: how do Belgian banks communicate similar products on the open web, and what can ING learn from it?  To move away from subjective design opinions, we built a fully reproducible, end-to-end measurement pipeline across 14 banks and 104 features. First disclaimer before we start: we have no internal data, nothing here claims a design choice caused a commercial outcome — every recommendation is an argued hypothesis worth testing.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 is a hybrid. You carry the direct, feature-first, mobile-first tone of a neobank, and the institutional weight of a Tier-1 bank. That's a position, not an accident.</a:t>
            </a:r>
          </a:p>
          <a:p>
            <a:endParaRPr lang="en-US" dirty="0"/>
          </a:p>
          <a:p>
            <a:r>
              <a:rPr lang="en-US" dirty="0"/>
              <a:t>The speed of the neobanks come from their architecture, faster decision loops and no branches: they don't have lighter European or compliance rules, they simply don't the same business model.</a:t>
            </a:r>
          </a:p>
          <a:p>
            <a:endParaRPr lang="en-US" dirty="0"/>
          </a:p>
          <a:p>
            <a:r>
              <a:rPr lang="en-US" dirty="0"/>
              <a:t>Where you differ is the engine. Traditional banks use the current account as loss leader and </a:t>
            </a:r>
            <a:r>
              <a:rPr lang="en-US" dirty="0" err="1"/>
              <a:t>monetise</a:t>
            </a:r>
            <a:r>
              <a:rPr lang="en-US" dirty="0"/>
              <a:t> later through mortgages, insurance, wealth </a:t>
            </a:r>
            <a:r>
              <a:rPr lang="en-US" dirty="0" err="1"/>
              <a:t>managmt</a:t>
            </a:r>
            <a:r>
              <a:rPr lang="en-US" dirty="0"/>
              <a:t>... Neobanks </a:t>
            </a:r>
            <a:r>
              <a:rPr lang="en-US" dirty="0" err="1"/>
              <a:t>monetise</a:t>
            </a:r>
            <a:r>
              <a:rPr lang="en-US" dirty="0"/>
              <a:t> upfront — freemium tiers, free or paid subscriptions, abonnements, FX. They chase volume among young adults and digital nomads. You chase lifetime value: expats, first-time investors and buyers, high net worth individuals.</a:t>
            </a:r>
            <a:br>
              <a:rPr lang="en-US" dirty="0"/>
            </a:br>
            <a:r>
              <a:rPr lang="en-US" dirty="0"/>
              <a:t>So, the question ….</a:t>
            </a:r>
          </a:p>
        </p:txBody>
      </p:sp>
    </p:spTree>
    <p:extLst>
      <p:ext uri="{BB962C8B-B14F-4D97-AF65-F5344CB8AC3E}">
        <p14:creationId xmlns:p14="http://schemas.microsoft.com/office/powerpoint/2010/main" val="559537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the question is whether that hybrid position shows up in how you actually communicate.</a:t>
            </a:r>
          </a:p>
          <a:p>
            <a:r>
              <a:rPr lang="en-US" dirty="0"/>
              <a:t>51 pages, 14 banks, 6 product families, 104 documented features. We only ever compare within one product family — pages do different jobs. The headline runs on 18 current-account pages, 14 banks.</a:t>
            </a:r>
          </a:p>
          <a:p>
            <a:r>
              <a:rPr lang="en-US" dirty="0"/>
              <a:t>Deciding what was relevant was part of the work."</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slides 9–11: incumbents hold 97.6% of brand search, challengers 2.3%. This slide is the caveat before anyone reads that as market share.</a:t>
            </a:r>
          </a:p>
          <a:p>
            <a:r>
              <a:t>THE CONTRAST: Revolut reports more than 1 million private customers in Belgium, adding about 25,000 a month (Belga News Agency, 11 Mar 2026) — yet holds 1.64% of brand search, 9th of 14. Both are true; they measure different things.</a:t>
            </a:r>
          </a:p>
          <a:p>
            <a:r>
              <a:t>THREE REASONS search undercounts a challenger — none of them is "Revolut is small":</a:t>
            </a:r>
          </a:p>
          <a:p>
            <a:r>
              <a:t>1. Navigational searches. Incumbents are searched for logins, branches, opening hours. Say it as a working hypothesis — not verified at query level.</a:t>
            </a:r>
          </a:p>
          <a:p>
            <a:r>
              <a:t>2. App-first journeys. Sign-up through app stores and referral links, then daily use inside the app; the brand name is never typed.</a:t>
            </a:r>
          </a:p>
          <a:p>
            <a:r>
              <a:t>3. Measurement floor. Six of the 14 brands never clear 10/100 in their own Trends request, so their share is partly rounding. Revolut itself is above the floor (peak 19), so its 1.64% is a real reading.</a:t>
            </a:r>
          </a:p>
          <a:p>
            <a:r>
              <a:t>LAND: challenger shares are a floor on attention, not a customer count. The 1M figure is deliberately never set against a market-share figure.</a:t>
            </a:r>
          </a:p>
          <a:p>
            <a:r>
              <a:t>TRANSITION: search tells us who gets attention, not who wins. From here on we stop measuring and start advising.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CARD (R1, top): title and priority · WHAT THE DATA SHOWS — the finding with its numbers: 4.0 urgency markers per page vs a peer mean of 0.64, about 3.7 SD · WHAT TO DO — the action · chips: the feature it was argued from (urgency_marker_count) and the pages it applies to.</a:t>
            </a:r>
          </a:p>
          <a:p>
            <a:r>
              <a:t>THREE GUARDRAILS (right column):</a:t>
            </a:r>
          </a:p>
          <a:p>
            <a:r>
              <a:t>1. Finding and action kept apart. Anyone can reject the action and keep the finding — nobody has to buy the advice to accept the measurement.</a:t>
            </a:r>
          </a:p>
          <a:p>
            <a:r>
              <a:t>2. Named features, checked before release. Every feature id on a card is verified against the report; an id the model invented is dropped before the list is shown.</a:t>
            </a:r>
          </a:p>
          <a:p>
            <a:r>
              <a:t>3. No figure the analysis did not produce. The prompt receives only numbers already in the report; the output is not trusted to add any.</a:t>
            </a:r>
          </a:p>
          <a:p>
            <a:r>
              <a:t>ONE LINE: the model is a writer, not a source.</a:t>
            </a:r>
          </a:p>
          <a:p>
            <a:r>
              <a:t>IF ASKED about R2 in the screenshot ("Repeat the primary call to action"): it rests on cta_count, withdrawn on 23/09 — the captured HTML holds every pack card, but no counting rule reproduced a human count across the fourteen banks, so the figure would have reported markup convention rather than the page. A recommendation dying with its feature is the mechanism working. The screenshot predates the withdrawal.</a:t>
            </a:r>
          </a:p>
          <a:p>
            <a:r>
              <a:t>TRANSITION: so what did it conclude about 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NUMBERS, all from the current-account comparison — 14 banks, 33 comparable features:</a:t>
            </a:r>
          </a:p>
          <a:p>
            <a:r>
              <a:t>1. 4.0 urgency and deadline markers per page vs a peer mean of 0.64 — about 3.7 SD above, the largest gap in the set and ING's strongest measured signature.</a:t>
            </a:r>
          </a:p>
          <a:p>
            <a:r>
              <a:t>2. Page height 11,149 px vs 6,412 — about 74% longer, so the offer sits further from the top (about 1.4 SD).</a:t>
            </a:r>
          </a:p>
          <a:p>
            <a:r>
              <a:t>3. 0.67 'free' claims with their conditions elsewhere vs 0.23 — where a free or no-fee claim appears, the qualifying conditions are not next to it.</a:t>
            </a:r>
          </a:p>
          <a:p>
            <a:r>
              <a:t>THE THREE IT RANKED HIGHEST: strip back urgency and deadline language · bring the offer higher up the page (the current run words it "shorten the pages and cut non-informative imagery" — same measure, page_height_px) · disclose the conditions of any free claim next to the claim.</a:t>
            </a:r>
          </a:p>
          <a:p>
            <a:r>
              <a:t>THE SHAPE: two of the three are about removing things. ING's pages carry the densest persuasion in the set (5.0 levers per page vs 1.7). The advice is restraint, not more features.</a:t>
            </a:r>
          </a:p>
          <a:p>
            <a:r>
              <a:t>CAVEAT — read it, do not skip it: design observations, not performance findings. Pages span product families and languages, judged features come from one rater, no click or conversion data — every item is a hypothesis ING could test.</a:t>
            </a:r>
          </a:p>
          <a:p>
            <a:r>
              <a:t>TRANSITION: a list is easy to nod at and forget. So we built the thing.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SCREEN: top — the generated home page in ING styling (hero, two calls to action). Bottom — one section in explained mode: orange frame, and the (i) button that opens the rationale for that section.</a:t>
            </a:r>
          </a:p>
          <a:p>
            <a:r>
              <a:t>THREE POINTS:</a:t>
            </a:r>
          </a:p>
          <a:p>
            <a:r>
              <a:t>1. The team chooses what gets built. Every recommendation is a checkbox; nothing reaches the generator that a person did not tick.</a:t>
            </a:r>
          </a:p>
          <a:p>
            <a:r>
              <a:t>2. Ten ING-styled pages, fr-BE or nl-BE: home, savings, term account, current account, youth, investing, mortgage, opening, why ING, contact.</a:t>
            </a:r>
          </a:p>
          <a:p>
            <a:r>
              <a:t>3. Each section can name its own source. Explained mode shows which recommendation produced the section and why — auditable, not just persuasive.</a:t>
            </a:r>
          </a:p>
          <a:p>
            <a:r>
              <a:t>SAY PLAINLY: an illustration — generated, never published, not a proposal for ING's site. Rates and amounts stay as [TAUX] and [MONTANT]: no figure appears that a compliance team has not supplied.</a:t>
            </a:r>
          </a:p>
          <a:p>
            <a:r>
              <a:t>ORANGE LINE: this is what makes the analysis arguable — a stakeholder can look at the change instead of reading about it. Invite it: "which of these would you untick?"</a:t>
            </a:r>
          </a:p>
          <a:p>
            <a:r>
              <a:t>TRANSITION: put together, the whole thing runs in one direction.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ROW, stages 1–5 — the measurement half already walked: sources → capture (robots gate, pages rendered as a visitor sees them) → dataset with the human rubric scores → analysis → surfaces (report.json, the web UI). One arrow carries report.json down.</a:t>
            </a:r>
          </a:p>
          <a:p>
            <a:r>
              <a:t>BOTTOM ROW, stages 6–8 — this section: recommendations (one model call, ordered list, each naming its features) → human selection (checkboxes; nothing proceeds unchosen) → generated site (ten pages, exactly the selected set, placeholders for every figure).</a:t>
            </a:r>
          </a:p>
          <a:p>
            <a:r>
              <a:t>GREY BAND — read it as one sentence: the model sees only numbers the analysis produced; every recommendation names its features and is checked before it leaves the module; nothing is built that a human did not tick; news-theme items are context, never evidence; no performance data exists, so nothing here claims a cause.</a:t>
            </a:r>
          </a:p>
          <a:p>
            <a:r>
              <a:t>WHY ONE DIRECTION MATTERS: every arrow is a script and can be re-run, so a correction made upstream flows all the way through. That is how the cta_count withdrawal propagated this week — once it was made in the analysis rather than patched into an output file.</a:t>
            </a:r>
          </a:p>
          <a:p>
            <a:r>
              <a:t>NOTE: the diagram's "11 of 11 selected" and "11 ordered changes" predate the withdrawal — ten now.</a:t>
            </a:r>
          </a:p>
          <a:p>
            <a:r>
              <a:t>TRANSITION to slide 18: that last guardrail — no performance data — is the limit of the whole project.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"104 features in, 33 out. Every reduction is on screen.</a:t>
            </a:r>
          </a:p>
          <a:p>
            <a:r>
              <a:t>And five withdrawn outright, because they measured our tooling, not your pages.</a:t>
            </a:r>
          </a:p>
          <a:p>
            <a:r>
              <a:t>Calls to action: no counting rule held across fourteen banks. Navigation, repeated links, clickable cards — each bank marks them up differently.</a:t>
            </a:r>
          </a:p>
          <a:p>
            <a:r>
              <a:t>Animation: our rule asked whether the stylesheet declared an animation, not whether the page moves. Across eighteen pages, exactly one has real motion — Revolut, a video. Your kickoff deck said ING was the only traditional bank animating. That is now marked not testable, not disproved. We will not rule on it with a broken instrument.</a:t>
            </a:r>
          </a:p>
          <a:p>
            <a:r>
              <a:t>The fifth we found while rehearsing this: a feature that tested whether a page uses an HTML table element. Traditional banks do. N26 and Revolut build the same plan comparison in CSS. It was reporting a markup convention as a strategic difference.</a:t>
            </a:r>
          </a:p>
          <a:p>
            <a:r>
              <a:t>OPTIONAL, about 15 s, cut it if you are running long: "That is why four of the five observations in your kickoff deck now read not testable rather than not supported. Three were being judged on a word-count band that reads 'long' for all fourteen banks — a measure that separates nobody cannot refute anyone. One claim is genuinely not supported: text is still beside the picture."</a:t>
            </a:r>
          </a:p>
          <a:p>
            <a:endParaRPr/>
          </a:p>
          <a:p>
            <a:r>
              <a:t>And one whole axis of our AI Score returns nothing.</a:t>
            </a:r>
          </a:p>
          <a:p>
            <a:r>
              <a:t>We would rather hand you 33 numbers we can defend."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FRAMING, say first: everything up to here measured. This is the one place in the project where a model is allowed to interpret; the next four slides are about how that is kept honest.</a:t>
            </a:r>
          </a:p>
          <a:p>
            <a:r>
              <a:t>WHAT IT IS: one model call (DeepSeek, pinned version) over the finished analysis. It reads report.json — the same file the charts are drawn from. Nothing is re-scraped, nothing is re-scored.</a:t>
            </a:r>
          </a:p>
          <a:p>
            <a:r>
              <a:t>WHAT COMES OUT: an ordered list of changes. Current run: ten — two high, six medium, two low. The order is the argument: what the measurement most supports acting on first. Ordered by priority, not by the model's confidence.</a:t>
            </a:r>
          </a:p>
          <a:p>
            <a:r>
              <a:t>TWO CONTEXTS (checkboxes in the screenshot), both opt-in, both labelled on every card they touch: search interest for timing, news themes for reputation — three of the ten. Context can never stand as evidence that a page performed.</a:t>
            </a:r>
          </a:p>
          <a:p>
            <a:r>
              <a:t>ORANGE BOX: it writes what to change; it never re-derives a number. One-way by design — if a figure is wrong the fix is upstream, and the next run carries it through.</a:t>
            </a:r>
          </a:p>
          <a:p>
            <a:r>
              <a:t>NOTE: the panel screenshot and the counts printed on this slide predate the cta_count withdrawal of 23/09 (11 → 10). Say ten.</a:t>
            </a:r>
          </a:p>
          <a:p>
            <a:r>
              <a:t>TRANSITION: here is what one of them looks like.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31720"/>
            <a:ext cx="2011680" cy="914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51560"/>
            <a:ext cx="10515600" cy="1280160"/>
          </a:xfrm>
          <a:prstGeom prst="rect">
            <a:avLst/>
          </a:prstGeom>
          <a:noFill/>
        </p:spPr>
        <p:txBody>
          <a:bodyPr wrap="square">
            <a:spAutoFit/>
          </a:bodyPr>
          <a:lstStyle/>
          <a:p>
            <a:pPr algn="l">
              <a:lnSpc>
                <a:spcPct val="105000"/>
              </a:lnSpc>
              <a:spcAft>
                <a:spcPts val="600"/>
              </a:spcAft>
            </a:pPr>
            <a:r>
              <a:rPr sz="4400" b="1">
                <a:solidFill>
                  <a:srgbClr val="FFFFFF"/>
                </a:solidFill>
                <a:latin typeface="Helvetica Neue"/>
              </a:rPr>
              <a:t>Banking Campaigns Comparator</a:t>
            </a:r>
          </a:p>
        </p:txBody>
      </p:sp>
      <p:sp>
        <p:nvSpPr>
          <p:cNvPr id="5" name="TextBox 4"/>
          <p:cNvSpPr txBox="1"/>
          <p:nvPr/>
        </p:nvSpPr>
        <p:spPr>
          <a:xfrm>
            <a:off x="822960" y="2606040"/>
            <a:ext cx="10058400" cy="1097280"/>
          </a:xfrm>
          <a:prstGeom prst="rect">
            <a:avLst/>
          </a:prstGeom>
          <a:noFill/>
        </p:spPr>
        <p:txBody>
          <a:bodyPr wrap="square">
            <a:spAutoFit/>
          </a:bodyPr>
          <a:lstStyle/>
          <a:p>
            <a:pPr algn="l">
              <a:lnSpc>
                <a:spcPct val="105000"/>
              </a:lnSpc>
              <a:spcAft>
                <a:spcPts val="600"/>
              </a:spcAft>
            </a:pPr>
            <a:r>
              <a:rPr sz="2000" b="0">
                <a:solidFill>
                  <a:srgbClr val="D8D8E0"/>
                </a:solidFill>
                <a:latin typeface="Helvetica Neue"/>
              </a:rPr>
              <a:t>How Belgian banks communicate similar products differently,</a:t>
            </a:r>
          </a:p>
          <a:p>
            <a:pPr algn="l">
              <a:lnSpc>
                <a:spcPct val="105000"/>
              </a:lnSpc>
              <a:spcAft>
                <a:spcPts val="600"/>
              </a:spcAft>
            </a:pPr>
            <a:r>
              <a:rPr sz="2000" b="0">
                <a:solidFill>
                  <a:srgbClr val="D8D8E0"/>
                </a:solidFill>
                <a:latin typeface="Helvetica Neue"/>
              </a:rPr>
              <a:t>and what ING can learn from it.</a:t>
            </a:r>
          </a:p>
        </p:txBody>
      </p:sp>
      <p:sp>
        <p:nvSpPr>
          <p:cNvPr id="6" name="TextBox 5"/>
          <p:cNvSpPr txBox="1"/>
          <p:nvPr/>
        </p:nvSpPr>
        <p:spPr>
          <a:xfrm>
            <a:off x="822960" y="4114800"/>
            <a:ext cx="10058400" cy="810543"/>
          </a:xfrm>
          <a:prstGeom prst="rect">
            <a:avLst/>
          </a:prstGeom>
          <a:noFill/>
        </p:spPr>
        <p:txBody>
          <a:bodyPr wrap="square">
            <a:spAutoFit/>
          </a:bodyPr>
          <a:lstStyle/>
          <a:p>
            <a:pPr algn="l">
              <a:lnSpc>
                <a:spcPct val="105000"/>
              </a:lnSpc>
              <a:spcAft>
                <a:spcPts val="400"/>
              </a:spcAft>
            </a:pPr>
            <a:r>
              <a:rPr sz="1300" b="0" dirty="0">
                <a:solidFill>
                  <a:srgbClr val="A8A8B8"/>
                </a:solidFill>
                <a:latin typeface="Helvetica Neue"/>
              </a:rPr>
              <a:t>Two-week proof of concept for ING DACI / Customer AI</a:t>
            </a:r>
          </a:p>
          <a:p>
            <a:pPr algn="l">
              <a:lnSpc>
                <a:spcPct val="105000"/>
              </a:lnSpc>
              <a:spcAft>
                <a:spcPts val="400"/>
              </a:spcAft>
            </a:pPr>
            <a:r>
              <a:rPr lang="fr-FR" sz="1300" b="0" dirty="0">
                <a:solidFill>
                  <a:srgbClr val="A8A8B8"/>
                </a:solidFill>
                <a:latin typeface="Helvetica Neue"/>
              </a:rPr>
              <a:t>Camus </a:t>
            </a:r>
            <a:r>
              <a:rPr sz="1300" b="0" dirty="0">
                <a:solidFill>
                  <a:srgbClr val="A8A8B8"/>
                </a:solidFill>
                <a:latin typeface="Helvetica Neue"/>
              </a:rPr>
              <a:t>Siegried (marketing framework) · </a:t>
            </a:r>
            <a:r>
              <a:rPr lang="fr-FR" sz="1300" b="0" dirty="0" err="1">
                <a:solidFill>
                  <a:srgbClr val="A8A8B8"/>
                </a:solidFill>
                <a:latin typeface="Helvetica Neue"/>
              </a:rPr>
              <a:t>Ukendi</a:t>
            </a:r>
            <a:r>
              <a:rPr lang="fr-FR" sz="1300" b="0" dirty="0">
                <a:solidFill>
                  <a:srgbClr val="A8A8B8"/>
                </a:solidFill>
                <a:latin typeface="Helvetica Neue"/>
              </a:rPr>
              <a:t> </a:t>
            </a:r>
            <a:r>
              <a:rPr sz="1300" b="0" dirty="0">
                <a:solidFill>
                  <a:srgbClr val="A8A8B8"/>
                </a:solidFill>
                <a:latin typeface="Helvetica Neue"/>
              </a:rPr>
              <a:t>Dan (collection, extraction) · </a:t>
            </a:r>
            <a:r>
              <a:rPr lang="fr-FR" sz="1300" dirty="0">
                <a:solidFill>
                  <a:srgbClr val="A8A8B8"/>
                </a:solidFill>
                <a:latin typeface="Helvetica Neue"/>
              </a:rPr>
              <a:t>v</a:t>
            </a:r>
            <a:r>
              <a:rPr lang="fr-FR" sz="1300" b="0">
                <a:solidFill>
                  <a:srgbClr val="A8A8B8"/>
                </a:solidFill>
                <a:latin typeface="Helvetica Neue"/>
              </a:rPr>
              <a:t>an </a:t>
            </a:r>
            <a:r>
              <a:rPr lang="fr-FR" sz="1300" b="0" dirty="0">
                <a:solidFill>
                  <a:srgbClr val="A8A8B8"/>
                </a:solidFill>
                <a:latin typeface="Helvetica Neue"/>
              </a:rPr>
              <a:t>der Aa </a:t>
            </a:r>
            <a:r>
              <a:rPr sz="1300" b="0" dirty="0">
                <a:solidFill>
                  <a:srgbClr val="A8A8B8"/>
                </a:solidFill>
                <a:latin typeface="Helvetica Neue"/>
              </a:rPr>
              <a:t>Stephane (analysis, </a:t>
            </a:r>
            <a:r>
              <a:rPr sz="1300" b="0" dirty="0" err="1">
                <a:solidFill>
                  <a:srgbClr val="A8A8B8"/>
                </a:solidFill>
                <a:latin typeface="Helvetica Neue"/>
              </a:rPr>
              <a:t>GenAI</a:t>
            </a:r>
            <a:r>
              <a:rPr sz="1300" b="0" dirty="0">
                <a:solidFill>
                  <a:srgbClr val="A8A8B8"/>
                </a:solidFill>
                <a:latin typeface="Helvetica Neue"/>
              </a:rPr>
              <a:t>)</a:t>
            </a:r>
          </a:p>
          <a:p>
            <a:pPr algn="l">
              <a:lnSpc>
                <a:spcPct val="105000"/>
              </a:lnSpc>
              <a:spcAft>
                <a:spcPts val="400"/>
              </a:spcAft>
            </a:pPr>
            <a:r>
              <a:rPr sz="1300" b="0" dirty="0">
                <a:solidFill>
                  <a:srgbClr val="A8A8B8"/>
                </a:solidFill>
                <a:latin typeface="Helvetica Neue"/>
              </a:rPr>
              <a:t>14 – 25 September 2026 · 14 banks · 18 current-account pages of 51 collected · 104 features</a:t>
            </a:r>
            <a:endParaRPr lang="fr-FR" sz="1300" b="0" dirty="0">
              <a:solidFill>
                <a:srgbClr val="A8A8B8"/>
              </a:solidFill>
              <a:latin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brief, and the constraint that shapes everything</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Compare how Belgian banks communicate comparable products</a:t>
            </a:r>
          </a:p>
          <a:p>
            <a:pPr algn="l">
              <a:lnSpc>
                <a:spcPct val="105000"/>
              </a:lnSpc>
              <a:spcAft>
                <a:spcPts val="1000"/>
              </a:spcAft>
            </a:pPr>
            <a:r>
              <a:rPr sz="1300" b="0" dirty="0">
                <a:solidFill>
                  <a:srgbClr val="585868"/>
                </a:solidFill>
                <a:latin typeface="Helvetica Neue"/>
              </a:rPr>
              <a:t>     Campaign pages only: the open web, one language, one product family at a time.</a:t>
            </a:r>
          </a:p>
          <a:p>
            <a:pPr algn="l">
              <a:lnSpc>
                <a:spcPct val="105000"/>
              </a:lnSpc>
              <a:spcAft>
                <a:spcPts val="200"/>
              </a:spcAft>
            </a:pPr>
            <a:r>
              <a:rPr sz="1500" b="1" dirty="0">
                <a:solidFill>
                  <a:srgbClr val="14141C"/>
                </a:solidFill>
                <a:latin typeface="Helvetica Neue"/>
              </a:rPr>
              <a:t>•  Turn that comparison into advice ING can act on</a:t>
            </a:r>
          </a:p>
          <a:p>
            <a:pPr algn="l">
              <a:lnSpc>
                <a:spcPct val="105000"/>
              </a:lnSpc>
              <a:spcAft>
                <a:spcPts val="1000"/>
              </a:spcAft>
            </a:pPr>
            <a:r>
              <a:rPr sz="1300" b="0" dirty="0">
                <a:solidFill>
                  <a:srgbClr val="585868"/>
                </a:solidFill>
                <a:latin typeface="Helvetica Neue"/>
              </a:rPr>
              <a:t>     Measured differences, argued from named features — not opinion dressed as data.</a:t>
            </a:r>
          </a:p>
          <a:p>
            <a:pPr algn="l">
              <a:lnSpc>
                <a:spcPct val="105000"/>
              </a:lnSpc>
              <a:spcAft>
                <a:spcPts val="200"/>
              </a:spcAft>
            </a:pPr>
            <a:r>
              <a:rPr sz="1500" b="1" dirty="0">
                <a:solidFill>
                  <a:srgbClr val="14141C"/>
                </a:solidFill>
                <a:latin typeface="Helvetica Neue"/>
              </a:rPr>
              <a:t>•  The hard constraint: no performance data exists</a:t>
            </a:r>
          </a:p>
          <a:p>
            <a:pPr algn="l">
              <a:lnSpc>
                <a:spcPct val="105000"/>
              </a:lnSpc>
              <a:spcAft>
                <a:spcPts val="1000"/>
              </a:spcAft>
            </a:pPr>
            <a:r>
              <a:rPr sz="1300" b="0" dirty="0">
                <a:solidFill>
                  <a:srgbClr val="585868"/>
                </a:solidFill>
                <a:latin typeface="Helvetica Neue"/>
              </a:rPr>
              <a:t>     No clicks, no conversions, no sales. So nothing here may claim that a design choice caused an outcome.</a:t>
            </a:r>
          </a:p>
          <a:p>
            <a:pPr algn="l">
              <a:lnSpc>
                <a:spcPct val="105000"/>
              </a:lnSpc>
              <a:spcAft>
                <a:spcPts val="200"/>
              </a:spcAft>
            </a:pPr>
            <a:r>
              <a:rPr sz="1500" b="1" dirty="0">
                <a:solidFill>
                  <a:srgbClr val="14141C"/>
                </a:solidFill>
                <a:latin typeface="Helvetica Neue"/>
              </a:rPr>
              <a:t>•  Therefore every recommendation is a hypothesis to test</a:t>
            </a:r>
          </a:p>
          <a:p>
            <a:pPr algn="l">
              <a:lnSpc>
                <a:spcPct val="105000"/>
              </a:lnSpc>
              <a:spcAft>
                <a:spcPts val="1000"/>
              </a:spcAft>
            </a:pPr>
            <a:r>
              <a:rPr sz="1300" b="0" dirty="0">
                <a:solidFill>
                  <a:srgbClr val="585868"/>
                </a:solidFill>
                <a:latin typeface="Helvetica Neue"/>
              </a:rPr>
              <a:t>     The project's value is a defensible, repeatable measurement — and an honest statement of its limits.</a:t>
            </a:r>
          </a:p>
          <a:p>
            <a:pPr algn="l">
              <a:lnSpc>
                <a:spcPct val="105000"/>
              </a:lnSpc>
              <a:spcAft>
                <a:spcPts val="200"/>
              </a:spcAft>
            </a:pPr>
            <a:endParaRPr sz="1300" b="0" dirty="0">
              <a:solidFill>
                <a:srgbClr val="585868"/>
              </a:solidFill>
              <a:latin typeface="Helvetica Neue"/>
            </a:endParaRPr>
          </a:p>
          <a:p>
            <a:pPr algn="l">
              <a:lnSpc>
                <a:spcPct val="105000"/>
              </a:lnSpc>
              <a:spcAft>
                <a:spcPts val="0"/>
              </a:spcAft>
            </a:pPr>
            <a:r>
              <a:rPr sz="1250" b="0" dirty="0">
                <a:solidFill>
                  <a:srgbClr val="585868"/>
                </a:solidFill>
                <a:latin typeface="Helvetica Neue"/>
              </a:rPr>
              <a:t>This single constraint drives the guardrails you will see on every slide that follows.</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Strategic context and positioning</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3821367"/>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The hybrid model</a:t>
            </a:r>
          </a:p>
          <a:p>
            <a:pPr algn="l">
              <a:lnSpc>
                <a:spcPct val="105000"/>
              </a:lnSpc>
              <a:spcAft>
                <a:spcPts val="1000"/>
              </a:spcAft>
            </a:pPr>
            <a:r>
              <a:rPr sz="1300" b="0" dirty="0">
                <a:solidFill>
                  <a:srgbClr val="585868"/>
                </a:solidFill>
                <a:latin typeface="Helvetica Neue"/>
              </a:rPr>
              <a:t>     ING blends the direct, feature-focused, mobile-first tone of a neobank with the institutional weight of a Tier-1 retail bank — regulatory authority and an established brand. </a:t>
            </a:r>
          </a:p>
          <a:p>
            <a:pPr algn="l">
              <a:lnSpc>
                <a:spcPct val="105000"/>
              </a:lnSpc>
              <a:spcAft>
                <a:spcPts val="200"/>
              </a:spcAft>
            </a:pPr>
            <a:r>
              <a:rPr sz="1500" b="1" dirty="0">
                <a:solidFill>
                  <a:srgbClr val="14141C"/>
                </a:solidFill>
                <a:latin typeface="Helvetica Neue"/>
              </a:rPr>
              <a:t>•  A level playing field on regulation</a:t>
            </a:r>
          </a:p>
          <a:p>
            <a:pPr algn="l">
              <a:lnSpc>
                <a:spcPct val="105000"/>
              </a:lnSpc>
              <a:spcAft>
                <a:spcPts val="1000"/>
              </a:spcAft>
            </a:pPr>
            <a:r>
              <a:rPr sz="1300" b="0" dirty="0">
                <a:solidFill>
                  <a:srgbClr val="585868"/>
                </a:solidFill>
                <a:latin typeface="Helvetica Neue"/>
              </a:rPr>
              <a:t>     Neobanks like Revolut hold the same European banking licenses and face the same Belgian compliance checks — including the mandatory CCP credit-registry query for consumer lending. Their speed comes from modern architecture, no branch network, and faster decision loops — not lighter rules.</a:t>
            </a:r>
          </a:p>
          <a:p>
            <a:pPr algn="l">
              <a:lnSpc>
                <a:spcPct val="105000"/>
              </a:lnSpc>
              <a:spcAft>
                <a:spcPts val="200"/>
              </a:spcAft>
            </a:pPr>
            <a:r>
              <a:rPr sz="1500" b="1" dirty="0">
                <a:solidFill>
                  <a:srgbClr val="14141C"/>
                </a:solidFill>
                <a:latin typeface="Helvetica Neue"/>
              </a:rPr>
              <a:t>•  Different monetization engines</a:t>
            </a:r>
          </a:p>
          <a:p>
            <a:pPr algn="l">
              <a:lnSpc>
                <a:spcPct val="105000"/>
              </a:lnSpc>
              <a:spcAft>
                <a:spcPts val="1000"/>
              </a:spcAft>
            </a:pPr>
            <a:r>
              <a:rPr sz="1300" b="0" dirty="0">
                <a:solidFill>
                  <a:srgbClr val="585868"/>
                </a:solidFill>
                <a:latin typeface="Helvetica Neue"/>
              </a:rPr>
              <a:t>     Traditional banks have long used the basic current account as a loss leader — a produit d'appel — to acquire clients and monetize later through mortgages, insurance and wealth management. Neobanks flip that: transparent freemium tiers, paid subscriptions, and transactional FX / fee income, upfront.</a:t>
            </a:r>
          </a:p>
          <a:p>
            <a:pPr algn="l">
              <a:lnSpc>
                <a:spcPct val="105000"/>
              </a:lnSpc>
              <a:spcAft>
                <a:spcPts val="200"/>
              </a:spcAft>
            </a:pPr>
            <a:r>
              <a:rPr sz="1500" b="1" dirty="0">
                <a:solidFill>
                  <a:srgbClr val="14141C"/>
                </a:solidFill>
                <a:latin typeface="Helvetica Neue"/>
              </a:rPr>
              <a:t>•  Who each side is chasing</a:t>
            </a:r>
          </a:p>
          <a:p>
            <a:pPr algn="l">
              <a:lnSpc>
                <a:spcPct val="105000"/>
              </a:lnSpc>
              <a:spcAft>
                <a:spcPts val="0"/>
              </a:spcAft>
            </a:pPr>
            <a:r>
              <a:rPr sz="1300" b="0" dirty="0">
                <a:solidFill>
                  <a:srgbClr val="585868"/>
                </a:solidFill>
                <a:latin typeface="Helvetica Neue"/>
              </a:rPr>
              <a:t>     Neobanks win volume among young adults, digital nomads and casual spenders. ING's acquisition budget targets high lifetime-value segments instead: first-time investors, expats and high-net-worth individuals, and first-time buyers in mortgage and real estate. Professional and business banking is out of scope for this comparison — retail only.</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b="0" dirty="0">
                <a:solidFill>
                  <a:srgbClr val="585868"/>
                </a:solidFill>
                <a:latin typeface="Helvetica Neue"/>
              </a:rPr>
              <a:t>3</a:t>
            </a:r>
            <a:endParaRPr sz="1000" b="0" dirty="0">
              <a:solidFill>
                <a:srgbClr val="585868"/>
              </a:solidFill>
              <a:latin typeface="Helvetica Neue"/>
            </a:endParaRPr>
          </a:p>
        </p:txBody>
      </p:sp>
    </p:spTree>
    <p:extLst>
      <p:ext uri="{BB962C8B-B14F-4D97-AF65-F5344CB8AC3E}">
        <p14:creationId xmlns:p14="http://schemas.microsoft.com/office/powerpoint/2010/main" val="3710705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we built, end to end</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dirty="0">
                <a:solidFill>
                  <a:srgbClr val="14141C"/>
                </a:solidFill>
                <a:latin typeface="Helvetica Neue"/>
              </a:rPr>
              <a:t>•  A measurement pipeline: 14 banks, 51 pages across 6 product families (18 of them current-account), 104 declared features, one frozen contract.</a:t>
            </a:r>
          </a:p>
          <a:p>
            <a:pPr algn="l">
              <a:lnSpc>
                <a:spcPct val="105000"/>
              </a:lnSpc>
              <a:spcAft>
                <a:spcPts val="900"/>
              </a:spcAft>
            </a:pPr>
            <a:r>
              <a:rPr sz="1500" b="0" dirty="0">
                <a:solidFill>
                  <a:srgbClr val="14141C"/>
                </a:solidFill>
                <a:latin typeface="Helvetica Neue"/>
              </a:rPr>
              <a:t>•  A scoring workflow: automatic extraction, model-assisted extraction, and a human rubric for the 13 judgement features.</a:t>
            </a:r>
          </a:p>
          <a:p>
            <a:pPr algn="l">
              <a:lnSpc>
                <a:spcPct val="105000"/>
              </a:lnSpc>
              <a:spcAft>
                <a:spcPts val="900"/>
              </a:spcAft>
            </a:pPr>
            <a:r>
              <a:rPr sz="1500" b="0" dirty="0">
                <a:solidFill>
                  <a:srgbClr val="14141C"/>
                </a:solidFill>
                <a:latin typeface="Helvetica Neue"/>
              </a:rPr>
              <a:t>•  An analysis library: positioning, similarity, category comparison, AI score, cross-sell, plus generated limitations.</a:t>
            </a:r>
          </a:p>
          <a:p>
            <a:pPr algn="l">
              <a:lnSpc>
                <a:spcPct val="105000"/>
              </a:lnSpc>
              <a:spcAft>
                <a:spcPts val="900"/>
              </a:spcAft>
            </a:pPr>
            <a:r>
              <a:rPr sz="1500" b="0" dirty="0">
                <a:solidFill>
                  <a:srgbClr val="14141C"/>
                </a:solidFill>
                <a:latin typeface="Helvetica Neue"/>
              </a:rPr>
              <a:t>•  One web UI with ten tabs: four business views (Analysis, Trends, Reputation, Recommendations), the generated-site builder, and six read-only operator views carried over from the </a:t>
            </a:r>
            <a:r>
              <a:rPr sz="1500" b="0" dirty="0" err="1">
                <a:solidFill>
                  <a:srgbClr val="14141C"/>
                </a:solidFill>
                <a:latin typeface="Helvetica Neue"/>
              </a:rPr>
              <a:t>Streamlit</a:t>
            </a:r>
            <a:r>
              <a:rPr sz="1500" b="0" dirty="0">
                <a:solidFill>
                  <a:srgbClr val="14141C"/>
                </a:solidFill>
                <a:latin typeface="Helvetica Neue"/>
              </a:rPr>
              <a:t> dashboard.</a:t>
            </a:r>
          </a:p>
          <a:p>
            <a:pPr algn="l">
              <a:lnSpc>
                <a:spcPct val="105000"/>
              </a:lnSpc>
              <a:spcAft>
                <a:spcPts val="900"/>
              </a:spcAft>
            </a:pPr>
            <a:r>
              <a:rPr sz="1500" b="0" dirty="0">
                <a:solidFill>
                  <a:srgbClr val="14141C"/>
                </a:solidFill>
                <a:latin typeface="Helvetica Neue"/>
              </a:rPr>
              <a:t>•  Two optional signals, both fenced off from the performance claim: search interest, and news themes.</a:t>
            </a:r>
          </a:p>
          <a:p>
            <a:pPr algn="l">
              <a:lnSpc>
                <a:spcPct val="105000"/>
              </a:lnSpc>
              <a:spcAft>
                <a:spcPts val="900"/>
              </a:spcAft>
            </a:pPr>
            <a:r>
              <a:rPr sz="1500" b="0" dirty="0">
                <a:solidFill>
                  <a:srgbClr val="14141C"/>
                </a:solidFill>
                <a:latin typeface="Helvetica Neue"/>
              </a:rPr>
              <a:t>•  A generated ING website: ten pages built from the selected recommendations — an illustration of what a recommendation means in practice, not a proposal for ING's own site.</a:t>
            </a:r>
          </a:p>
          <a:p>
            <a:pPr algn="l">
              <a:lnSpc>
                <a:spcPct val="105000"/>
              </a:lnSpc>
              <a:spcAft>
                <a:spcPts val="200"/>
              </a:spcAft>
            </a:pPr>
            <a:endParaRPr sz="1500" b="0" dirty="0">
              <a:solidFill>
                <a:srgbClr val="14141C"/>
              </a:solidFill>
              <a:latin typeface="Helvetica Neue"/>
            </a:endParaRPr>
          </a:p>
          <a:p>
            <a:pPr algn="l">
              <a:lnSpc>
                <a:spcPct val="105000"/>
              </a:lnSpc>
              <a:spcAft>
                <a:spcPts val="0"/>
              </a:spcAft>
            </a:pPr>
            <a:r>
              <a:rPr sz="1250" b="0" dirty="0">
                <a:solidFill>
                  <a:srgbClr val="585868"/>
                </a:solidFill>
                <a:latin typeface="Helvetica Neue"/>
              </a:rPr>
              <a:t>Each of those pieces is the next few slides; the pipeline diagram overleaf is the map.</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b="0" dirty="0">
                <a:solidFill>
                  <a:srgbClr val="585868"/>
                </a:solidFill>
                <a:latin typeface="Helvetica Neue"/>
              </a:rPr>
              <a:t>4</a:t>
            </a:r>
            <a:endParaRPr sz="1000" b="0" dirty="0">
              <a:solidFill>
                <a:srgbClr val="585868"/>
              </a:solidFill>
              <a:latin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pipeline, end to end</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agram_pipeline.png"/>
          <p:cNvPicPr>
            <a:picLocks noChangeAspect="1"/>
          </p:cNvPicPr>
          <p:nvPr/>
        </p:nvPicPr>
        <p:blipFill>
          <a:blip r:embed="rId3"/>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One direction, five stages. Every arrow is a script that can be re-run; the guardrail band holds at every stage.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b="0" dirty="0">
                <a:solidFill>
                  <a:srgbClr val="585868"/>
                </a:solidFill>
                <a:latin typeface="Helvetica Neue"/>
              </a:rPr>
              <a:t>5</a:t>
            </a:r>
            <a:endParaRPr sz="1000" b="0" dirty="0">
              <a:solidFill>
                <a:srgbClr val="585868"/>
              </a:solidFill>
              <a:latin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dataset behind this analysis</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3464025"/>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51 pages scored across 6 product families. This comparison: the 18 current-account pages, 14 banks, 33 comparable features</a:t>
            </a:r>
          </a:p>
          <a:p>
            <a:pPr algn="l">
              <a:lnSpc>
                <a:spcPct val="105000"/>
              </a:lnSpc>
              <a:spcAft>
                <a:spcPts val="1000"/>
              </a:spcAft>
            </a:pPr>
            <a:r>
              <a:rPr sz="1300" b="0" dirty="0">
                <a:solidFill>
                  <a:srgbClr val="585868"/>
                </a:solidFill>
                <a:latin typeface="Helvetica Neue"/>
              </a:rPr>
              <a:t>     </a:t>
            </a:r>
            <a:r>
              <a:rPr sz="1300" b="0" dirty="0" err="1">
                <a:solidFill>
                  <a:srgbClr val="585868"/>
                </a:solidFill>
                <a:latin typeface="Helvetica Neue"/>
              </a:rPr>
              <a:t>Argenta</a:t>
            </a:r>
            <a:r>
              <a:rPr sz="1300" b="0" dirty="0">
                <a:solidFill>
                  <a:srgbClr val="585868"/>
                </a:solidFill>
                <a:latin typeface="Helvetica Neue"/>
              </a:rPr>
              <a:t> · Belfius · </a:t>
            </a:r>
            <a:r>
              <a:rPr sz="1300" b="0" dirty="0" err="1">
                <a:solidFill>
                  <a:srgbClr val="585868"/>
                </a:solidFill>
                <a:latin typeface="Helvetica Neue"/>
              </a:rPr>
              <a:t>Beobank</a:t>
            </a:r>
            <a:r>
              <a:rPr sz="1300" b="0" dirty="0">
                <a:solidFill>
                  <a:srgbClr val="585868"/>
                </a:solidFill>
                <a:latin typeface="Helvetica Neue"/>
              </a:rPr>
              <a:t> · BNP Paribas Fortis · </a:t>
            </a:r>
            <a:r>
              <a:rPr sz="1300" b="0" dirty="0" err="1">
                <a:solidFill>
                  <a:srgbClr val="585868"/>
                </a:solidFill>
                <a:latin typeface="Helvetica Neue"/>
              </a:rPr>
              <a:t>bunq</a:t>
            </a:r>
            <a:r>
              <a:rPr sz="1300" b="0" dirty="0">
                <a:solidFill>
                  <a:srgbClr val="585868"/>
                </a:solidFill>
                <a:latin typeface="Helvetica Neue"/>
              </a:rPr>
              <a:t> · CBC · </a:t>
            </a:r>
            <a:r>
              <a:rPr sz="1300" b="0" dirty="0" err="1">
                <a:solidFill>
                  <a:srgbClr val="585868"/>
                </a:solidFill>
                <a:latin typeface="Helvetica Neue"/>
              </a:rPr>
              <a:t>Crelan</a:t>
            </a:r>
            <a:r>
              <a:rPr sz="1300" b="0" dirty="0">
                <a:solidFill>
                  <a:srgbClr val="585868"/>
                </a:solidFill>
                <a:latin typeface="Helvetica Neue"/>
              </a:rPr>
              <a:t> · </a:t>
            </a:r>
            <a:r>
              <a:rPr sz="1300" b="0" dirty="0" err="1">
                <a:solidFill>
                  <a:srgbClr val="585868"/>
                </a:solidFill>
                <a:latin typeface="Helvetica Neue"/>
              </a:rPr>
              <a:t>Hellobank</a:t>
            </a:r>
            <a:r>
              <a:rPr sz="1300" b="0" dirty="0">
                <a:solidFill>
                  <a:srgbClr val="585868"/>
                </a:solidFill>
                <a:latin typeface="Helvetica Neue"/>
              </a:rPr>
              <a:t> · ING · KBC · </a:t>
            </a:r>
            <a:r>
              <a:rPr sz="1300" b="0" dirty="0" err="1">
                <a:solidFill>
                  <a:srgbClr val="585868"/>
                </a:solidFill>
                <a:latin typeface="Helvetica Neue"/>
              </a:rPr>
              <a:t>Keytrade</a:t>
            </a:r>
            <a:r>
              <a:rPr sz="1300" b="0" dirty="0">
                <a:solidFill>
                  <a:srgbClr val="585868"/>
                </a:solidFill>
                <a:latin typeface="Helvetica Neue"/>
              </a:rPr>
              <a:t> · N26 · </a:t>
            </a:r>
            <a:r>
              <a:rPr sz="1300" b="0" dirty="0" err="1">
                <a:solidFill>
                  <a:srgbClr val="585868"/>
                </a:solidFill>
                <a:latin typeface="Helvetica Neue"/>
              </a:rPr>
              <a:t>Revolut</a:t>
            </a:r>
            <a:r>
              <a:rPr sz="1300" b="0" dirty="0">
                <a:solidFill>
                  <a:srgbClr val="585868"/>
                </a:solidFill>
                <a:latin typeface="Helvetica Neue"/>
              </a:rPr>
              <a:t> · </a:t>
            </a:r>
            <a:r>
              <a:rPr sz="1300" b="0" dirty="0" err="1">
                <a:solidFill>
                  <a:srgbClr val="585868"/>
                </a:solidFill>
                <a:latin typeface="Helvetica Neue"/>
              </a:rPr>
              <a:t>Vdk</a:t>
            </a:r>
            <a:endParaRPr sz="1300" b="0" dirty="0">
              <a:solidFill>
                <a:srgbClr val="585868"/>
              </a:solidFill>
              <a:latin typeface="Helvetica Neue"/>
            </a:endParaRPr>
          </a:p>
          <a:p>
            <a:pPr algn="l">
              <a:lnSpc>
                <a:spcPct val="105000"/>
              </a:lnSpc>
              <a:spcAft>
                <a:spcPts val="200"/>
              </a:spcAft>
            </a:pPr>
            <a:r>
              <a:rPr sz="1500" b="1" dirty="0">
                <a:solidFill>
                  <a:srgbClr val="14141C"/>
                </a:solidFill>
                <a:latin typeface="Helvetica Neue"/>
              </a:rPr>
              <a:t>•  Mostly Belgian French — plus two English pages and one Dutch</a:t>
            </a:r>
          </a:p>
          <a:p>
            <a:pPr algn="l">
              <a:lnSpc>
                <a:spcPct val="105000"/>
              </a:lnSpc>
              <a:spcAft>
                <a:spcPts val="1000"/>
              </a:spcAft>
            </a:pPr>
            <a:r>
              <a:rPr sz="1300" b="0" dirty="0">
                <a:solidFill>
                  <a:srgbClr val="585868"/>
                </a:solidFill>
                <a:latin typeface="Helvetica Neue"/>
              </a:rPr>
              <a:t>     Word counts and readability are within-language features, so with more than one language present the comparison drops eight of them rather than compare across languages. </a:t>
            </a:r>
            <a:endParaRPr lang="fr-FR" sz="1300" b="0" dirty="0">
              <a:solidFill>
                <a:srgbClr val="585868"/>
              </a:solidFill>
              <a:latin typeface="Helvetica Neue"/>
            </a:endParaRPr>
          </a:p>
          <a:p>
            <a:pPr algn="l">
              <a:lnSpc>
                <a:spcPct val="105000"/>
              </a:lnSpc>
              <a:spcAft>
                <a:spcPts val="1000"/>
              </a:spcAft>
            </a:pPr>
            <a:r>
              <a:rPr sz="1500" b="1" dirty="0">
                <a:solidFill>
                  <a:srgbClr val="14141C"/>
                </a:solidFill>
                <a:latin typeface="Helvetica Neue"/>
              </a:rPr>
              <a:t>•  Split for like-for-like comparison</a:t>
            </a:r>
          </a:p>
          <a:p>
            <a:pPr algn="l">
              <a:lnSpc>
                <a:spcPct val="105000"/>
              </a:lnSpc>
              <a:spcAft>
                <a:spcPts val="1000"/>
              </a:spcAft>
            </a:pPr>
            <a:r>
              <a:rPr sz="1300" b="0" dirty="0">
                <a:solidFill>
                  <a:srgbClr val="585868"/>
                </a:solidFill>
                <a:latin typeface="Helvetica Neue"/>
              </a:rPr>
              <a:t>     10 traditional banks and 4 challengers, compared one product family at a time — a mortgage page and a current-account page differ because the products differ.</a:t>
            </a:r>
          </a:p>
          <a:p>
            <a:pPr algn="l">
              <a:lnSpc>
                <a:spcPct val="105000"/>
              </a:lnSpc>
              <a:spcAft>
                <a:spcPts val="200"/>
              </a:spcAft>
            </a:pPr>
            <a:r>
              <a:rPr sz="1500" b="1" dirty="0">
                <a:solidFill>
                  <a:srgbClr val="14141C"/>
                </a:solidFill>
                <a:latin typeface="Helvetica Neue"/>
              </a:rPr>
              <a:t>•  The dataset is in git, alongside the contract</a:t>
            </a:r>
          </a:p>
          <a:p>
            <a:pPr algn="l">
              <a:lnSpc>
                <a:spcPct val="105000"/>
              </a:lnSpc>
              <a:spcAft>
                <a:spcPts val="1000"/>
              </a:spcAft>
            </a:pPr>
            <a:r>
              <a:rPr sz="1300" b="0" dirty="0">
                <a:solidFill>
                  <a:srgbClr val="585868"/>
                </a:solidFill>
                <a:latin typeface="Helvetica Neue"/>
              </a:rPr>
              <a:t>     Captures, datasets and outputs are tracked, so any figure on a slide traces back to the exact committed run that produced it.</a:t>
            </a:r>
          </a:p>
          <a:p>
            <a:pPr algn="l">
              <a:lnSpc>
                <a:spcPct val="105000"/>
              </a:lnSpc>
              <a:spcAft>
                <a:spcPts val="200"/>
              </a:spcAft>
            </a:pPr>
            <a:endParaRPr sz="1300" b="0" dirty="0">
              <a:solidFill>
                <a:srgbClr val="585868"/>
              </a:solidFill>
              <a:latin typeface="Helvetica Neue"/>
            </a:endParaRPr>
          </a:p>
          <a:p>
            <a:pPr algn="l">
              <a:lnSpc>
                <a:spcPct val="105000"/>
              </a:lnSpc>
              <a:spcAft>
                <a:spcPts val="0"/>
              </a:spcAft>
            </a:pPr>
            <a:r>
              <a:rPr sz="1250" b="0" dirty="0">
                <a:solidFill>
                  <a:srgbClr val="585868"/>
                </a:solidFill>
                <a:latin typeface="Helvetica Neue"/>
              </a:rPr>
              <a:t>A snapshot is the honest shape for a finding: true for one dataset, one capture date, one scope.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720" y="6400800"/>
            <a:ext cx="548640" cy="242695"/>
          </a:xfrm>
          <a:prstGeom prst="rect">
            <a:avLst/>
          </a:prstGeom>
          <a:noFill/>
        </p:spPr>
        <p:txBody>
          <a:bodyPr wrap="square">
            <a:spAutoFit/>
          </a:bodyPr>
          <a:lstStyle/>
          <a:p>
            <a:pPr algn="r">
              <a:lnSpc>
                <a:spcPct val="105000"/>
              </a:lnSpc>
              <a:spcAft>
                <a:spcPts val="600"/>
              </a:spcAft>
            </a:pPr>
            <a:r>
              <a:rPr lang="fr-FR" sz="1000" dirty="0">
                <a:solidFill>
                  <a:srgbClr val="585868"/>
                </a:solidFill>
                <a:latin typeface="Helvetica Neue"/>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Rubric scoring: one human judge, and a model measured against it</a:t>
            </a:r>
          </a:p>
        </p:txBody>
      </p:sp>
      <p:sp>
        <p:nvSpPr>
          <p:cNvPr id="3" name="Rectangle 2"/>
          <p:cNvSpPr/>
          <p:nvPr/>
        </p:nvSpPr>
        <p:spPr>
          <a:xfrm>
            <a:off x="548640" y="1371600"/>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13 features are judgements, not measurements</a:t>
            </a:r>
          </a:p>
          <a:p>
            <a:pPr algn="l">
              <a:lnSpc>
                <a:spcPct val="105000"/>
              </a:lnSpc>
              <a:spcAft>
                <a:spcPts val="1000"/>
              </a:spcAft>
            </a:pPr>
            <a:r>
              <a:rPr sz="1300" b="0">
                <a:solidFill>
                  <a:srgbClr val="585868"/>
                </a:solidFill>
                <a:latin typeface="Helvetica Neue"/>
              </a:rPr>
              <a:t>     Clarity of the offer, layout archetype, AIDA coverage, persuasion levers — scored against a written scale, one sheet per rater.</a:t>
            </a:r>
          </a:p>
          <a:p>
            <a:pPr algn="l">
              <a:lnSpc>
                <a:spcPct val="105000"/>
              </a:lnSpc>
              <a:spcAft>
                <a:spcPts val="200"/>
              </a:spcAft>
            </a:pPr>
            <a:r>
              <a:rPr sz="1500" b="1">
                <a:solidFill>
                  <a:srgbClr val="14141C"/>
                </a:solidFill>
                <a:latin typeface="Helvetica Neue"/>
              </a:rPr>
              <a:t>•  One human judge for this pass, stated plainly</a:t>
            </a:r>
          </a:p>
          <a:p>
            <a:pPr algn="l">
              <a:lnSpc>
                <a:spcPct val="105000"/>
              </a:lnSpc>
              <a:spcAft>
                <a:spcPts val="1000"/>
              </a:spcAft>
            </a:pPr>
            <a:r>
              <a:rPr sz="1300" b="0">
                <a:solidFill>
                  <a:srgbClr val="585868"/>
                </a:solidFill>
                <a:latin typeface="Helvetica Neue"/>
              </a:rPr>
              <a:t>     Every judged feature on all 51 pages comes from one sheet. Earlier passes split pages between raters; this one does not, and we say so rather than presenting a single opinion as a consensus.</a:t>
            </a:r>
          </a:p>
          <a:p>
            <a:pPr algn="l">
              <a:lnSpc>
                <a:spcPct val="105000"/>
              </a:lnSpc>
              <a:spcAft>
                <a:spcPts val="200"/>
              </a:spcAft>
            </a:pPr>
            <a:r>
              <a:rPr sz="1500" b="1">
                <a:solidFill>
                  <a:srgbClr val="14141C"/>
                </a:solidFill>
                <a:latin typeface="Helvetica Neue"/>
              </a:rPr>
              <a:t>•  A model sheet exists, and it is not a second opinion</a:t>
            </a:r>
          </a:p>
          <a:p>
            <a:pPr algn="l">
              <a:lnSpc>
                <a:spcPct val="105000"/>
              </a:lnSpc>
              <a:spcAft>
                <a:spcPts val="1000"/>
              </a:spcAft>
            </a:pPr>
            <a:r>
              <a:rPr sz="1300" b="0">
                <a:solidFill>
                  <a:srgbClr val="585868"/>
                </a:solidFill>
                <a:latin typeface="Helvetica Neue"/>
              </a:rPr>
              <a:t>     50 pages, written to its own file, never into a human sheet - a pre-filled sheet gets rubber-stamped. But the pinned model has no vision, and 12 of the 13 judged features are declared in the dictionary as judged from the screenshot.</a:t>
            </a:r>
          </a:p>
          <a:p>
            <a:pPr algn="l">
              <a:lnSpc>
                <a:spcPct val="105000"/>
              </a:lnSpc>
              <a:spcAft>
                <a:spcPts val="200"/>
              </a:spcAft>
            </a:pPr>
            <a:r>
              <a:rPr sz="1500" b="1">
                <a:solidFill>
                  <a:srgbClr val="14141C"/>
                </a:solidFill>
                <a:latin typeface="Helvetica Neue"/>
              </a:rPr>
              <a:t>•  Only one was scored from text, and that was a choice we can now revisit</a:t>
            </a:r>
          </a:p>
          <a:p>
            <a:pPr algn="l">
              <a:lnSpc>
                <a:spcPct val="105000"/>
              </a:lnSpc>
              <a:spcAft>
                <a:spcPts val="1000"/>
              </a:spcAft>
            </a:pPr>
            <a:r>
              <a:rPr sz="1300" b="0">
                <a:solidFill>
                  <a:srgbClr val="585868"/>
                </a:solidFill>
                <a:latin typeface="Helvetica Neue"/>
              </a:rPr>
              <a:t>     formality_score is the one the dictionary sources from html_text, and there the model lands within one point of the human 73% of the time. Its scores on the twelve visual features answer a question the text alone cannot settle — on value_prop_clarity it ranked the pages close to the opposite of the human. Tested since: the pinned model returns nothing at all when handed an image. OCR is the route we have not used, and it is a real one — it returns each word with its position and type size, which is most of what rate prominence, layout and mobile-first actually ask.</a:t>
            </a:r>
          </a:p>
          <a:p>
            <a:pPr algn="l">
              <a:lnSpc>
                <a:spcPct val="105000"/>
              </a:lnSpc>
              <a:spcAft>
                <a:spcPts val="200"/>
              </a:spcAft>
            </a:pPr>
            <a:r>
              <a:rPr sz="1500" b="1">
                <a:solidFill>
                  <a:srgbClr val="14141C"/>
                </a:solidFill>
                <a:latin typeface="Helvetica Neue"/>
              </a:rPr>
              <a:t>•  So the model sheet is kept as a reference, not used as a rater</a:t>
            </a:r>
          </a:p>
          <a:p>
            <a:pPr algn="l">
              <a:lnSpc>
                <a:spcPct val="105000"/>
              </a:lnSpc>
              <a:spcAft>
                <a:spcPts val="1000"/>
              </a:spcAft>
            </a:pPr>
            <a:r>
              <a:rPr sz="1300" b="0">
                <a:solidFill>
                  <a:srgbClr val="585868"/>
                </a:solidFill>
                <a:latin typeface="Helvetica Neue"/>
              </a:rPr>
              <a:t>     Averaging it into the human scores would import guesses as judgements. One named human judge, said out loud, is more honest than a consensus that was never there.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dirty="0">
                <a:solidFill>
                  <a:srgbClr val="585868"/>
                </a:solidFill>
                <a:latin typeface="Helvetica Neue"/>
              </a:rPr>
              <a:t>7</a:t>
            </a:r>
            <a:endParaRPr sz="1000" b="0" dirty="0">
              <a:solidFill>
                <a:srgbClr val="585868"/>
              </a:solidFill>
              <a:latin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the analysis found</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3821367"/>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ING sits with the traditional banks, not the challengers</a:t>
            </a:r>
          </a:p>
          <a:p>
            <a:pPr algn="l">
              <a:lnSpc>
                <a:spcPct val="105000"/>
              </a:lnSpc>
              <a:spcAft>
                <a:spcPts val="1000"/>
              </a:spcAft>
            </a:pPr>
            <a:r>
              <a:rPr sz="1300" b="0" dirty="0">
                <a:solidFill>
                  <a:srgbClr val="585868"/>
                </a:solidFill>
                <a:latin typeface="Helvetica Neue"/>
              </a:rPr>
              <a:t>     </a:t>
            </a:r>
            <a:r>
              <a:rPr sz="1300" b="0" dirty="0" err="1">
                <a:solidFill>
                  <a:srgbClr val="585868"/>
                </a:solidFill>
                <a:latin typeface="Helvetica Neue"/>
              </a:rPr>
              <a:t>Traditional↔challenger</a:t>
            </a:r>
            <a:r>
              <a:rPr sz="1300" b="0" dirty="0">
                <a:solidFill>
                  <a:srgbClr val="585868"/>
                </a:solidFill>
                <a:latin typeface="Helvetica Neue"/>
              </a:rPr>
              <a:t> positioning score 0.41 across 14 banks, and its nearest </a:t>
            </a:r>
            <a:r>
              <a:rPr sz="1300" b="0" dirty="0" err="1">
                <a:solidFill>
                  <a:srgbClr val="585868"/>
                </a:solidFill>
                <a:latin typeface="Helvetica Neue"/>
              </a:rPr>
              <a:t>neighbour</a:t>
            </a:r>
            <a:r>
              <a:rPr sz="1300" b="0" dirty="0">
                <a:solidFill>
                  <a:srgbClr val="585868"/>
                </a:solidFill>
                <a:latin typeface="Helvetica Neue"/>
              </a:rPr>
              <a:t> is Belfius.</a:t>
            </a:r>
          </a:p>
          <a:p>
            <a:pPr algn="l">
              <a:lnSpc>
                <a:spcPct val="105000"/>
              </a:lnSpc>
              <a:spcAft>
                <a:spcPts val="200"/>
              </a:spcAft>
            </a:pPr>
            <a:r>
              <a:rPr sz="1500" b="1" dirty="0">
                <a:solidFill>
                  <a:srgbClr val="14141C"/>
                </a:solidFill>
                <a:latin typeface="Helvetica Neue"/>
              </a:rPr>
              <a:t>•  Where ING is furthest above its peers</a:t>
            </a:r>
          </a:p>
          <a:p>
            <a:pPr algn="l">
              <a:lnSpc>
                <a:spcPct val="105000"/>
              </a:lnSpc>
              <a:spcAft>
                <a:spcPts val="1000"/>
              </a:spcAft>
            </a:pPr>
            <a:r>
              <a:rPr sz="1300" b="0" dirty="0">
                <a:solidFill>
                  <a:srgbClr val="585868"/>
                </a:solidFill>
                <a:latin typeface="Helvetica Neue"/>
              </a:rPr>
              <a:t>     Deadline language: 4.0 markers vs peers 0.6 (+3.69 SD) — the largest gap in the set · Persuasion levers used: 5.0 vs 1.7 (+3.68 SD, rubric) · The offer feels worth having: 5.0 vs 4.0 (+1.36 SD, rubric) · Claims fast digital onboarding: 0.67 vs 0.15 (+1.42 SD) · Page height: 11,149px vs 6,412px (+1.42 SD).</a:t>
            </a:r>
          </a:p>
          <a:p>
            <a:pPr algn="l">
              <a:lnSpc>
                <a:spcPct val="105000"/>
              </a:lnSpc>
              <a:spcAft>
                <a:spcPts val="200"/>
              </a:spcAft>
            </a:pPr>
            <a:r>
              <a:rPr sz="1500" b="1" dirty="0">
                <a:solidFill>
                  <a:srgbClr val="14141C"/>
                </a:solidFill>
                <a:latin typeface="Helvetica Neue"/>
              </a:rPr>
              <a:t>•  Where ING is below</a:t>
            </a:r>
          </a:p>
          <a:p>
            <a:pPr algn="l">
              <a:lnSpc>
                <a:spcPct val="105000"/>
              </a:lnSpc>
              <a:spcAft>
                <a:spcPts val="1000"/>
              </a:spcAft>
            </a:pPr>
            <a:r>
              <a:rPr sz="1300" b="0" dirty="0">
                <a:solidFill>
                  <a:srgbClr val="585868"/>
                </a:solidFill>
                <a:latin typeface="Helvetica Neue"/>
              </a:rPr>
              <a:t>     Image alt text: no ING page carries it, against 23% of peers (-0.55 SD). Animation and calls to action were withdrawn — neither rule measured what its name claims, so neither is ranked here.</a:t>
            </a:r>
          </a:p>
          <a:p>
            <a:pPr algn="l">
              <a:lnSpc>
                <a:spcPct val="105000"/>
              </a:lnSpc>
              <a:spcAft>
                <a:spcPts val="200"/>
              </a:spcAft>
            </a:pPr>
            <a:r>
              <a:rPr sz="1500" b="1" dirty="0">
                <a:solidFill>
                  <a:srgbClr val="14141C"/>
                </a:solidFill>
                <a:latin typeface="Helvetica Neue"/>
              </a:rPr>
              <a:t>•  What separates the two groups</a:t>
            </a:r>
          </a:p>
          <a:p>
            <a:pPr algn="l">
              <a:lnSpc>
                <a:spcPct val="105000"/>
              </a:lnSpc>
              <a:spcAft>
                <a:spcPts val="1000"/>
              </a:spcAft>
            </a:pPr>
            <a:r>
              <a:rPr sz="1300" b="0" dirty="0">
                <a:solidFill>
                  <a:srgbClr val="585868"/>
                </a:solidFill>
                <a:latin typeface="Helvetica Neue"/>
              </a:rPr>
              <a:t>     Traditional pages are brighter (d = -2.36) and show more without scrolling (d = -2.12); challengers are far likelier to show a rate and to frame the account as a subscription (each d = +2.00), and to target expats (d = +1.23).</a:t>
            </a:r>
          </a:p>
          <a:p>
            <a:pPr algn="l">
              <a:lnSpc>
                <a:spcPct val="105000"/>
              </a:lnSpc>
              <a:spcAft>
                <a:spcPts val="200"/>
              </a:spcAft>
            </a:pPr>
            <a:r>
              <a:rPr sz="1500" b="1" dirty="0">
                <a:solidFill>
                  <a:srgbClr val="14141C"/>
                </a:solidFill>
                <a:latin typeface="Helvetica Neue"/>
              </a:rPr>
              <a:t>•  Read as description, not proof</a:t>
            </a:r>
          </a:p>
          <a:p>
            <a:pPr algn="l">
              <a:lnSpc>
                <a:spcPct val="105000"/>
              </a:lnSpc>
              <a:spcAft>
                <a:spcPts val="1000"/>
              </a:spcAft>
            </a:pPr>
            <a:r>
              <a:rPr sz="1300" b="0" dirty="0">
                <a:solidFill>
                  <a:srgbClr val="585868"/>
                </a:solidFill>
                <a:latin typeface="Helvetica Neue"/>
              </a:rPr>
              <a:t>     These are descriptive effect sizes over 14 banks, not significance tests. The rubric-sourced ones rest on a single judged sheet, and the deadline count was re-derived from the stored pages — all 14 banks re-measured with the same rule.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KBC leads; ING and Belfius are level</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p:cNvSpPr txBox="1"/>
          <p:nvPr/>
        </p:nvSpPr>
        <p:spPr>
          <a:xfrm>
            <a:off x="685800" y="1325880"/>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KBC</a:t>
            </a:r>
          </a:p>
        </p:txBody>
      </p:sp>
      <p:sp>
        <p:nvSpPr>
          <p:cNvPr id="5" name="Rect"/>
          <p:cNvSpPr/>
          <p:nvPr/>
        </p:nvSpPr>
        <p:spPr>
          <a:xfrm>
            <a:off x="2692400" y="1369040"/>
            <a:ext cx="3556000" cy="152400"/>
          </a:xfrm>
          <a:prstGeom prst="rect">
            <a:avLst/>
          </a:prstGeom>
          <a:solidFill>
            <a:srgbClr val="A8A8B8"/>
          </a:solidFill>
          <a:ln>
            <a:noFill/>
          </a:ln>
        </p:spPr>
        <p:txBody>
          <a:bodyPr/>
          <a:lstStyle/>
          <a:p>
            <a:endParaRPr/>
          </a:p>
        </p:txBody>
      </p:sp>
      <p:sp>
        <p:nvSpPr>
          <p:cNvPr id="6" name="TextBox"/>
          <p:cNvSpPr txBox="1"/>
          <p:nvPr/>
        </p:nvSpPr>
        <p:spPr>
          <a:xfrm>
            <a:off x="6299200" y="1325880"/>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21.30%</a:t>
            </a:r>
          </a:p>
        </p:txBody>
      </p:sp>
      <p:sp>
        <p:nvSpPr>
          <p:cNvPr id="7" name="TextBox"/>
          <p:cNvSpPr txBox="1"/>
          <p:nvPr/>
        </p:nvSpPr>
        <p:spPr>
          <a:xfrm>
            <a:off x="685800" y="1577301"/>
            <a:ext cx="1962150" cy="238720"/>
          </a:xfrm>
          <a:prstGeom prst="rect">
            <a:avLst/>
          </a:prstGeom>
          <a:noFill/>
        </p:spPr>
        <p:txBody>
          <a:bodyPr wrap="square">
            <a:spAutoFit/>
          </a:bodyPr>
          <a:lstStyle/>
          <a:p>
            <a:pPr algn="l">
              <a:lnSpc>
                <a:spcPct val="105000"/>
              </a:lnSpc>
              <a:spcAft>
                <a:spcPts val="0"/>
              </a:spcAft>
            </a:pPr>
            <a:r>
              <a:rPr sz="1200" b="1">
                <a:solidFill>
                  <a:srgbClr val="14141C"/>
                </a:solidFill>
                <a:latin typeface="Helvetica Neue"/>
              </a:rPr>
              <a:t>Belfius</a:t>
            </a:r>
          </a:p>
        </p:txBody>
      </p:sp>
      <p:sp>
        <p:nvSpPr>
          <p:cNvPr id="8" name="Rect"/>
          <p:cNvSpPr/>
          <p:nvPr/>
        </p:nvSpPr>
        <p:spPr>
          <a:xfrm>
            <a:off x="2692400" y="1620461"/>
            <a:ext cx="3079750" cy="152400"/>
          </a:xfrm>
          <a:prstGeom prst="rect">
            <a:avLst/>
          </a:prstGeom>
          <a:solidFill>
            <a:srgbClr val="14141C"/>
          </a:solidFill>
          <a:ln>
            <a:noFill/>
          </a:ln>
        </p:spPr>
        <p:txBody>
          <a:bodyPr/>
          <a:lstStyle/>
          <a:p>
            <a:endParaRPr/>
          </a:p>
        </p:txBody>
      </p:sp>
      <p:sp>
        <p:nvSpPr>
          <p:cNvPr id="9" name="TextBox"/>
          <p:cNvSpPr txBox="1"/>
          <p:nvPr/>
        </p:nvSpPr>
        <p:spPr>
          <a:xfrm>
            <a:off x="6299200" y="1577301"/>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18.44%</a:t>
            </a:r>
          </a:p>
        </p:txBody>
      </p:sp>
      <p:sp>
        <p:nvSpPr>
          <p:cNvPr id="10" name="TextBox"/>
          <p:cNvSpPr txBox="1"/>
          <p:nvPr/>
        </p:nvSpPr>
        <p:spPr>
          <a:xfrm>
            <a:off x="685800" y="1828721"/>
            <a:ext cx="1962150" cy="238720"/>
          </a:xfrm>
          <a:prstGeom prst="rect">
            <a:avLst/>
          </a:prstGeom>
          <a:noFill/>
        </p:spPr>
        <p:txBody>
          <a:bodyPr wrap="square">
            <a:spAutoFit/>
          </a:bodyPr>
          <a:lstStyle/>
          <a:p>
            <a:pPr algn="l">
              <a:lnSpc>
                <a:spcPct val="105000"/>
              </a:lnSpc>
              <a:spcAft>
                <a:spcPts val="0"/>
              </a:spcAft>
            </a:pPr>
            <a:r>
              <a:rPr sz="1200" b="1">
                <a:solidFill>
                  <a:srgbClr val="FF6200"/>
                </a:solidFill>
                <a:latin typeface="Helvetica Neue"/>
              </a:rPr>
              <a:t>ING</a:t>
            </a:r>
          </a:p>
        </p:txBody>
      </p:sp>
      <p:sp>
        <p:nvSpPr>
          <p:cNvPr id="11" name="Rect"/>
          <p:cNvSpPr/>
          <p:nvPr/>
        </p:nvSpPr>
        <p:spPr>
          <a:xfrm>
            <a:off x="2692400" y="1871881"/>
            <a:ext cx="3028950" cy="152400"/>
          </a:xfrm>
          <a:prstGeom prst="rect">
            <a:avLst/>
          </a:prstGeom>
          <a:solidFill>
            <a:srgbClr val="FF6200"/>
          </a:solidFill>
          <a:ln>
            <a:noFill/>
          </a:ln>
        </p:spPr>
        <p:txBody>
          <a:bodyPr/>
          <a:lstStyle/>
          <a:p>
            <a:endParaRPr/>
          </a:p>
        </p:txBody>
      </p:sp>
      <p:sp>
        <p:nvSpPr>
          <p:cNvPr id="12" name="TextBox"/>
          <p:cNvSpPr txBox="1"/>
          <p:nvPr/>
        </p:nvSpPr>
        <p:spPr>
          <a:xfrm>
            <a:off x="6299200" y="1828721"/>
            <a:ext cx="749300" cy="238720"/>
          </a:xfrm>
          <a:prstGeom prst="rect">
            <a:avLst/>
          </a:prstGeom>
          <a:noFill/>
        </p:spPr>
        <p:txBody>
          <a:bodyPr wrap="none">
            <a:spAutoFit/>
          </a:bodyPr>
          <a:lstStyle/>
          <a:p>
            <a:pPr algn="r">
              <a:lnSpc>
                <a:spcPct val="105000"/>
              </a:lnSpc>
              <a:spcAft>
                <a:spcPts val="0"/>
              </a:spcAft>
            </a:pPr>
            <a:r>
              <a:rPr sz="1200" b="0">
                <a:solidFill>
                  <a:srgbClr val="FF6200"/>
                </a:solidFill>
                <a:latin typeface="Helvetica Neue"/>
              </a:rPr>
              <a:t>18.13%</a:t>
            </a:r>
          </a:p>
        </p:txBody>
      </p:sp>
      <p:sp>
        <p:nvSpPr>
          <p:cNvPr id="13" name="TextBox"/>
          <p:cNvSpPr txBox="1"/>
          <p:nvPr/>
        </p:nvSpPr>
        <p:spPr>
          <a:xfrm>
            <a:off x="685800" y="2080141"/>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BNP Paribas Fortis</a:t>
            </a:r>
          </a:p>
        </p:txBody>
      </p:sp>
      <p:sp>
        <p:nvSpPr>
          <p:cNvPr id="14" name="Rect"/>
          <p:cNvSpPr/>
          <p:nvPr/>
        </p:nvSpPr>
        <p:spPr>
          <a:xfrm>
            <a:off x="2692400" y="2123301"/>
            <a:ext cx="2571750" cy="152400"/>
          </a:xfrm>
          <a:prstGeom prst="rect">
            <a:avLst/>
          </a:prstGeom>
          <a:solidFill>
            <a:srgbClr val="A8A8B8"/>
          </a:solidFill>
          <a:ln>
            <a:noFill/>
          </a:ln>
        </p:spPr>
        <p:txBody>
          <a:bodyPr/>
          <a:lstStyle/>
          <a:p>
            <a:endParaRPr/>
          </a:p>
        </p:txBody>
      </p:sp>
      <p:sp>
        <p:nvSpPr>
          <p:cNvPr id="15" name="TextBox"/>
          <p:cNvSpPr txBox="1"/>
          <p:nvPr/>
        </p:nvSpPr>
        <p:spPr>
          <a:xfrm>
            <a:off x="6299200" y="2080141"/>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15.40%</a:t>
            </a:r>
          </a:p>
        </p:txBody>
      </p:sp>
      <p:sp>
        <p:nvSpPr>
          <p:cNvPr id="16" name="TextBox"/>
          <p:cNvSpPr txBox="1"/>
          <p:nvPr/>
        </p:nvSpPr>
        <p:spPr>
          <a:xfrm>
            <a:off x="685800" y="2331562"/>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Argenta</a:t>
            </a:r>
          </a:p>
        </p:txBody>
      </p:sp>
      <p:sp>
        <p:nvSpPr>
          <p:cNvPr id="17" name="Rect"/>
          <p:cNvSpPr/>
          <p:nvPr/>
        </p:nvSpPr>
        <p:spPr>
          <a:xfrm>
            <a:off x="2692400" y="2374722"/>
            <a:ext cx="1530350" cy="152400"/>
          </a:xfrm>
          <a:prstGeom prst="rect">
            <a:avLst/>
          </a:prstGeom>
          <a:solidFill>
            <a:srgbClr val="A8A8B8"/>
          </a:solidFill>
          <a:ln>
            <a:noFill/>
          </a:ln>
        </p:spPr>
        <p:txBody>
          <a:bodyPr/>
          <a:lstStyle/>
          <a:p>
            <a:endParaRPr/>
          </a:p>
        </p:txBody>
      </p:sp>
      <p:sp>
        <p:nvSpPr>
          <p:cNvPr id="18" name="TextBox"/>
          <p:cNvSpPr txBox="1"/>
          <p:nvPr/>
        </p:nvSpPr>
        <p:spPr>
          <a:xfrm>
            <a:off x="6299200" y="2331562"/>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9.18%</a:t>
            </a:r>
          </a:p>
        </p:txBody>
      </p:sp>
      <p:sp>
        <p:nvSpPr>
          <p:cNvPr id="19" name="TextBox"/>
          <p:cNvSpPr txBox="1"/>
          <p:nvPr/>
        </p:nvSpPr>
        <p:spPr>
          <a:xfrm>
            <a:off x="685800" y="2582982"/>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Crelan</a:t>
            </a:r>
          </a:p>
        </p:txBody>
      </p:sp>
      <p:sp>
        <p:nvSpPr>
          <p:cNvPr id="20" name="Rect"/>
          <p:cNvSpPr/>
          <p:nvPr/>
        </p:nvSpPr>
        <p:spPr>
          <a:xfrm>
            <a:off x="2692400" y="2626142"/>
            <a:ext cx="1181100" cy="152400"/>
          </a:xfrm>
          <a:prstGeom prst="rect">
            <a:avLst/>
          </a:prstGeom>
          <a:solidFill>
            <a:srgbClr val="A8A8B8"/>
          </a:solidFill>
          <a:ln>
            <a:noFill/>
          </a:ln>
        </p:spPr>
        <p:txBody>
          <a:bodyPr/>
          <a:lstStyle/>
          <a:p>
            <a:endParaRPr/>
          </a:p>
        </p:txBody>
      </p:sp>
      <p:sp>
        <p:nvSpPr>
          <p:cNvPr id="21" name="TextBox"/>
          <p:cNvSpPr txBox="1"/>
          <p:nvPr/>
        </p:nvSpPr>
        <p:spPr>
          <a:xfrm>
            <a:off x="6299200" y="2582982"/>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7.07%</a:t>
            </a:r>
          </a:p>
        </p:txBody>
      </p:sp>
      <p:sp>
        <p:nvSpPr>
          <p:cNvPr id="22" name="TextBox"/>
          <p:cNvSpPr txBox="1"/>
          <p:nvPr/>
        </p:nvSpPr>
        <p:spPr>
          <a:xfrm>
            <a:off x="685800" y="2834402"/>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Beobank</a:t>
            </a:r>
          </a:p>
        </p:txBody>
      </p:sp>
      <p:sp>
        <p:nvSpPr>
          <p:cNvPr id="23" name="Rect"/>
          <p:cNvSpPr/>
          <p:nvPr/>
        </p:nvSpPr>
        <p:spPr>
          <a:xfrm>
            <a:off x="2692400" y="2877562"/>
            <a:ext cx="742950" cy="152400"/>
          </a:xfrm>
          <a:prstGeom prst="rect">
            <a:avLst/>
          </a:prstGeom>
          <a:solidFill>
            <a:srgbClr val="A8A8B8"/>
          </a:solidFill>
          <a:ln>
            <a:noFill/>
          </a:ln>
        </p:spPr>
        <p:txBody>
          <a:bodyPr/>
          <a:lstStyle/>
          <a:p>
            <a:endParaRPr/>
          </a:p>
        </p:txBody>
      </p:sp>
      <p:sp>
        <p:nvSpPr>
          <p:cNvPr id="24" name="TextBox"/>
          <p:cNvSpPr txBox="1"/>
          <p:nvPr/>
        </p:nvSpPr>
        <p:spPr>
          <a:xfrm>
            <a:off x="6299200" y="2834402"/>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4.46%</a:t>
            </a:r>
          </a:p>
        </p:txBody>
      </p:sp>
      <p:sp>
        <p:nvSpPr>
          <p:cNvPr id="25" name="TextBox"/>
          <p:cNvSpPr txBox="1"/>
          <p:nvPr/>
        </p:nvSpPr>
        <p:spPr>
          <a:xfrm>
            <a:off x="685800" y="3085823"/>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CBC *</a:t>
            </a:r>
          </a:p>
        </p:txBody>
      </p:sp>
      <p:sp>
        <p:nvSpPr>
          <p:cNvPr id="26" name="Rect"/>
          <p:cNvSpPr/>
          <p:nvPr/>
        </p:nvSpPr>
        <p:spPr>
          <a:xfrm>
            <a:off x="2692400" y="3128983"/>
            <a:ext cx="342900" cy="152400"/>
          </a:xfrm>
          <a:prstGeom prst="rect">
            <a:avLst/>
          </a:prstGeom>
          <a:solidFill>
            <a:srgbClr val="D8D8E0"/>
          </a:solidFill>
          <a:ln>
            <a:noFill/>
          </a:ln>
        </p:spPr>
        <p:txBody>
          <a:bodyPr/>
          <a:lstStyle/>
          <a:p>
            <a:endParaRPr/>
          </a:p>
        </p:txBody>
      </p:sp>
      <p:sp>
        <p:nvSpPr>
          <p:cNvPr id="27" name="TextBox"/>
          <p:cNvSpPr txBox="1"/>
          <p:nvPr/>
        </p:nvSpPr>
        <p:spPr>
          <a:xfrm>
            <a:off x="6299200" y="3085823"/>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2.05%</a:t>
            </a:r>
          </a:p>
        </p:txBody>
      </p:sp>
      <p:sp>
        <p:nvSpPr>
          <p:cNvPr id="28" name="TextBox"/>
          <p:cNvSpPr txBox="1"/>
          <p:nvPr/>
        </p:nvSpPr>
        <p:spPr>
          <a:xfrm>
            <a:off x="685800" y="3337243"/>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Revolut</a:t>
            </a:r>
          </a:p>
        </p:txBody>
      </p:sp>
      <p:sp>
        <p:nvSpPr>
          <p:cNvPr id="29" name="Rect"/>
          <p:cNvSpPr/>
          <p:nvPr/>
        </p:nvSpPr>
        <p:spPr>
          <a:xfrm>
            <a:off x="2692400" y="3380403"/>
            <a:ext cx="273050" cy="152400"/>
          </a:xfrm>
          <a:prstGeom prst="rect">
            <a:avLst/>
          </a:prstGeom>
          <a:solidFill>
            <a:srgbClr val="A8A8B8"/>
          </a:solidFill>
          <a:ln>
            <a:noFill/>
          </a:ln>
        </p:spPr>
        <p:txBody>
          <a:bodyPr/>
          <a:lstStyle/>
          <a:p>
            <a:endParaRPr/>
          </a:p>
        </p:txBody>
      </p:sp>
      <p:sp>
        <p:nvSpPr>
          <p:cNvPr id="30" name="TextBox"/>
          <p:cNvSpPr txBox="1"/>
          <p:nvPr/>
        </p:nvSpPr>
        <p:spPr>
          <a:xfrm>
            <a:off x="6299200" y="3337243"/>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1.64%</a:t>
            </a:r>
          </a:p>
        </p:txBody>
      </p:sp>
      <p:sp>
        <p:nvSpPr>
          <p:cNvPr id="31" name="TextBox"/>
          <p:cNvSpPr txBox="1"/>
          <p:nvPr/>
        </p:nvSpPr>
        <p:spPr>
          <a:xfrm>
            <a:off x="685800" y="3588663"/>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VDK Bank *</a:t>
            </a:r>
          </a:p>
        </p:txBody>
      </p:sp>
      <p:sp>
        <p:nvSpPr>
          <p:cNvPr id="32" name="Rect"/>
          <p:cNvSpPr/>
          <p:nvPr/>
        </p:nvSpPr>
        <p:spPr>
          <a:xfrm>
            <a:off x="2692400" y="3631823"/>
            <a:ext cx="209550" cy="152400"/>
          </a:xfrm>
          <a:prstGeom prst="rect">
            <a:avLst/>
          </a:prstGeom>
          <a:solidFill>
            <a:srgbClr val="D8D8E0"/>
          </a:solidFill>
          <a:ln>
            <a:noFill/>
          </a:ln>
        </p:spPr>
        <p:txBody>
          <a:bodyPr/>
          <a:lstStyle/>
          <a:p>
            <a:endParaRPr/>
          </a:p>
        </p:txBody>
      </p:sp>
      <p:sp>
        <p:nvSpPr>
          <p:cNvPr id="33" name="TextBox"/>
          <p:cNvSpPr txBox="1"/>
          <p:nvPr/>
        </p:nvSpPr>
        <p:spPr>
          <a:xfrm>
            <a:off x="6299200" y="3588663"/>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1.24%</a:t>
            </a:r>
          </a:p>
        </p:txBody>
      </p:sp>
      <p:sp>
        <p:nvSpPr>
          <p:cNvPr id="34" name="TextBox"/>
          <p:cNvSpPr txBox="1"/>
          <p:nvPr/>
        </p:nvSpPr>
        <p:spPr>
          <a:xfrm>
            <a:off x="685800" y="3840084"/>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Keytrade Bank *</a:t>
            </a:r>
          </a:p>
        </p:txBody>
      </p:sp>
      <p:sp>
        <p:nvSpPr>
          <p:cNvPr id="35" name="Rect"/>
          <p:cNvSpPr/>
          <p:nvPr/>
        </p:nvSpPr>
        <p:spPr>
          <a:xfrm>
            <a:off x="2692400" y="3883244"/>
            <a:ext cx="69850" cy="152400"/>
          </a:xfrm>
          <a:prstGeom prst="rect">
            <a:avLst/>
          </a:prstGeom>
          <a:solidFill>
            <a:srgbClr val="D8D8E0"/>
          </a:solidFill>
          <a:ln>
            <a:noFill/>
          </a:ln>
        </p:spPr>
        <p:txBody>
          <a:bodyPr/>
          <a:lstStyle/>
          <a:p>
            <a:endParaRPr/>
          </a:p>
        </p:txBody>
      </p:sp>
      <p:sp>
        <p:nvSpPr>
          <p:cNvPr id="36" name="TextBox"/>
          <p:cNvSpPr txBox="1"/>
          <p:nvPr/>
        </p:nvSpPr>
        <p:spPr>
          <a:xfrm>
            <a:off x="6299200" y="3840084"/>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0.41%</a:t>
            </a:r>
          </a:p>
        </p:txBody>
      </p:sp>
      <p:sp>
        <p:nvSpPr>
          <p:cNvPr id="37" name="TextBox"/>
          <p:cNvSpPr txBox="1"/>
          <p:nvPr/>
        </p:nvSpPr>
        <p:spPr>
          <a:xfrm>
            <a:off x="685800" y="4091504"/>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Hello bank! *</a:t>
            </a:r>
          </a:p>
        </p:txBody>
      </p:sp>
      <p:sp>
        <p:nvSpPr>
          <p:cNvPr id="38" name="Rect"/>
          <p:cNvSpPr/>
          <p:nvPr/>
        </p:nvSpPr>
        <p:spPr>
          <a:xfrm>
            <a:off x="2692400" y="4134664"/>
            <a:ext cx="63500" cy="152400"/>
          </a:xfrm>
          <a:prstGeom prst="rect">
            <a:avLst/>
          </a:prstGeom>
          <a:solidFill>
            <a:srgbClr val="D8D8E0"/>
          </a:solidFill>
          <a:ln>
            <a:noFill/>
          </a:ln>
        </p:spPr>
        <p:txBody>
          <a:bodyPr/>
          <a:lstStyle/>
          <a:p>
            <a:endParaRPr/>
          </a:p>
        </p:txBody>
      </p:sp>
      <p:sp>
        <p:nvSpPr>
          <p:cNvPr id="39" name="TextBox"/>
          <p:cNvSpPr txBox="1"/>
          <p:nvPr/>
        </p:nvSpPr>
        <p:spPr>
          <a:xfrm>
            <a:off x="6299200" y="4091504"/>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0.37%</a:t>
            </a:r>
          </a:p>
        </p:txBody>
      </p:sp>
      <p:sp>
        <p:nvSpPr>
          <p:cNvPr id="40" name="TextBox"/>
          <p:cNvSpPr txBox="1"/>
          <p:nvPr/>
        </p:nvSpPr>
        <p:spPr>
          <a:xfrm>
            <a:off x="685800" y="4342924"/>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N26 *</a:t>
            </a:r>
          </a:p>
        </p:txBody>
      </p:sp>
      <p:sp>
        <p:nvSpPr>
          <p:cNvPr id="41" name="Rect"/>
          <p:cNvSpPr/>
          <p:nvPr/>
        </p:nvSpPr>
        <p:spPr>
          <a:xfrm>
            <a:off x="2692400" y="4386084"/>
            <a:ext cx="50800" cy="152400"/>
          </a:xfrm>
          <a:prstGeom prst="rect">
            <a:avLst/>
          </a:prstGeom>
          <a:solidFill>
            <a:srgbClr val="D8D8E0"/>
          </a:solidFill>
          <a:ln>
            <a:noFill/>
          </a:ln>
        </p:spPr>
        <p:txBody>
          <a:bodyPr/>
          <a:lstStyle/>
          <a:p>
            <a:endParaRPr/>
          </a:p>
        </p:txBody>
      </p:sp>
      <p:sp>
        <p:nvSpPr>
          <p:cNvPr id="42" name="TextBox"/>
          <p:cNvSpPr txBox="1"/>
          <p:nvPr/>
        </p:nvSpPr>
        <p:spPr>
          <a:xfrm>
            <a:off x="6299200" y="4342924"/>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0.29%</a:t>
            </a:r>
          </a:p>
        </p:txBody>
      </p:sp>
      <p:sp>
        <p:nvSpPr>
          <p:cNvPr id="43" name="TextBox"/>
          <p:cNvSpPr txBox="1"/>
          <p:nvPr/>
        </p:nvSpPr>
        <p:spPr>
          <a:xfrm>
            <a:off x="685800" y="4594345"/>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bunq *</a:t>
            </a:r>
          </a:p>
        </p:txBody>
      </p:sp>
      <p:sp>
        <p:nvSpPr>
          <p:cNvPr id="44" name="Rect"/>
          <p:cNvSpPr/>
          <p:nvPr/>
        </p:nvSpPr>
        <p:spPr>
          <a:xfrm>
            <a:off x="2692400" y="4637505"/>
            <a:ext cx="19050" cy="152400"/>
          </a:xfrm>
          <a:prstGeom prst="rect">
            <a:avLst/>
          </a:prstGeom>
          <a:solidFill>
            <a:srgbClr val="D8D8E0"/>
          </a:solidFill>
          <a:ln>
            <a:noFill/>
          </a:ln>
        </p:spPr>
        <p:txBody>
          <a:bodyPr/>
          <a:lstStyle/>
          <a:p>
            <a:endParaRPr/>
          </a:p>
        </p:txBody>
      </p:sp>
      <p:sp>
        <p:nvSpPr>
          <p:cNvPr id="45" name="TextBox"/>
          <p:cNvSpPr txBox="1"/>
          <p:nvPr/>
        </p:nvSpPr>
        <p:spPr>
          <a:xfrm>
            <a:off x="6299200" y="4594345"/>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0.01%</a:t>
            </a:r>
          </a:p>
        </p:txBody>
      </p:sp>
      <p:sp>
        <p:nvSpPr>
          <p:cNvPr id="46" name="RoundRect"/>
          <p:cNvSpPr/>
          <p:nvPr/>
        </p:nvSpPr>
        <p:spPr>
          <a:xfrm>
            <a:off x="7458075" y="1329055"/>
            <a:ext cx="3790950" cy="3526234"/>
          </a:xfrm>
          <a:prstGeom prst="roundRect">
            <a:avLst>
              <a:gd name="adj" fmla="val 2791"/>
            </a:avLst>
          </a:prstGeom>
          <a:solidFill>
            <a:srgbClr val="F7F7F9"/>
          </a:solidFill>
          <a:ln w="6350">
            <a:solidFill>
              <a:srgbClr val="D8D8E0"/>
            </a:solidFill>
            <a:prstDash val="solid"/>
          </a:ln>
        </p:spPr>
        <p:txBody>
          <a:bodyPr/>
          <a:lstStyle/>
          <a:p>
            <a:endParaRPr/>
          </a:p>
        </p:txBody>
      </p:sp>
      <p:sp>
        <p:nvSpPr>
          <p:cNvPr id="47" name="TextBox"/>
          <p:cNvSpPr txBox="1"/>
          <p:nvPr/>
        </p:nvSpPr>
        <p:spPr>
          <a:xfrm>
            <a:off x="7766050" y="1637030"/>
            <a:ext cx="32702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GAP BELFIUS – ING</a:t>
            </a:r>
          </a:p>
        </p:txBody>
      </p:sp>
      <p:sp>
        <p:nvSpPr>
          <p:cNvPr id="48" name="TextBox"/>
          <p:cNvSpPr txBox="1"/>
          <p:nvPr/>
        </p:nvSpPr>
        <p:spPr>
          <a:xfrm>
            <a:off x="7766050" y="1977351"/>
            <a:ext cx="3270250" cy="695920"/>
          </a:xfrm>
          <a:prstGeom prst="rect">
            <a:avLst/>
          </a:prstGeom>
          <a:noFill/>
        </p:spPr>
        <p:txBody>
          <a:bodyPr wrap="square">
            <a:spAutoFit/>
          </a:bodyPr>
          <a:lstStyle/>
          <a:p>
            <a:pPr algn="l">
              <a:lnSpc>
                <a:spcPct val="105000"/>
              </a:lnSpc>
              <a:spcAft>
                <a:spcPts val="0"/>
              </a:spcAft>
            </a:pPr>
            <a:r>
              <a:rPr sz="4800" b="0">
                <a:solidFill>
                  <a:srgbClr val="FF6200"/>
                </a:solidFill>
                <a:latin typeface="Helvetica Neue"/>
              </a:rPr>
              <a:t>0.31 pts</a:t>
            </a:r>
          </a:p>
        </p:txBody>
      </p:sp>
      <p:sp>
        <p:nvSpPr>
          <p:cNvPr id="49" name="TextBox"/>
          <p:cNvSpPr txBox="1"/>
          <p:nvPr/>
        </p:nvSpPr>
        <p:spPr>
          <a:xfrm>
            <a:off x="7766050" y="2774871"/>
            <a:ext cx="3270250" cy="1020763"/>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Removing one raw point per week from Belfius brings it to 18.15% — ING’s own figure. Read them as level, not ING in third.</a:t>
            </a:r>
          </a:p>
        </p:txBody>
      </p:sp>
      <p:sp>
        <p:nvSpPr>
          <p:cNvPr id="50" name="Rect"/>
          <p:cNvSpPr/>
          <p:nvPr/>
        </p:nvSpPr>
        <p:spPr>
          <a:xfrm>
            <a:off x="7766050" y="3897234"/>
            <a:ext cx="3048000" cy="12700"/>
          </a:xfrm>
          <a:prstGeom prst="rect">
            <a:avLst/>
          </a:prstGeom>
          <a:solidFill>
            <a:srgbClr val="D8D8E0"/>
          </a:solidFill>
          <a:ln>
            <a:noFill/>
          </a:ln>
        </p:spPr>
        <p:txBody>
          <a:bodyPr/>
          <a:lstStyle/>
          <a:p>
            <a:endParaRPr/>
          </a:p>
        </p:txBody>
      </p:sp>
      <p:sp>
        <p:nvSpPr>
          <p:cNvPr id="51" name="TextBox"/>
          <p:cNvSpPr txBox="1"/>
          <p:nvPr/>
        </p:nvSpPr>
        <p:spPr>
          <a:xfrm>
            <a:off x="7766050" y="4049634"/>
            <a:ext cx="3270250" cy="52308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Incumbents 97.6% · challengers 2.3% of brand search</a:t>
            </a:r>
          </a:p>
        </p:txBody>
      </p:sp>
      <p:sp>
        <p:nvSpPr>
          <p:cNvPr id="52"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Share of brand search, 261 weeks, Sep 2021 – Sep 2026 · * too low-volume to read share or change</a:t>
            </a:r>
          </a:p>
        </p:txBody>
      </p:sp>
      <p:sp>
        <p:nvSpPr>
          <p:cNvPr id="53"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54"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Where the banks to benchmark come from</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p:cNvGraphicFramePr>
            <a:graphicFrameLocks noGrp="1"/>
          </p:cNvGraphicFramePr>
          <p:nvPr/>
        </p:nvGraphicFramePr>
        <p:xfrm>
          <a:off x="685800" y="1564580"/>
          <a:ext cx="10566400" cy="3233439"/>
        </p:xfrm>
        <a:graphic>
          <a:graphicData uri="http://schemas.openxmlformats.org/drawingml/2006/table">
            <a:tbl>
              <a:tblPr/>
              <a:tblGrid>
                <a:gridCol w="2113280">
                  <a:extLst>
                    <a:ext uri="{9D8B030D-6E8A-4147-A177-3AD203B41FA5}">
                      <a16:colId xmlns:a16="http://schemas.microsoft.com/office/drawing/2014/main" val="20000"/>
                    </a:ext>
                  </a:extLst>
                </a:gridCol>
                <a:gridCol w="1162304">
                  <a:extLst>
                    <a:ext uri="{9D8B030D-6E8A-4147-A177-3AD203B41FA5}">
                      <a16:colId xmlns:a16="http://schemas.microsoft.com/office/drawing/2014/main" val="20001"/>
                    </a:ext>
                  </a:extLst>
                </a:gridCol>
                <a:gridCol w="1162304">
                  <a:extLst>
                    <a:ext uri="{9D8B030D-6E8A-4147-A177-3AD203B41FA5}">
                      <a16:colId xmlns:a16="http://schemas.microsoft.com/office/drawing/2014/main" val="20002"/>
                    </a:ext>
                  </a:extLst>
                </a:gridCol>
                <a:gridCol w="105664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gridCol w="3169920">
                  <a:extLst>
                    <a:ext uri="{9D8B030D-6E8A-4147-A177-3AD203B41FA5}">
                      <a16:colId xmlns:a16="http://schemas.microsoft.com/office/drawing/2014/main" val="20005"/>
                    </a:ext>
                  </a:extLst>
                </a:gridCol>
              </a:tblGrid>
              <a:tr h="359271">
                <a:tc>
                  <a:txBody>
                    <a:bodyPr/>
                    <a:lstStyle/>
                    <a:p>
                      <a:pPr marL="0" indent="0" algn="l">
                        <a:lnSpc>
                          <a:spcPts val="1820"/>
                        </a:lnSpc>
                        <a:buNone/>
                      </a:pPr>
                      <a:r>
                        <a:rPr lang="en-US" sz="1300" b="1" dirty="0">
                          <a:solidFill>
                            <a:srgbClr val="14141C"/>
                          </a:solidFill>
                          <a:latin typeface="Helvetica Neue"/>
                        </a:rPr>
                        <a:t>Bank</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r">
                        <a:lnSpc>
                          <a:spcPts val="1820"/>
                        </a:lnSpc>
                        <a:buNone/>
                      </a:pPr>
                      <a:r>
                        <a:rPr lang="en-US" sz="1300" b="1" dirty="0">
                          <a:solidFill>
                            <a:srgbClr val="14141C"/>
                          </a:solidFill>
                          <a:latin typeface="Helvetica Neue"/>
                        </a:rPr>
                        <a:t>2021–22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r">
                        <a:lnSpc>
                          <a:spcPts val="1820"/>
                        </a:lnSpc>
                        <a:buNone/>
                      </a:pPr>
                      <a:r>
                        <a:rPr lang="en-US" sz="1300" b="1" dirty="0">
                          <a:solidFill>
                            <a:srgbClr val="14141C"/>
                          </a:solidFill>
                          <a:latin typeface="Helvetica Neue"/>
                        </a:rPr>
                        <a:t>2025–26</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r">
                        <a:lnSpc>
                          <a:spcPts val="1820"/>
                        </a:lnSpc>
                        <a:buNone/>
                      </a:pPr>
                      <a:r>
                        <a:rPr lang="en-US" sz="1300" b="1" dirty="0">
                          <a:solidFill>
                            <a:srgbClr val="14141C"/>
                          </a:solidFill>
                          <a:latin typeface="Helvetica Neue"/>
                        </a:rPr>
                        <a:t>Change</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l">
                        <a:lnSpc>
                          <a:spcPts val="1820"/>
                        </a:lnSpc>
                        <a:buNone/>
                      </a:pPr>
                      <a:r>
                        <a:rPr lang="en-US" sz="1300" b="1" dirty="0">
                          <a:solidFill>
                            <a:srgbClr val="14141C"/>
                          </a:solidFill>
                          <a:latin typeface="Helvetica Neue"/>
                        </a:rPr>
                        <a:t>Direction</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l">
                        <a:lnSpc>
                          <a:spcPts val="1820"/>
                        </a:lnSpc>
                        <a:buNone/>
                      </a:pPr>
                      <a:r>
                        <a:rPr lang="en-US" sz="1300" b="1" dirty="0">
                          <a:solidFill>
                            <a:srgbClr val="14141C"/>
                          </a:solidFill>
                          <a:latin typeface="Helvetica Neue"/>
                        </a:rPr>
                        <a:t>Selected as</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extLst>
                  <a:ext uri="{0D108BD9-81ED-4DB2-BD59-A6C34878D82A}">
                    <a16:rowId xmlns:a16="http://schemas.microsoft.com/office/drawing/2014/main" val="10000"/>
                  </a:ext>
                </a:extLst>
              </a:tr>
              <a:tr h="359271">
                <a:tc>
                  <a:txBody>
                    <a:bodyPr/>
                    <a:lstStyle/>
                    <a:p>
                      <a:pPr marL="0" indent="0" algn="l">
                        <a:lnSpc>
                          <a:spcPts val="1820"/>
                        </a:lnSpc>
                        <a:buNone/>
                      </a:pPr>
                      <a:r>
                        <a:rPr lang="en-US" sz="1300" b="0" dirty="0">
                          <a:solidFill>
                            <a:srgbClr val="14141C"/>
                          </a:solidFill>
                          <a:latin typeface="Helvetica Neue"/>
                        </a:rPr>
                        <a:t>KBC</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21.75%</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20.13%</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−1.62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0" dirty="0">
                          <a:solidFill>
                            <a:srgbClr val="14141C"/>
                          </a:solidFill>
                          <a:latin typeface="Helvetica Neue"/>
                        </a:rPr>
                        <a:t>Down −2.8%/yr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1" dirty="0">
                          <a:solidFill>
                            <a:srgbClr val="FF6200"/>
                          </a:solidFill>
                          <a:latin typeface="Helvetica Neue"/>
                        </a:rPr>
                        <a:t>Largest traditional share</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extLst>
                  <a:ext uri="{0D108BD9-81ED-4DB2-BD59-A6C34878D82A}">
                    <a16:rowId xmlns:a16="http://schemas.microsoft.com/office/drawing/2014/main" val="10001"/>
                  </a:ext>
                </a:extLst>
              </a:tr>
              <a:tr h="359271">
                <a:tc>
                  <a:txBody>
                    <a:bodyPr/>
                    <a:lstStyle/>
                    <a:p>
                      <a:pPr marL="0" indent="0" algn="l">
                        <a:lnSpc>
                          <a:spcPts val="1820"/>
                        </a:lnSpc>
                        <a:buNone/>
                      </a:pPr>
                      <a:r>
                        <a:rPr lang="en-US" sz="1300" b="0" dirty="0">
                          <a:solidFill>
                            <a:srgbClr val="14141C"/>
                          </a:solidFill>
                          <a:latin typeface="Helvetica Neue"/>
                        </a:rPr>
                        <a:t>Belfius</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18.21%</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18.79%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+0.58</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Flat +0.9%/yr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gn="l">
                        <a:lnSpc>
                          <a:spcPts val="1820"/>
                        </a:lnSpc>
                        <a:buNone/>
                      </a:pPr>
                      <a:r>
                        <a:rPr lang="en-US" sz="1300" b="0" dirty="0">
                          <a:solidFill>
                            <a:srgbClr val="14141C"/>
                          </a:solidFill>
                          <a:latin typeface="Helvetica Neue"/>
                        </a:rPr>
                        <a:t>ING</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19.28%</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16.79%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−2.49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Down −3.7%/yr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FF6200"/>
                          </a:solidFill>
                          <a:latin typeface="Helvetica Neue"/>
                        </a:rPr>
                        <a:t>Subject of the study</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gn="l">
                        <a:lnSpc>
                          <a:spcPts val="1820"/>
                        </a:lnSpc>
                        <a:buNone/>
                      </a:pPr>
                      <a:r>
                        <a:rPr lang="en-US" sz="1300" b="0" dirty="0">
                          <a:solidFill>
                            <a:srgbClr val="14141C"/>
                          </a:solidFill>
                          <a:latin typeface="Helvetica Neue"/>
                        </a:rPr>
                        <a:t>BNP Paribas Fortis</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17.99%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13.60%</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−4.39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Down −6.2%/yr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gn="l">
                        <a:lnSpc>
                          <a:spcPts val="1820"/>
                        </a:lnSpc>
                        <a:buNone/>
                      </a:pPr>
                      <a:r>
                        <a:rPr lang="en-US" sz="1300" b="0" dirty="0">
                          <a:solidFill>
                            <a:srgbClr val="14141C"/>
                          </a:solidFill>
                          <a:latin typeface="Helvetica Neue"/>
                        </a:rPr>
                        <a:t>Argenta</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8.32%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9.42%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+1.10</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Flat +2.0%/yr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gn="l">
                        <a:lnSpc>
                          <a:spcPts val="1820"/>
                        </a:lnSpc>
                        <a:buNone/>
                      </a:pPr>
                      <a:r>
                        <a:rPr lang="en-US" sz="1300" b="0" dirty="0">
                          <a:solidFill>
                            <a:srgbClr val="14141C"/>
                          </a:solidFill>
                          <a:latin typeface="Helvetica Neue"/>
                        </a:rPr>
                        <a:t>Crelan</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5.12%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8.96%</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+3.84</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0" dirty="0">
                          <a:solidFill>
                            <a:srgbClr val="14141C"/>
                          </a:solidFill>
                          <a:latin typeface="Helvetica Neue"/>
                        </a:rPr>
                        <a:t>Up +16.4%/yr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1" dirty="0">
                          <a:solidFill>
                            <a:srgbClr val="FF6200"/>
                          </a:solidFill>
                          <a:latin typeface="Helvetica Neue"/>
                        </a:rPr>
                        <a:t>Fastest-rising traditional</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extLst>
                  <a:ext uri="{0D108BD9-81ED-4DB2-BD59-A6C34878D82A}">
                    <a16:rowId xmlns:a16="http://schemas.microsoft.com/office/drawing/2014/main" val="10006"/>
                  </a:ext>
                </a:extLst>
              </a:tr>
              <a:tr h="359271">
                <a:tc>
                  <a:txBody>
                    <a:bodyPr/>
                    <a:lstStyle/>
                    <a:p>
                      <a:pPr marL="0" indent="0" algn="l">
                        <a:lnSpc>
                          <a:spcPts val="1820"/>
                        </a:lnSpc>
                        <a:buNone/>
                      </a:pPr>
                      <a:r>
                        <a:rPr lang="en-US" sz="1300" b="0" dirty="0">
                          <a:solidFill>
                            <a:srgbClr val="14141C"/>
                          </a:solidFill>
                          <a:latin typeface="Helvetica Neue"/>
                        </a:rPr>
                        <a:t>Beobank †</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4.38%</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4.34%</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−0.04</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Flat −1.3%/yr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gn="l">
                        <a:lnSpc>
                          <a:spcPts val="1820"/>
                        </a:lnSpc>
                        <a:buNone/>
                      </a:pPr>
                      <a:r>
                        <a:rPr lang="en-US" sz="1300" b="0" dirty="0">
                          <a:solidFill>
                            <a:srgbClr val="14141C"/>
                          </a:solidFill>
                          <a:latin typeface="Helvetica Neue"/>
                        </a:rPr>
                        <a:t>Revolut</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0.59%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3.22%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+2.63</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0" dirty="0">
                          <a:solidFill>
                            <a:srgbClr val="14141C"/>
                          </a:solidFill>
                          <a:latin typeface="Helvetica Neue"/>
                        </a:rPr>
                        <a:t>Up +37.8%/yr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1" dirty="0">
                          <a:solidFill>
                            <a:srgbClr val="FF6200"/>
                          </a:solidFill>
                          <a:latin typeface="Helvetica Neue"/>
                        </a:rPr>
                        <a:t>Measurable challenger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extLst>
                  <a:ext uri="{0D108BD9-81ED-4DB2-BD59-A6C34878D82A}">
                    <a16:rowId xmlns:a16="http://schemas.microsoft.com/office/drawing/2014/main" val="10008"/>
                  </a:ext>
                </a:extLst>
              </a:tr>
            </a:tbl>
          </a:graphicData>
        </a:graphic>
      </p:graphicFrame>
      <p:sp>
        <p:nvSpPr>
          <p:cNvPr id="5"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Share per 52-week period · flat = within ±2%/yr, a convention, not a test · † direction flips without the first period</a:t>
            </a:r>
          </a:p>
        </p:txBody>
      </p:sp>
      <p:sp>
        <p:nvSpPr>
          <p:cNvPr id="6"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7"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What ING’s pages do that theirs don’t</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p:cNvSpPr txBox="1"/>
          <p:nvPr/>
        </p:nvSpPr>
        <p:spPr>
          <a:xfrm>
            <a:off x="685800" y="1325880"/>
            <a:ext cx="24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a:t>
            </a:r>
            <a:r>
              <a:rPr sz="1200" b="0">
                <a:solidFill>
                  <a:srgbClr val="585868"/>
                </a:solidFill>
                <a:latin typeface="Helvetica Neue"/>
              </a:rPr>
              <a:t> Mean of KBC, Crelan, Revolut</a:t>
            </a:r>
          </a:p>
        </p:txBody>
      </p:sp>
      <p:sp>
        <p:nvSpPr>
          <p:cNvPr id="5" name="TextBox"/>
          <p:cNvSpPr txBox="1"/>
          <p:nvPr/>
        </p:nvSpPr>
        <p:spPr>
          <a:xfrm>
            <a:off x="3423000" y="1325880"/>
            <a:ext cx="550000" cy="238720"/>
          </a:xfrm>
          <a:prstGeom prst="rect">
            <a:avLst/>
          </a:prstGeom>
          <a:noFill/>
        </p:spPr>
        <p:txBody>
          <a:bodyPr wrap="none">
            <a:spAutoFit/>
          </a:bodyPr>
          <a:lstStyle/>
          <a:p>
            <a:pPr algn="l">
              <a:lnSpc>
                <a:spcPct val="105000"/>
              </a:lnSpc>
              <a:spcAft>
                <a:spcPts val="0"/>
              </a:spcAft>
            </a:pPr>
            <a:r>
              <a:rPr sz="1200" b="0">
                <a:solidFill>
                  <a:srgbClr val="FF6200"/>
                </a:solidFill>
                <a:latin typeface="Helvetica Neue"/>
              </a:rPr>
              <a:t>●</a:t>
            </a:r>
            <a:r>
              <a:rPr sz="1200" b="0">
                <a:solidFill>
                  <a:srgbClr val="585868"/>
                </a:solidFill>
                <a:latin typeface="Helvetica Neue"/>
              </a:rPr>
              <a:t> ING</a:t>
            </a:r>
          </a:p>
        </p:txBody>
      </p:sp>
      <p:sp>
        <p:nvSpPr>
          <p:cNvPr id="6" name="TextBox"/>
          <p:cNvSpPr txBox="1"/>
          <p:nvPr/>
        </p:nvSpPr>
        <p:spPr>
          <a:xfrm>
            <a:off x="4123000" y="1325880"/>
            <a:ext cx="2878127" cy="238720"/>
          </a:xfrm>
          <a:prstGeom prst="rect">
            <a:avLst/>
          </a:prstGeom>
          <a:noFill/>
        </p:spPr>
        <p:txBody>
          <a:bodyPr wrap="none">
            <a:spAutoFit/>
          </a:bodyPr>
          <a:lstStyle/>
          <a:p>
            <a:pPr algn="l">
              <a:lnSpc>
                <a:spcPct val="105000"/>
              </a:lnSpc>
              <a:spcAft>
                <a:spcPts val="0"/>
              </a:spcAft>
            </a:pPr>
            <a:r>
              <a:rPr sz="1200" b="0">
                <a:solidFill>
                  <a:srgbClr val="585868"/>
                </a:solidFill>
                <a:latin typeface="Helvetica Neue"/>
              </a:rPr>
              <a:t>Vertical tick = market average (z-score 0)</a:t>
            </a:r>
          </a:p>
        </p:txBody>
      </p:sp>
      <p:sp>
        <p:nvSpPr>
          <p:cNvPr id="7" name="TextBox"/>
          <p:cNvSpPr txBox="1"/>
          <p:nvPr/>
        </p:nvSpPr>
        <p:spPr>
          <a:xfrm>
            <a:off x="685800" y="1846580"/>
            <a:ext cx="2747010" cy="27424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Deadline language</a:t>
            </a:r>
          </a:p>
        </p:txBody>
      </p:sp>
      <p:sp>
        <p:nvSpPr>
          <p:cNvPr id="8" name="Rect"/>
          <p:cNvSpPr/>
          <p:nvPr/>
        </p:nvSpPr>
        <p:spPr>
          <a:xfrm>
            <a:off x="3606800" y="1964651"/>
            <a:ext cx="4826000" cy="12700"/>
          </a:xfrm>
          <a:prstGeom prst="rect">
            <a:avLst/>
          </a:prstGeom>
          <a:solidFill>
            <a:srgbClr val="D8D8E0"/>
          </a:solidFill>
          <a:ln>
            <a:noFill/>
          </a:ln>
        </p:spPr>
        <p:txBody>
          <a:bodyPr/>
          <a:lstStyle/>
          <a:p>
            <a:endParaRPr/>
          </a:p>
        </p:txBody>
      </p:sp>
      <p:sp>
        <p:nvSpPr>
          <p:cNvPr id="9" name="Rect"/>
          <p:cNvSpPr/>
          <p:nvPr/>
        </p:nvSpPr>
        <p:spPr>
          <a:xfrm>
            <a:off x="4978400" y="1844001"/>
            <a:ext cx="12700" cy="254000"/>
          </a:xfrm>
          <a:prstGeom prst="rect">
            <a:avLst/>
          </a:prstGeom>
          <a:solidFill>
            <a:srgbClr val="A8A8B8"/>
          </a:solidFill>
          <a:ln>
            <a:noFill/>
          </a:ln>
        </p:spPr>
        <p:txBody>
          <a:bodyPr/>
          <a:lstStyle/>
          <a:p>
            <a:endParaRPr/>
          </a:p>
        </p:txBody>
      </p:sp>
      <p:sp>
        <p:nvSpPr>
          <p:cNvPr id="10" name="Oval"/>
          <p:cNvSpPr/>
          <p:nvPr/>
        </p:nvSpPr>
        <p:spPr>
          <a:xfrm>
            <a:off x="8254999" y="1882101"/>
            <a:ext cx="177800" cy="177800"/>
          </a:xfrm>
          <a:prstGeom prst="ellipse">
            <a:avLst/>
          </a:prstGeom>
          <a:solidFill>
            <a:srgbClr val="FF6200"/>
          </a:solidFill>
          <a:ln>
            <a:noFill/>
          </a:ln>
        </p:spPr>
        <p:txBody>
          <a:bodyPr/>
          <a:lstStyle/>
          <a:p>
            <a:endParaRPr/>
          </a:p>
        </p:txBody>
      </p:sp>
      <p:sp>
        <p:nvSpPr>
          <p:cNvPr id="11" name="Oval"/>
          <p:cNvSpPr/>
          <p:nvPr/>
        </p:nvSpPr>
        <p:spPr>
          <a:xfrm>
            <a:off x="4431146" y="1882101"/>
            <a:ext cx="177800" cy="177800"/>
          </a:xfrm>
          <a:prstGeom prst="ellipse">
            <a:avLst/>
          </a:prstGeom>
          <a:solidFill>
            <a:srgbClr val="14141C"/>
          </a:solidFill>
          <a:ln>
            <a:noFill/>
          </a:ln>
        </p:spPr>
        <p:txBody>
          <a:bodyPr/>
          <a:lstStyle/>
          <a:p>
            <a:endParaRPr/>
          </a:p>
        </p:txBody>
      </p:sp>
      <p:sp>
        <p:nvSpPr>
          <p:cNvPr id="12" name="TextBox"/>
          <p:cNvSpPr txBox="1"/>
          <p:nvPr/>
        </p:nvSpPr>
        <p:spPr>
          <a:xfrm>
            <a:off x="8686800" y="1864341"/>
            <a:ext cx="15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−0.35 vs </a:t>
            </a:r>
            <a:r>
              <a:rPr sz="1200" b="0">
                <a:solidFill>
                  <a:srgbClr val="FF6200"/>
                </a:solidFill>
                <a:latin typeface="Helvetica Neue"/>
              </a:rPr>
              <a:t>+2.53</a:t>
            </a:r>
          </a:p>
        </p:txBody>
      </p:sp>
      <p:sp>
        <p:nvSpPr>
          <p:cNvPr id="13" name="TextBox"/>
          <p:cNvSpPr txBox="1"/>
          <p:nvPr/>
        </p:nvSpPr>
        <p:spPr>
          <a:xfrm>
            <a:off x="685800" y="2379980"/>
            <a:ext cx="2747010" cy="27424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Clarity of the offer</a:t>
            </a:r>
          </a:p>
        </p:txBody>
      </p:sp>
      <p:sp>
        <p:nvSpPr>
          <p:cNvPr id="14" name="Rect"/>
          <p:cNvSpPr/>
          <p:nvPr/>
        </p:nvSpPr>
        <p:spPr>
          <a:xfrm>
            <a:off x="3606800" y="2498051"/>
            <a:ext cx="4826000" cy="12700"/>
          </a:xfrm>
          <a:prstGeom prst="rect">
            <a:avLst/>
          </a:prstGeom>
          <a:solidFill>
            <a:srgbClr val="D8D8E0"/>
          </a:solidFill>
          <a:ln>
            <a:noFill/>
          </a:ln>
        </p:spPr>
        <p:txBody>
          <a:bodyPr/>
          <a:lstStyle/>
          <a:p>
            <a:endParaRPr/>
          </a:p>
        </p:txBody>
      </p:sp>
      <p:sp>
        <p:nvSpPr>
          <p:cNvPr id="15" name="Rect"/>
          <p:cNvSpPr/>
          <p:nvPr/>
        </p:nvSpPr>
        <p:spPr>
          <a:xfrm>
            <a:off x="4978400" y="2377401"/>
            <a:ext cx="12700" cy="254000"/>
          </a:xfrm>
          <a:prstGeom prst="rect">
            <a:avLst/>
          </a:prstGeom>
          <a:solidFill>
            <a:srgbClr val="A8A8B8"/>
          </a:solidFill>
          <a:ln>
            <a:noFill/>
          </a:ln>
        </p:spPr>
        <p:txBody>
          <a:bodyPr/>
          <a:lstStyle/>
          <a:p>
            <a:endParaRPr/>
          </a:p>
        </p:txBody>
      </p:sp>
      <p:sp>
        <p:nvSpPr>
          <p:cNvPr id="16" name="Oval"/>
          <p:cNvSpPr/>
          <p:nvPr/>
        </p:nvSpPr>
        <p:spPr>
          <a:xfrm>
            <a:off x="6528954" y="2415501"/>
            <a:ext cx="177800" cy="177800"/>
          </a:xfrm>
          <a:prstGeom prst="ellipse">
            <a:avLst/>
          </a:prstGeom>
          <a:solidFill>
            <a:srgbClr val="FF6200"/>
          </a:solidFill>
          <a:ln>
            <a:noFill/>
          </a:ln>
        </p:spPr>
        <p:txBody>
          <a:bodyPr/>
          <a:lstStyle/>
          <a:p>
            <a:endParaRPr/>
          </a:p>
        </p:txBody>
      </p:sp>
      <p:sp>
        <p:nvSpPr>
          <p:cNvPr id="17" name="Oval"/>
          <p:cNvSpPr/>
          <p:nvPr/>
        </p:nvSpPr>
        <p:spPr>
          <a:xfrm>
            <a:off x="5201227" y="2415501"/>
            <a:ext cx="177800" cy="177800"/>
          </a:xfrm>
          <a:prstGeom prst="ellipse">
            <a:avLst/>
          </a:prstGeom>
          <a:solidFill>
            <a:srgbClr val="14141C"/>
          </a:solidFill>
          <a:ln>
            <a:noFill/>
          </a:ln>
        </p:spPr>
        <p:txBody>
          <a:bodyPr/>
          <a:lstStyle/>
          <a:p>
            <a:endParaRPr/>
          </a:p>
        </p:txBody>
      </p:sp>
      <p:sp>
        <p:nvSpPr>
          <p:cNvPr id="18" name="TextBox"/>
          <p:cNvSpPr txBox="1"/>
          <p:nvPr/>
        </p:nvSpPr>
        <p:spPr>
          <a:xfrm>
            <a:off x="8686800" y="2397741"/>
            <a:ext cx="15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+0.23 vs </a:t>
            </a:r>
            <a:r>
              <a:rPr sz="1200" b="0">
                <a:solidFill>
                  <a:srgbClr val="FF6200"/>
                </a:solidFill>
                <a:latin typeface="Helvetica Neue"/>
              </a:rPr>
              <a:t>+1.23</a:t>
            </a:r>
          </a:p>
        </p:txBody>
      </p:sp>
      <p:sp>
        <p:nvSpPr>
          <p:cNvPr id="19" name="TextBox"/>
          <p:cNvSpPr txBox="1"/>
          <p:nvPr/>
        </p:nvSpPr>
        <p:spPr>
          <a:xfrm>
            <a:off x="685800" y="2913380"/>
            <a:ext cx="2747010" cy="27424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Page length</a:t>
            </a:r>
          </a:p>
        </p:txBody>
      </p:sp>
      <p:sp>
        <p:nvSpPr>
          <p:cNvPr id="20" name="Rect"/>
          <p:cNvSpPr/>
          <p:nvPr/>
        </p:nvSpPr>
        <p:spPr>
          <a:xfrm>
            <a:off x="3606800" y="3031451"/>
            <a:ext cx="4826000" cy="12700"/>
          </a:xfrm>
          <a:prstGeom prst="rect">
            <a:avLst/>
          </a:prstGeom>
          <a:solidFill>
            <a:srgbClr val="D8D8E0"/>
          </a:solidFill>
          <a:ln>
            <a:noFill/>
          </a:ln>
        </p:spPr>
        <p:txBody>
          <a:bodyPr/>
          <a:lstStyle/>
          <a:p>
            <a:endParaRPr/>
          </a:p>
        </p:txBody>
      </p:sp>
      <p:sp>
        <p:nvSpPr>
          <p:cNvPr id="21" name="Rect"/>
          <p:cNvSpPr/>
          <p:nvPr/>
        </p:nvSpPr>
        <p:spPr>
          <a:xfrm>
            <a:off x="4978400" y="2910801"/>
            <a:ext cx="12700" cy="254000"/>
          </a:xfrm>
          <a:prstGeom prst="rect">
            <a:avLst/>
          </a:prstGeom>
          <a:solidFill>
            <a:srgbClr val="A8A8B8"/>
          </a:solidFill>
          <a:ln>
            <a:noFill/>
          </a:ln>
        </p:spPr>
        <p:txBody>
          <a:bodyPr/>
          <a:lstStyle/>
          <a:p>
            <a:endParaRPr/>
          </a:p>
        </p:txBody>
      </p:sp>
      <p:sp>
        <p:nvSpPr>
          <p:cNvPr id="22" name="Oval"/>
          <p:cNvSpPr/>
          <p:nvPr/>
        </p:nvSpPr>
        <p:spPr>
          <a:xfrm>
            <a:off x="6595341" y="2948901"/>
            <a:ext cx="177800" cy="177800"/>
          </a:xfrm>
          <a:prstGeom prst="ellipse">
            <a:avLst/>
          </a:prstGeom>
          <a:solidFill>
            <a:srgbClr val="FF6200"/>
          </a:solidFill>
          <a:ln>
            <a:noFill/>
          </a:ln>
        </p:spPr>
        <p:txBody>
          <a:bodyPr/>
          <a:lstStyle/>
          <a:p>
            <a:endParaRPr/>
          </a:p>
        </p:txBody>
      </p:sp>
      <p:sp>
        <p:nvSpPr>
          <p:cNvPr id="23" name="Oval"/>
          <p:cNvSpPr/>
          <p:nvPr/>
        </p:nvSpPr>
        <p:spPr>
          <a:xfrm>
            <a:off x="4006273" y="2948901"/>
            <a:ext cx="177800" cy="177800"/>
          </a:xfrm>
          <a:prstGeom prst="ellipse">
            <a:avLst/>
          </a:prstGeom>
          <a:solidFill>
            <a:srgbClr val="14141C"/>
          </a:solidFill>
          <a:ln>
            <a:noFill/>
          </a:ln>
        </p:spPr>
        <p:txBody>
          <a:bodyPr/>
          <a:lstStyle/>
          <a:p>
            <a:endParaRPr/>
          </a:p>
        </p:txBody>
      </p:sp>
      <p:sp>
        <p:nvSpPr>
          <p:cNvPr id="24" name="TextBox"/>
          <p:cNvSpPr txBox="1"/>
          <p:nvPr/>
        </p:nvSpPr>
        <p:spPr>
          <a:xfrm>
            <a:off x="8686800" y="2931141"/>
            <a:ext cx="15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−0.67 vs </a:t>
            </a:r>
            <a:r>
              <a:rPr sz="1200" b="0">
                <a:solidFill>
                  <a:srgbClr val="FF6200"/>
                </a:solidFill>
                <a:latin typeface="Helvetica Neue"/>
              </a:rPr>
              <a:t>+1.28</a:t>
            </a:r>
          </a:p>
        </p:txBody>
      </p:sp>
      <p:sp>
        <p:nvSpPr>
          <p:cNvPr id="25" name="RoundRect"/>
          <p:cNvSpPr/>
          <p:nvPr/>
        </p:nvSpPr>
        <p:spPr>
          <a:xfrm>
            <a:off x="685800" y="3469601"/>
            <a:ext cx="10566400" cy="1150000"/>
          </a:xfrm>
          <a:prstGeom prst="roundRect">
            <a:avLst>
              <a:gd name="adj" fmla="val 2791"/>
            </a:avLst>
          </a:prstGeom>
          <a:solidFill>
            <a:srgbClr val="F7F7F9"/>
          </a:solidFill>
          <a:ln w="6350">
            <a:solidFill>
              <a:srgbClr val="D8D8E0"/>
            </a:solidFill>
            <a:prstDash val="solid"/>
          </a:ln>
        </p:spPr>
        <p:txBody>
          <a:bodyPr/>
          <a:lstStyle/>
          <a:p>
            <a:endParaRPr/>
          </a:p>
        </p:txBody>
      </p:sp>
      <p:sp>
        <p:nvSpPr>
          <p:cNvPr id="26" name="TextBox"/>
          <p:cNvSpPr txBox="1"/>
          <p:nvPr/>
        </p:nvSpPr>
        <p:spPr>
          <a:xfrm>
            <a:off x="958850" y="3672801"/>
            <a:ext cx="10020300" cy="448056"/>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Selected on search attention alone. </a:t>
            </a:r>
            <a:r>
              <a:rPr sz="1400" b="0">
                <a:solidFill>
                  <a:srgbClr val="14141C"/>
                </a:solidFill>
                <a:latin typeface="Helvetica Neue"/>
              </a:rPr>
              <a:t>The three brands search attention picks out do the opposite of ING here — this is not why they are searched for.</a:t>
            </a:r>
          </a:p>
        </p:txBody>
      </p:sp>
      <p:sp>
        <p:nvSpPr>
          <p:cNvPr id="27" name="TextBox"/>
          <p:cNvSpPr txBox="1"/>
          <p:nvPr/>
        </p:nvSpPr>
        <p:spPr>
          <a:xfrm>
            <a:off x="958850" y="4272801"/>
            <a:ext cx="1002030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Pages measured: KBC 3 · Crelan 1 · Revolut 1. Beyond these three choices the brands diverge: no single recipe.</a:t>
            </a:r>
          </a:p>
        </p:txBody>
      </p:sp>
      <p:sp>
        <p:nvSpPr>
          <p:cNvPr id="28"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z-scores over the comparable page-feature set · today’s pages, not the pages of 2021–2025</a:t>
            </a:r>
          </a:p>
        </p:txBody>
      </p:sp>
      <p:sp>
        <p:nvSpPr>
          <p:cNvPr id="29"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30"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Why challengers look small in search</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p:cNvSpPr txBox="1"/>
          <p:nvPr/>
        </p:nvSpPr>
        <p:spPr>
          <a:xfrm>
            <a:off x="685800" y="1325880"/>
            <a:ext cx="3921643" cy="695920"/>
          </a:xfrm>
          <a:prstGeom prst="rect">
            <a:avLst/>
          </a:prstGeom>
          <a:noFill/>
        </p:spPr>
        <p:txBody>
          <a:bodyPr wrap="none">
            <a:spAutoFit/>
          </a:bodyPr>
          <a:lstStyle/>
          <a:p>
            <a:pPr algn="l">
              <a:lnSpc>
                <a:spcPct val="105000"/>
              </a:lnSpc>
              <a:spcAft>
                <a:spcPts val="0"/>
              </a:spcAft>
            </a:pPr>
            <a:r>
              <a:rPr sz="4800" b="0">
                <a:solidFill>
                  <a:srgbClr val="14141C"/>
                </a:solidFill>
                <a:latin typeface="Helvetica Neue"/>
              </a:rPr>
              <a:t>&gt; 1M</a:t>
            </a:r>
          </a:p>
        </p:txBody>
      </p:sp>
      <p:sp>
        <p:nvSpPr>
          <p:cNvPr id="5" name="TextBox"/>
          <p:cNvSpPr txBox="1"/>
          <p:nvPr/>
        </p:nvSpPr>
        <p:spPr>
          <a:xfrm>
            <a:off x="685800" y="2021801"/>
            <a:ext cx="3921643"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Revolut private customers in Belgium, +~25,000/month</a:t>
            </a:r>
          </a:p>
        </p:txBody>
      </p:sp>
      <p:sp>
        <p:nvSpPr>
          <p:cNvPr id="6" name="TextBox"/>
          <p:cNvSpPr txBox="1"/>
          <p:nvPr/>
        </p:nvSpPr>
        <p:spPr>
          <a:xfrm>
            <a:off x="4899620" y="1960880"/>
            <a:ext cx="400000" cy="299641"/>
          </a:xfrm>
          <a:prstGeom prst="rect">
            <a:avLst/>
          </a:prstGeom>
          <a:noFill/>
        </p:spPr>
        <p:txBody>
          <a:bodyPr wrap="none">
            <a:spAutoFit/>
          </a:bodyPr>
          <a:lstStyle/>
          <a:p>
            <a:pPr algn="l">
              <a:lnSpc>
                <a:spcPct val="105000"/>
              </a:lnSpc>
              <a:spcAft>
                <a:spcPts val="0"/>
              </a:spcAft>
            </a:pPr>
            <a:r>
              <a:rPr sz="1800" b="0">
                <a:solidFill>
                  <a:srgbClr val="585868"/>
                </a:solidFill>
                <a:latin typeface="Helvetica Neue"/>
              </a:rPr>
              <a:t>vs</a:t>
            </a:r>
          </a:p>
        </p:txBody>
      </p:sp>
      <p:sp>
        <p:nvSpPr>
          <p:cNvPr id="7" name="TextBox"/>
          <p:cNvSpPr txBox="1"/>
          <p:nvPr/>
        </p:nvSpPr>
        <p:spPr>
          <a:xfrm>
            <a:off x="5529858" y="1325880"/>
            <a:ext cx="1883664" cy="695920"/>
          </a:xfrm>
          <a:prstGeom prst="rect">
            <a:avLst/>
          </a:prstGeom>
          <a:noFill/>
        </p:spPr>
        <p:txBody>
          <a:bodyPr wrap="none">
            <a:spAutoFit/>
          </a:bodyPr>
          <a:lstStyle/>
          <a:p>
            <a:pPr algn="l">
              <a:lnSpc>
                <a:spcPct val="105000"/>
              </a:lnSpc>
              <a:spcAft>
                <a:spcPts val="0"/>
              </a:spcAft>
            </a:pPr>
            <a:r>
              <a:rPr sz="4800" b="0">
                <a:solidFill>
                  <a:srgbClr val="14141C"/>
                </a:solidFill>
                <a:latin typeface="Helvetica Neue"/>
              </a:rPr>
              <a:t>1.64%</a:t>
            </a:r>
          </a:p>
        </p:txBody>
      </p:sp>
      <p:sp>
        <p:nvSpPr>
          <p:cNvPr id="8" name="TextBox"/>
          <p:cNvSpPr txBox="1"/>
          <p:nvPr/>
        </p:nvSpPr>
        <p:spPr>
          <a:xfrm>
            <a:off x="5529858" y="2021801"/>
            <a:ext cx="3248382" cy="272832"/>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of brand search, 9th of 14</a:t>
            </a:r>
          </a:p>
        </p:txBody>
      </p:sp>
      <p:sp>
        <p:nvSpPr>
          <p:cNvPr id="9" name="RoundRect"/>
          <p:cNvSpPr/>
          <p:nvPr/>
        </p:nvSpPr>
        <p:spPr>
          <a:xfrm>
            <a:off x="688975" y="2492296"/>
            <a:ext cx="3380284" cy="1758553"/>
          </a:xfrm>
          <a:prstGeom prst="roundRect">
            <a:avLst>
              <a:gd name="adj" fmla="val 2791"/>
            </a:avLst>
          </a:prstGeom>
          <a:solidFill>
            <a:srgbClr val="F7F7F9"/>
          </a:solidFill>
          <a:ln w="6350">
            <a:solidFill>
              <a:srgbClr val="D8D8E0"/>
            </a:solidFill>
            <a:prstDash val="solid"/>
          </a:ln>
        </p:spPr>
        <p:txBody>
          <a:bodyPr/>
          <a:lstStyle/>
          <a:p>
            <a:endParaRPr/>
          </a:p>
        </p:txBody>
      </p:sp>
      <p:sp>
        <p:nvSpPr>
          <p:cNvPr id="10" name="TextBox"/>
          <p:cNvSpPr txBox="1"/>
          <p:nvPr/>
        </p:nvSpPr>
        <p:spPr>
          <a:xfrm>
            <a:off x="895350" y="2698671"/>
            <a:ext cx="3056560"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Navigational searches</a:t>
            </a:r>
          </a:p>
        </p:txBody>
      </p:sp>
      <p:sp>
        <p:nvSpPr>
          <p:cNvPr id="11" name="TextBox"/>
          <p:cNvSpPr txBox="1"/>
          <p:nvPr/>
        </p:nvSpPr>
        <p:spPr>
          <a:xfrm>
            <a:off x="895350" y="3049112"/>
            <a:ext cx="3056560" cy="771922"/>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Incumbent searches include logins, branches, opening hours. A working hypothesis, not verified at query level.</a:t>
            </a:r>
          </a:p>
        </p:txBody>
      </p:sp>
      <p:sp>
        <p:nvSpPr>
          <p:cNvPr id="12" name="RoundRect"/>
          <p:cNvSpPr/>
          <p:nvPr/>
        </p:nvSpPr>
        <p:spPr>
          <a:xfrm>
            <a:off x="4278809" y="2492296"/>
            <a:ext cx="3380284" cy="1758553"/>
          </a:xfrm>
          <a:prstGeom prst="roundRect">
            <a:avLst>
              <a:gd name="adj" fmla="val 2791"/>
            </a:avLst>
          </a:prstGeom>
          <a:solidFill>
            <a:srgbClr val="F7F7F9"/>
          </a:solidFill>
          <a:ln w="6350">
            <a:solidFill>
              <a:srgbClr val="D8D8E0"/>
            </a:solidFill>
            <a:prstDash val="solid"/>
          </a:ln>
        </p:spPr>
        <p:txBody>
          <a:bodyPr/>
          <a:lstStyle/>
          <a:p>
            <a:endParaRPr/>
          </a:p>
        </p:txBody>
      </p:sp>
      <p:sp>
        <p:nvSpPr>
          <p:cNvPr id="13" name="TextBox"/>
          <p:cNvSpPr txBox="1"/>
          <p:nvPr/>
        </p:nvSpPr>
        <p:spPr>
          <a:xfrm>
            <a:off x="4485184" y="2698671"/>
            <a:ext cx="3056560"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App-first journeys</a:t>
            </a:r>
          </a:p>
        </p:txBody>
      </p:sp>
      <p:sp>
        <p:nvSpPr>
          <p:cNvPr id="14" name="TextBox"/>
          <p:cNvSpPr txBox="1"/>
          <p:nvPr/>
        </p:nvSpPr>
        <p:spPr>
          <a:xfrm>
            <a:off x="4485184" y="3049112"/>
            <a:ext cx="3056560" cy="771922"/>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Sign-up via app stores and referral links, then daily app use without searching the name.</a:t>
            </a:r>
          </a:p>
        </p:txBody>
      </p:sp>
      <p:sp>
        <p:nvSpPr>
          <p:cNvPr id="15" name="RoundRect"/>
          <p:cNvSpPr/>
          <p:nvPr/>
        </p:nvSpPr>
        <p:spPr>
          <a:xfrm>
            <a:off x="7868741" y="2492296"/>
            <a:ext cx="3380284" cy="1758553"/>
          </a:xfrm>
          <a:prstGeom prst="roundRect">
            <a:avLst>
              <a:gd name="adj" fmla="val 2791"/>
            </a:avLst>
          </a:prstGeom>
          <a:solidFill>
            <a:srgbClr val="F7F7F9"/>
          </a:solidFill>
          <a:ln w="6350">
            <a:solidFill>
              <a:srgbClr val="D8D8E0"/>
            </a:solidFill>
            <a:prstDash val="solid"/>
          </a:ln>
        </p:spPr>
        <p:txBody>
          <a:bodyPr/>
          <a:lstStyle/>
          <a:p>
            <a:endParaRPr/>
          </a:p>
        </p:txBody>
      </p:sp>
      <p:sp>
        <p:nvSpPr>
          <p:cNvPr id="16" name="TextBox"/>
          <p:cNvSpPr txBox="1"/>
          <p:nvPr/>
        </p:nvSpPr>
        <p:spPr>
          <a:xfrm>
            <a:off x="8075116" y="2698671"/>
            <a:ext cx="3056560"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Measurement floor</a:t>
            </a:r>
          </a:p>
        </p:txBody>
      </p:sp>
      <p:sp>
        <p:nvSpPr>
          <p:cNvPr id="17" name="TextBox"/>
          <p:cNvSpPr txBox="1"/>
          <p:nvPr/>
        </p:nvSpPr>
        <p:spPr>
          <a:xfrm>
            <a:off x="8075116" y="3049112"/>
            <a:ext cx="3056560" cy="771922"/>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Six brands never clear 10/100 in their own request; their share is partly rounding.</a:t>
            </a:r>
          </a:p>
        </p:txBody>
      </p:sp>
      <p:sp>
        <p:nvSpPr>
          <p:cNvPr id="18" name="TextBox"/>
          <p:cNvSpPr txBox="1"/>
          <p:nvPr/>
        </p:nvSpPr>
        <p:spPr>
          <a:xfrm>
            <a:off x="685800" y="4508024"/>
            <a:ext cx="10883392"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Read challenger shares as a floor on attention, not a customer count.</a:t>
            </a:r>
          </a:p>
        </p:txBody>
      </p:sp>
      <p:sp>
        <p:nvSpPr>
          <p:cNvPr id="19"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Customer figure: Belga News Agency, 11 Mar 2026 (retrieved 21 Sep 2026) · never compared to a market-share figure</a:t>
            </a:r>
          </a:p>
        </p:txBody>
      </p:sp>
      <p:sp>
        <p:nvSpPr>
          <p:cNvPr id="20"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21"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Where each brand is searched from</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Every challenger peaks in Brussels</a:t>
            </a:r>
          </a:p>
          <a:p>
            <a:pPr algn="l">
              <a:lnSpc>
                <a:spcPct val="105000"/>
              </a:lnSpc>
              <a:spcAft>
                <a:spcPts val="1000"/>
              </a:spcAft>
            </a:pPr>
            <a:r>
              <a:rPr sz="1300" b="0">
                <a:solidFill>
                  <a:srgbClr val="585868"/>
                </a:solidFill>
                <a:latin typeface="Helvetica Neue"/>
              </a:rPr>
              <a:t>     Revolut, N26 and bunq all index 100 in Brussels and drop away outside it — N26 to 27 in Flanders, bunq to 29 in Wallonia. Three brands, three different products, one geography.</a:t>
            </a:r>
          </a:p>
          <a:p>
            <a:pPr algn="l">
              <a:lnSpc>
                <a:spcPct val="105000"/>
              </a:lnSpc>
              <a:spcAft>
                <a:spcPts val="200"/>
              </a:spcAft>
            </a:pPr>
            <a:r>
              <a:rPr sz="1500" b="1">
                <a:solidFill>
                  <a:srgbClr val="14141C"/>
                </a:solidFill>
                <a:latin typeface="Helvetica Neue"/>
              </a:rPr>
              <a:t>•  Every incumbent is regional, and predictably so</a:t>
            </a:r>
          </a:p>
          <a:p>
            <a:pPr algn="l">
              <a:lnSpc>
                <a:spcPct val="105000"/>
              </a:lnSpc>
              <a:spcAft>
                <a:spcPts val="1000"/>
              </a:spcAft>
            </a:pPr>
            <a:r>
              <a:rPr sz="1300" b="0">
                <a:solidFill>
                  <a:srgbClr val="585868"/>
                </a:solidFill>
                <a:latin typeface="Helvetica Neue"/>
              </a:rPr>
              <a:t>     KBC indexes 100 in Flanders and 11 in Wallonia; Argenta 100 and 27. Belfius, BNP Paribas Fortis and Crelan all peak in Wallonia. Five of six sit exactly where their history put them, which is the sanity check on this data rather than the finding.</a:t>
            </a:r>
          </a:p>
          <a:p>
            <a:pPr algn="l">
              <a:lnSpc>
                <a:spcPct val="105000"/>
              </a:lnSpc>
              <a:spcAft>
                <a:spcPts val="200"/>
              </a:spcAft>
            </a:pPr>
            <a:r>
              <a:rPr sz="1500" b="1">
                <a:solidFill>
                  <a:srgbClr val="14141C"/>
                </a:solidFill>
                <a:latin typeface="Helvetica Neue"/>
              </a:rPr>
              <a:t>•  ING is the one incumbent that does not</a:t>
            </a:r>
          </a:p>
          <a:p>
            <a:pPr algn="l">
              <a:lnSpc>
                <a:spcPct val="105000"/>
              </a:lnSpc>
              <a:spcAft>
                <a:spcPts val="1000"/>
              </a:spcAft>
            </a:pPr>
            <a:r>
              <a:rPr sz="1300" b="0">
                <a:solidFill>
                  <a:srgbClr val="585868"/>
                </a:solidFill>
                <a:latin typeface="Helvetica Neue"/>
              </a:rPr>
              <a:t>     Brussels 100, Wallonia 98, Flanders 73 — national, with no regional home. On this measure ING behaves like the challengers and unlike the banks it sits with everywhere else in this deck.</a:t>
            </a:r>
          </a:p>
          <a:p>
            <a:pPr algn="l">
              <a:lnSpc>
                <a:spcPct val="105000"/>
              </a:lnSpc>
              <a:spcAft>
                <a:spcPts val="200"/>
              </a:spcAft>
            </a:pPr>
            <a:r>
              <a:rPr sz="1500" b="1">
                <a:solidFill>
                  <a:srgbClr val="14141C"/>
                </a:solidFill>
                <a:latin typeface="Helvetica Neue"/>
              </a:rPr>
              <a:t>•  A second signal pointing the same way, from a different source</a:t>
            </a:r>
          </a:p>
          <a:p>
            <a:pPr algn="l">
              <a:lnSpc>
                <a:spcPct val="105000"/>
              </a:lnSpc>
              <a:spcAft>
                <a:spcPts val="1000"/>
              </a:spcAft>
            </a:pPr>
            <a:r>
              <a:rPr sz="1300" b="0">
                <a:solidFill>
                  <a:srgbClr val="585868"/>
                </a:solidFill>
                <a:latin typeface="Helvetica Neue"/>
              </a:rPr>
              <a:t>     This comes from search behaviour, not from a single page feature, and it lands where the traditional↔challenger score already put ING: with the incumbents, leaning.</a:t>
            </a:r>
          </a:p>
          <a:p>
            <a:pPr algn="l">
              <a:lnSpc>
                <a:spcPct val="105000"/>
              </a:lnSpc>
              <a:spcAft>
                <a:spcPts val="200"/>
              </a:spcAft>
            </a:pPr>
            <a:r>
              <a:rPr sz="1500" b="1">
                <a:solidFill>
                  <a:srgbClr val="14141C"/>
                </a:solidFill>
                <a:latin typeface="Helvetica Neue"/>
              </a:rPr>
              <a:t>•  What it is not</a:t>
            </a:r>
          </a:p>
          <a:p>
            <a:pPr algn="l">
              <a:lnSpc>
                <a:spcPct val="105000"/>
              </a:lnSpc>
              <a:spcAft>
                <a:spcPts val="1000"/>
              </a:spcAft>
            </a:pPr>
            <a:r>
              <a:rPr sz="1300" b="0">
                <a:solidFill>
                  <a:srgbClr val="585868"/>
                </a:solidFill>
                <a:latin typeface="Helvetica Neue"/>
              </a:rPr>
              <a:t>     Where people search from, never what a campaign achieved. Google Trends indexes each brand against its own peak, so these are shapes to compare, not volumes.</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Google Trends, Belgium, by region. Regional index 0–100 per brand, each brand normalised to its own maximum.</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Every recommendation carries the evidence it was argued from</a:t>
            </a:r>
            <a:endParaRPr lang="en-US" sz="2800" dirty="0"/>
          </a:p>
        </p:txBody>
      </p:sp>
      <p:sp>
        <p:nvSpPr>
          <p:cNvPr id="3" name="Shape 1"/>
          <p:cNvSpPr/>
          <p:nvPr/>
        </p:nvSpPr>
        <p:spPr>
          <a:xfrm>
            <a:off x="548640" y="960120"/>
            <a:ext cx="1463040" cy="54864"/>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14</a:t>
            </a:r>
            <a:endParaRPr lang="en-US" sz="1000" dirty="0"/>
          </a:p>
        </p:txBody>
      </p:sp>
      <p:sp>
        <p:nvSpPr>
          <p:cNvPr id="6" name="Shape 4"/>
          <p:cNvSpPr/>
          <p:nvPr/>
        </p:nvSpPr>
        <p:spPr>
          <a:xfrm>
            <a:off x="626364" y="1229868"/>
            <a:ext cx="6373368" cy="4178808"/>
          </a:xfrm>
          <a:prstGeom prst="rect">
            <a:avLst/>
          </a:prstGeom>
          <a:solidFill>
            <a:srgbClr val="FFFFFF"/>
          </a:solidFill>
          <a:ln w="12700">
            <a:solidFill>
              <a:srgbClr val="E4E4EC"/>
            </a:solidFill>
            <a:prstDash val="solid"/>
          </a:ln>
        </p:spPr>
        <p:txBody>
          <a:bodyPr/>
          <a:lstStyle/>
          <a:p>
            <a:endParaRPr/>
          </a:p>
        </p:txBody>
      </p:sp>
      <p:pic>
        <p:nvPicPr>
          <p:cNvPr id="7" name="Image 0" descr="/Users/nstephane/Dev/AI_Data_Science_training/ing-usecase/docs/deck_assets/rec_cards.png"/>
          <p:cNvPicPr>
            <a:picLocks noChangeAspect="1"/>
          </p:cNvPicPr>
          <p:nvPr/>
        </p:nvPicPr>
        <p:blipFill>
          <a:blip r:embed="rId3"/>
          <a:stretch>
            <a:fillRect/>
          </a:stretch>
        </p:blipFill>
        <p:spPr>
          <a:xfrm>
            <a:off x="658368" y="1261872"/>
            <a:ext cx="6309360" cy="4114800"/>
          </a:xfrm>
          <a:prstGeom prst="rect">
            <a:avLst/>
          </a:prstGeom>
        </p:spPr>
      </p:pic>
      <p:sp>
        <p:nvSpPr>
          <p:cNvPr id="8" name="Text 5"/>
          <p:cNvSpPr txBox="1"/>
          <p:nvPr/>
        </p:nvSpPr>
        <p:spPr>
          <a:xfrm>
            <a:off x="658368" y="5486400"/>
            <a:ext cx="630936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Three of the eleven, as the team reviews them.</a:t>
            </a:r>
            <a:endParaRPr lang="en-US" sz="1050" dirty="0"/>
          </a:p>
        </p:txBody>
      </p:sp>
      <p:pic>
        <p:nvPicPr>
          <p:cNvPr id="9" name="Image 1" descr="/Users/nstephane/Dev/AI_Data_Science_training/ing-usecase/docs/deck_assets/icons/list.png"/>
          <p:cNvPicPr>
            <a:picLocks noChangeAspect="1"/>
          </p:cNvPicPr>
          <p:nvPr/>
        </p:nvPicPr>
        <p:blipFill>
          <a:blip r:embed="rId4"/>
          <a:stretch>
            <a:fillRect/>
          </a:stretch>
        </p:blipFill>
        <p:spPr>
          <a:xfrm>
            <a:off x="7260336" y="1371600"/>
            <a:ext cx="420624" cy="420624"/>
          </a:xfrm>
          <a:prstGeom prst="rect">
            <a:avLst/>
          </a:prstGeom>
        </p:spPr>
      </p:pic>
      <p:sp>
        <p:nvSpPr>
          <p:cNvPr id="10" name="Text 6"/>
          <p:cNvSpPr txBox="1"/>
          <p:nvPr/>
        </p:nvSpPr>
        <p:spPr>
          <a:xfrm>
            <a:off x="7827264" y="1353312"/>
            <a:ext cx="3694176"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Finding and action, kept apart</a:t>
            </a:r>
            <a:endParaRPr lang="en-US" sz="1350" dirty="0"/>
          </a:p>
        </p:txBody>
      </p:sp>
      <p:sp>
        <p:nvSpPr>
          <p:cNvPr id="11" name="Text 7"/>
          <p:cNvSpPr txBox="1"/>
          <p:nvPr/>
        </p:nvSpPr>
        <p:spPr>
          <a:xfrm>
            <a:off x="7827264" y="1645920"/>
            <a:ext cx="3694176"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What the data shows sits above what to do. A reader can reject our suggested action and still keep the measured finding.</a:t>
            </a:r>
            <a:endParaRPr lang="en-US" sz="1150" dirty="0"/>
          </a:p>
        </p:txBody>
      </p:sp>
      <p:pic>
        <p:nvPicPr>
          <p:cNvPr id="12" name="Image 2" descr="/Users/nstephane/Dev/AI_Data_Science_training/ing-usecase/docs/deck_assets/icons/target.png"/>
          <p:cNvPicPr>
            <a:picLocks noChangeAspect="1"/>
          </p:cNvPicPr>
          <p:nvPr/>
        </p:nvPicPr>
        <p:blipFill>
          <a:blip r:embed="rId5"/>
          <a:stretch>
            <a:fillRect/>
          </a:stretch>
        </p:blipFill>
        <p:spPr>
          <a:xfrm>
            <a:off x="7260336" y="2944368"/>
            <a:ext cx="420624" cy="420624"/>
          </a:xfrm>
          <a:prstGeom prst="rect">
            <a:avLst/>
          </a:prstGeom>
        </p:spPr>
      </p:pic>
      <p:sp>
        <p:nvSpPr>
          <p:cNvPr id="13" name="Text 8"/>
          <p:cNvSpPr txBox="1"/>
          <p:nvPr/>
        </p:nvSpPr>
        <p:spPr>
          <a:xfrm>
            <a:off x="7827264" y="2926080"/>
            <a:ext cx="3694176"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Named features, checked before release</a:t>
            </a:r>
            <a:endParaRPr lang="en-US" sz="1350" dirty="0"/>
          </a:p>
        </p:txBody>
      </p:sp>
      <p:sp>
        <p:nvSpPr>
          <p:cNvPr id="14" name="Text 9"/>
          <p:cNvSpPr txBox="1"/>
          <p:nvPr/>
        </p:nvSpPr>
        <p:spPr>
          <a:xfrm>
            <a:off x="7827264" y="3218688"/>
            <a:ext cx="3694176"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Each card names the measured features it was argued from and the pages it applies to. Those ids are verified against the report — an invented one never leaves the module.</a:t>
            </a:r>
            <a:endParaRPr lang="en-US" sz="1150" dirty="0"/>
          </a:p>
        </p:txBody>
      </p:sp>
      <p:pic>
        <p:nvPicPr>
          <p:cNvPr id="15" name="Image 3" descr="/Users/nstephane/Dev/AI_Data_Science_training/ing-usecase/docs/deck_assets/icons/shield.png"/>
          <p:cNvPicPr>
            <a:picLocks noChangeAspect="1"/>
          </p:cNvPicPr>
          <p:nvPr/>
        </p:nvPicPr>
        <p:blipFill>
          <a:blip r:embed="rId6"/>
          <a:stretch>
            <a:fillRect/>
          </a:stretch>
        </p:blipFill>
        <p:spPr>
          <a:xfrm>
            <a:off x="7260336" y="4517136"/>
            <a:ext cx="420624" cy="420624"/>
          </a:xfrm>
          <a:prstGeom prst="rect">
            <a:avLst/>
          </a:prstGeom>
        </p:spPr>
      </p:pic>
      <p:sp>
        <p:nvSpPr>
          <p:cNvPr id="16" name="Text 10"/>
          <p:cNvSpPr txBox="1"/>
          <p:nvPr/>
        </p:nvSpPr>
        <p:spPr>
          <a:xfrm>
            <a:off x="7827264" y="4498848"/>
            <a:ext cx="3694176"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No figure the analysis did not produce</a:t>
            </a:r>
            <a:endParaRPr lang="en-US" sz="1350" dirty="0"/>
          </a:p>
        </p:txBody>
      </p:sp>
      <p:sp>
        <p:nvSpPr>
          <p:cNvPr id="17" name="Text 11"/>
          <p:cNvSpPr txBox="1"/>
          <p:nvPr/>
        </p:nvSpPr>
        <p:spPr>
          <a:xfrm>
            <a:off x="7827264" y="4791456"/>
            <a:ext cx="3694176"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The prompt receives only numbers already in the report, and the output is not trusted to add any.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3152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What it concluded about ING</a:t>
            </a:r>
            <a:endParaRPr lang="en-US" sz="2800" dirty="0"/>
          </a:p>
        </p:txBody>
      </p:sp>
      <p:sp>
        <p:nvSpPr>
          <p:cNvPr id="3" name="Shape 1"/>
          <p:cNvSpPr/>
          <p:nvPr/>
        </p:nvSpPr>
        <p:spPr>
          <a:xfrm>
            <a:off x="548640" y="1115568"/>
            <a:ext cx="1463040" cy="64008"/>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15</a:t>
            </a:r>
            <a:endParaRPr lang="en-US" sz="1000" dirty="0"/>
          </a:p>
        </p:txBody>
      </p:sp>
      <p:sp>
        <p:nvSpPr>
          <p:cNvPr id="6" name="Shape 4"/>
          <p:cNvSpPr/>
          <p:nvPr/>
        </p:nvSpPr>
        <p:spPr>
          <a:xfrm>
            <a:off x="621792" y="1517904"/>
            <a:ext cx="3529584" cy="2212848"/>
          </a:xfrm>
          <a:prstGeom prst="roundRect">
            <a:avLst>
              <a:gd name="adj" fmla="val 2479"/>
            </a:avLst>
          </a:prstGeom>
          <a:solidFill>
            <a:srgbClr val="FAFAFC"/>
          </a:solidFill>
          <a:ln w="12700">
            <a:solidFill>
              <a:srgbClr val="E4E4EC"/>
            </a:solidFill>
            <a:prstDash val="solid"/>
          </a:ln>
        </p:spPr>
        <p:txBody>
          <a:bodyPr/>
          <a:lstStyle/>
          <a:p>
            <a:endParaRPr/>
          </a:p>
        </p:txBody>
      </p:sp>
      <p:sp>
        <p:nvSpPr>
          <p:cNvPr id="7" name="Text 5"/>
          <p:cNvSpPr txBox="1"/>
          <p:nvPr/>
        </p:nvSpPr>
        <p:spPr>
          <a:xfrm>
            <a:off x="877824" y="1682496"/>
            <a:ext cx="3017520" cy="841248"/>
          </a:xfrm>
          <a:prstGeom prst="rect">
            <a:avLst/>
          </a:prstGeom>
          <a:noFill/>
          <a:ln/>
        </p:spPr>
        <p:txBody>
          <a:bodyPr wrap="square" lIns="0" tIns="0" rIns="0" bIns="0" rtlCol="0" anchor="ctr"/>
          <a:lstStyle/>
          <a:p>
            <a:pPr marL="0" indent="0">
              <a:buNone/>
            </a:pPr>
            <a:r>
              <a:rPr lang="en-US" sz="4600" b="1" dirty="0">
                <a:solidFill>
                  <a:srgbClr val="FF6200"/>
                </a:solidFill>
                <a:latin typeface="Helvetica Neue" pitchFamily="34" charset="0"/>
                <a:ea typeface="Helvetica Neue" pitchFamily="34" charset="-122"/>
                <a:cs typeface="Helvetica Neue" pitchFamily="34" charset="-120"/>
              </a:rPr>
              <a:t>4.0</a:t>
            </a:r>
            <a:endParaRPr lang="en-US" sz="4600" dirty="0"/>
          </a:p>
        </p:txBody>
      </p:sp>
      <p:sp>
        <p:nvSpPr>
          <p:cNvPr id="8" name="Text 6"/>
          <p:cNvSpPr txBox="1"/>
          <p:nvPr/>
        </p:nvSpPr>
        <p:spPr>
          <a:xfrm>
            <a:off x="877824" y="2505456"/>
            <a:ext cx="3017520" cy="310896"/>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urgency markers per page</a:t>
            </a:r>
            <a:endParaRPr lang="en-US" sz="1200" dirty="0"/>
          </a:p>
        </p:txBody>
      </p:sp>
      <p:sp>
        <p:nvSpPr>
          <p:cNvPr id="9" name="Text 7"/>
          <p:cNvSpPr txBox="1"/>
          <p:nvPr/>
        </p:nvSpPr>
        <p:spPr>
          <a:xfrm>
            <a:off x="877824" y="2834640"/>
            <a:ext cx="3017520" cy="78638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against a peer mean of 0.64 — about 3.7 standard deviations above the set, and ING's strongest measured signature.</a:t>
            </a:r>
            <a:endParaRPr lang="en-US" sz="1050" dirty="0"/>
          </a:p>
        </p:txBody>
      </p:sp>
      <p:sp>
        <p:nvSpPr>
          <p:cNvPr id="10" name="Shape 8"/>
          <p:cNvSpPr/>
          <p:nvPr/>
        </p:nvSpPr>
        <p:spPr>
          <a:xfrm>
            <a:off x="4480560" y="1517904"/>
            <a:ext cx="3529584" cy="2212848"/>
          </a:xfrm>
          <a:prstGeom prst="roundRect">
            <a:avLst>
              <a:gd name="adj" fmla="val 2479"/>
            </a:avLst>
          </a:prstGeom>
          <a:solidFill>
            <a:srgbClr val="FAFAFC"/>
          </a:solidFill>
          <a:ln w="12700">
            <a:solidFill>
              <a:srgbClr val="E4E4EC"/>
            </a:solidFill>
            <a:prstDash val="solid"/>
          </a:ln>
        </p:spPr>
        <p:txBody>
          <a:bodyPr/>
          <a:lstStyle/>
          <a:p>
            <a:endParaRPr/>
          </a:p>
        </p:txBody>
      </p:sp>
      <p:sp>
        <p:nvSpPr>
          <p:cNvPr id="11" name="Text 9"/>
          <p:cNvSpPr txBox="1"/>
          <p:nvPr/>
        </p:nvSpPr>
        <p:spPr>
          <a:xfrm>
            <a:off x="4736592" y="1682496"/>
            <a:ext cx="3017520" cy="841248"/>
          </a:xfrm>
          <a:prstGeom prst="rect">
            <a:avLst/>
          </a:prstGeom>
          <a:noFill/>
          <a:ln/>
        </p:spPr>
        <p:txBody>
          <a:bodyPr wrap="square" lIns="0" tIns="0" rIns="0" bIns="0" rtlCol="0" anchor="ctr"/>
          <a:lstStyle/>
          <a:p>
            <a:pPr marL="0" indent="0">
              <a:buNone/>
            </a:pPr>
            <a:r>
              <a:rPr lang="en-US" sz="4600" b="1" dirty="0">
                <a:solidFill>
                  <a:srgbClr val="FF6200"/>
                </a:solidFill>
                <a:latin typeface="Helvetica Neue" pitchFamily="34" charset="0"/>
                <a:ea typeface="Helvetica Neue" pitchFamily="34" charset="-122"/>
                <a:cs typeface="Helvetica Neue" pitchFamily="34" charset="-120"/>
              </a:rPr>
              <a:t>11,149px</a:t>
            </a:r>
            <a:endParaRPr lang="en-US" sz="4600" dirty="0"/>
          </a:p>
        </p:txBody>
      </p:sp>
      <p:sp>
        <p:nvSpPr>
          <p:cNvPr id="12" name="Text 10"/>
          <p:cNvSpPr txBox="1"/>
          <p:nvPr/>
        </p:nvSpPr>
        <p:spPr>
          <a:xfrm>
            <a:off x="4736592" y="2505456"/>
            <a:ext cx="3017520" cy="310896"/>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page height, against 6,412px</a:t>
            </a:r>
            <a:endParaRPr lang="en-US" sz="1200" dirty="0"/>
          </a:p>
        </p:txBody>
      </p:sp>
      <p:sp>
        <p:nvSpPr>
          <p:cNvPr id="13" name="Text 11"/>
          <p:cNvSpPr txBox="1"/>
          <p:nvPr/>
        </p:nvSpPr>
        <p:spPr>
          <a:xfrm>
            <a:off x="4736592" y="2834640"/>
            <a:ext cx="3017520" cy="78638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ING's pages run about 74% longer than the set, so the offer sits further from the top.</a:t>
            </a:r>
            <a:endParaRPr lang="en-US" sz="1050" dirty="0"/>
          </a:p>
        </p:txBody>
      </p:sp>
      <p:sp>
        <p:nvSpPr>
          <p:cNvPr id="14" name="Shape 12"/>
          <p:cNvSpPr/>
          <p:nvPr/>
        </p:nvSpPr>
        <p:spPr>
          <a:xfrm>
            <a:off x="8339328" y="1517904"/>
            <a:ext cx="3529584" cy="2212848"/>
          </a:xfrm>
          <a:prstGeom prst="roundRect">
            <a:avLst>
              <a:gd name="adj" fmla="val 2479"/>
            </a:avLst>
          </a:prstGeom>
          <a:solidFill>
            <a:srgbClr val="FAFAFC"/>
          </a:solidFill>
          <a:ln w="12700">
            <a:solidFill>
              <a:srgbClr val="E4E4EC"/>
            </a:solidFill>
            <a:prstDash val="solid"/>
          </a:ln>
        </p:spPr>
        <p:txBody>
          <a:bodyPr/>
          <a:lstStyle/>
          <a:p>
            <a:endParaRPr/>
          </a:p>
        </p:txBody>
      </p:sp>
      <p:sp>
        <p:nvSpPr>
          <p:cNvPr id="15" name="Text 13"/>
          <p:cNvSpPr txBox="1"/>
          <p:nvPr/>
        </p:nvSpPr>
        <p:spPr>
          <a:xfrm>
            <a:off x="8595360" y="1682496"/>
            <a:ext cx="3017520" cy="841248"/>
          </a:xfrm>
          <a:prstGeom prst="rect">
            <a:avLst/>
          </a:prstGeom>
          <a:noFill/>
          <a:ln/>
        </p:spPr>
        <p:txBody>
          <a:bodyPr wrap="square" lIns="0" tIns="0" rIns="0" bIns="0" rtlCol="0" anchor="ctr"/>
          <a:lstStyle/>
          <a:p>
            <a:pPr marL="0" indent="0">
              <a:buNone/>
            </a:pPr>
            <a:r>
              <a:rPr lang="en-US" sz="4600" b="1" dirty="0">
                <a:solidFill>
                  <a:srgbClr val="FF6200"/>
                </a:solidFill>
                <a:latin typeface="Helvetica Neue" pitchFamily="34" charset="0"/>
                <a:ea typeface="Helvetica Neue" pitchFamily="34" charset="-122"/>
                <a:cs typeface="Helvetica Neue" pitchFamily="34" charset="-120"/>
              </a:rPr>
              <a:t>0.67</a:t>
            </a:r>
            <a:endParaRPr lang="en-US" sz="4600" dirty="0"/>
          </a:p>
        </p:txBody>
      </p:sp>
      <p:sp>
        <p:nvSpPr>
          <p:cNvPr id="16" name="Text 14"/>
          <p:cNvSpPr txBox="1"/>
          <p:nvPr/>
        </p:nvSpPr>
        <p:spPr>
          <a:xfrm>
            <a:off x="8595360" y="2505456"/>
            <a:ext cx="3017520" cy="310896"/>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‘free’ claims with conditions elsewhere</a:t>
            </a:r>
            <a:endParaRPr lang="en-US" sz="1200" dirty="0"/>
          </a:p>
        </p:txBody>
      </p:sp>
      <p:sp>
        <p:nvSpPr>
          <p:cNvPr id="17" name="Text 15"/>
          <p:cNvSpPr txBox="1"/>
          <p:nvPr/>
        </p:nvSpPr>
        <p:spPr>
          <a:xfrm>
            <a:off x="8595360" y="2834640"/>
            <a:ext cx="3017520" cy="78638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against a peer mean of 0.23 — the qualifying conditions are not adjacent to the claim they qualify.</a:t>
            </a:r>
            <a:endParaRPr lang="en-US" sz="1050" dirty="0"/>
          </a:p>
        </p:txBody>
      </p:sp>
      <p:sp>
        <p:nvSpPr>
          <p:cNvPr id="18" name="Text 16"/>
          <p:cNvSpPr txBox="1"/>
          <p:nvPr/>
        </p:nvSpPr>
        <p:spPr>
          <a:xfrm>
            <a:off x="621792" y="3968496"/>
            <a:ext cx="10881360" cy="292608"/>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The three it ranked highest</a:t>
            </a:r>
            <a:endParaRPr lang="en-US" sz="1350" dirty="0"/>
          </a:p>
        </p:txBody>
      </p:sp>
      <p:sp>
        <p:nvSpPr>
          <p:cNvPr id="19" name="Shape 17"/>
          <p:cNvSpPr/>
          <p:nvPr/>
        </p:nvSpPr>
        <p:spPr>
          <a:xfrm>
            <a:off x="640080" y="4416552"/>
            <a:ext cx="155448" cy="155448"/>
          </a:xfrm>
          <a:prstGeom prst="ellipse">
            <a:avLst/>
          </a:prstGeom>
          <a:solidFill>
            <a:srgbClr val="FF6200"/>
          </a:solidFill>
          <a:ln w="12700">
            <a:solidFill>
              <a:srgbClr val="333333"/>
            </a:solidFill>
            <a:prstDash val="solid"/>
          </a:ln>
        </p:spPr>
        <p:txBody>
          <a:bodyPr/>
          <a:lstStyle/>
          <a:p>
            <a:endParaRPr/>
          </a:p>
        </p:txBody>
      </p:sp>
      <p:sp>
        <p:nvSpPr>
          <p:cNvPr id="20" name="Text 18"/>
          <p:cNvSpPr txBox="1"/>
          <p:nvPr/>
        </p:nvSpPr>
        <p:spPr>
          <a:xfrm>
            <a:off x="914400" y="4352544"/>
            <a:ext cx="5074920" cy="292608"/>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Strip back urgency and deadline language</a:t>
            </a:r>
            <a:endParaRPr lang="en-US" sz="1200" dirty="0"/>
          </a:p>
        </p:txBody>
      </p:sp>
      <p:sp>
        <p:nvSpPr>
          <p:cNvPr id="21" name="Text 19"/>
          <p:cNvSpPr txBox="1"/>
          <p:nvPr/>
        </p:nvSpPr>
        <p:spPr>
          <a:xfrm>
            <a:off x="6108192" y="4352544"/>
            <a:ext cx="5413248" cy="292608"/>
          </a:xfrm>
          <a:prstGeom prst="rect">
            <a:avLst/>
          </a:prstGeom>
          <a:noFill/>
          <a:ln/>
        </p:spPr>
        <p:txBody>
          <a:bodyPr wrap="square" lIns="0" tIns="0" rIns="0" bIns="0" rtlCol="0" anchor="ctr"/>
          <a:lstStyle/>
          <a:p>
            <a:pPr marL="0" indent="0">
              <a:buNone/>
            </a:pPr>
            <a:r>
              <a:rPr lang="en-US" sz="1050" dirty="0">
                <a:solidFill>
                  <a:srgbClr val="585868"/>
                </a:solidFill>
                <a:latin typeface="Helvetica Neue" pitchFamily="34" charset="0"/>
                <a:ea typeface="Helvetica Neue" pitchFamily="34" charset="-122"/>
                <a:cs typeface="Helvetica Neue" pitchFamily="34" charset="-120"/>
              </a:rPr>
              <a:t>urgency_marker_count</a:t>
            </a:r>
            <a:endParaRPr lang="en-US" sz="1050" dirty="0"/>
          </a:p>
        </p:txBody>
      </p:sp>
      <p:sp>
        <p:nvSpPr>
          <p:cNvPr id="22" name="Shape 20"/>
          <p:cNvSpPr/>
          <p:nvPr/>
        </p:nvSpPr>
        <p:spPr>
          <a:xfrm>
            <a:off x="640080" y="4946904"/>
            <a:ext cx="155448" cy="155448"/>
          </a:xfrm>
          <a:prstGeom prst="ellipse">
            <a:avLst/>
          </a:prstGeom>
          <a:solidFill>
            <a:srgbClr val="FF6200"/>
          </a:solidFill>
          <a:ln w="12700">
            <a:solidFill>
              <a:srgbClr val="333333"/>
            </a:solidFill>
            <a:prstDash val="solid"/>
          </a:ln>
        </p:spPr>
        <p:txBody>
          <a:bodyPr/>
          <a:lstStyle/>
          <a:p>
            <a:endParaRPr/>
          </a:p>
        </p:txBody>
      </p:sp>
      <p:sp>
        <p:nvSpPr>
          <p:cNvPr id="23" name="Text 21"/>
          <p:cNvSpPr txBox="1"/>
          <p:nvPr/>
        </p:nvSpPr>
        <p:spPr>
          <a:xfrm>
            <a:off x="914400" y="4882896"/>
            <a:ext cx="5074920" cy="292608"/>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Bring the offer higher up the page</a:t>
            </a:r>
            <a:endParaRPr lang="en-US" sz="1200" dirty="0"/>
          </a:p>
        </p:txBody>
      </p:sp>
      <p:sp>
        <p:nvSpPr>
          <p:cNvPr id="24" name="Text 22"/>
          <p:cNvSpPr txBox="1"/>
          <p:nvPr/>
        </p:nvSpPr>
        <p:spPr>
          <a:xfrm>
            <a:off x="6108192" y="4882896"/>
            <a:ext cx="5413248" cy="292608"/>
          </a:xfrm>
          <a:prstGeom prst="rect">
            <a:avLst/>
          </a:prstGeom>
          <a:noFill/>
          <a:ln/>
        </p:spPr>
        <p:txBody>
          <a:bodyPr wrap="square" lIns="0" tIns="0" rIns="0" bIns="0" rtlCol="0" anchor="ctr"/>
          <a:lstStyle/>
          <a:p>
            <a:pPr marL="0" indent="0">
              <a:buNone/>
            </a:pPr>
            <a:r>
              <a:rPr lang="en-US" sz="1050" dirty="0">
                <a:solidFill>
                  <a:srgbClr val="585868"/>
                </a:solidFill>
                <a:latin typeface="Helvetica Neue" pitchFamily="34" charset="0"/>
                <a:ea typeface="Helvetica Neue" pitchFamily="34" charset="-122"/>
                <a:cs typeface="Helvetica Neue" pitchFamily="34" charset="-120"/>
              </a:rPr>
              <a:t>page_height_px</a:t>
            </a:r>
            <a:endParaRPr lang="en-US" sz="1050" dirty="0"/>
          </a:p>
        </p:txBody>
      </p:sp>
      <p:sp>
        <p:nvSpPr>
          <p:cNvPr id="25" name="Shape 23"/>
          <p:cNvSpPr/>
          <p:nvPr/>
        </p:nvSpPr>
        <p:spPr>
          <a:xfrm>
            <a:off x="640080" y="5477256"/>
            <a:ext cx="155448" cy="155448"/>
          </a:xfrm>
          <a:prstGeom prst="ellipse">
            <a:avLst/>
          </a:prstGeom>
          <a:solidFill>
            <a:srgbClr val="FF6200"/>
          </a:solidFill>
          <a:ln w="12700">
            <a:solidFill>
              <a:srgbClr val="333333"/>
            </a:solidFill>
            <a:prstDash val="solid"/>
          </a:ln>
        </p:spPr>
        <p:txBody>
          <a:bodyPr/>
          <a:lstStyle/>
          <a:p>
            <a:endParaRPr/>
          </a:p>
        </p:txBody>
      </p:sp>
      <p:sp>
        <p:nvSpPr>
          <p:cNvPr id="26" name="Text 24"/>
          <p:cNvSpPr txBox="1"/>
          <p:nvPr/>
        </p:nvSpPr>
        <p:spPr>
          <a:xfrm>
            <a:off x="914400" y="5413248"/>
            <a:ext cx="5074920" cy="292608"/>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Disclose the conditions of any free claim next to the claim</a:t>
            </a:r>
            <a:endParaRPr lang="en-US" sz="1200" dirty="0"/>
          </a:p>
        </p:txBody>
      </p:sp>
      <p:sp>
        <p:nvSpPr>
          <p:cNvPr id="27" name="Text 25"/>
          <p:cNvSpPr txBox="1"/>
          <p:nvPr/>
        </p:nvSpPr>
        <p:spPr>
          <a:xfrm>
            <a:off x="6108192" y="5413248"/>
            <a:ext cx="5413248" cy="292608"/>
          </a:xfrm>
          <a:prstGeom prst="rect">
            <a:avLst/>
          </a:prstGeom>
          <a:noFill/>
          <a:ln/>
        </p:spPr>
        <p:txBody>
          <a:bodyPr wrap="square" lIns="0" tIns="0" rIns="0" bIns="0" rtlCol="0" anchor="ctr"/>
          <a:lstStyle/>
          <a:p>
            <a:pPr marL="0" indent="0">
              <a:buNone/>
            </a:pPr>
            <a:r>
              <a:rPr lang="en-US" sz="1050" dirty="0">
                <a:solidFill>
                  <a:srgbClr val="585868"/>
                </a:solidFill>
                <a:latin typeface="Helvetica Neue" pitchFamily="34" charset="0"/>
                <a:ea typeface="Helvetica Neue" pitchFamily="34" charset="-122"/>
                <a:cs typeface="Helvetica Neue" pitchFamily="34" charset="-120"/>
              </a:rPr>
              <a:t>hidden_conditions_behind_free_claim</a:t>
            </a:r>
            <a:endParaRPr lang="en-US" sz="1050" dirty="0"/>
          </a:p>
        </p:txBody>
      </p:sp>
      <p:sp>
        <p:nvSpPr>
          <p:cNvPr id="28" name="Text 26"/>
          <p:cNvSpPr txBox="1"/>
          <p:nvPr/>
        </p:nvSpPr>
        <p:spPr>
          <a:xfrm>
            <a:off x="621792" y="5888736"/>
            <a:ext cx="10881360" cy="42062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Design observations, not performance findings. The pages span several product families and languages, the judged features come from a single rater, and no click or conversion data exists — so every item is a hypothesis ING could test.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From a list of changes to a site you can actually look at</a:t>
            </a:r>
            <a:endParaRPr lang="en-US" sz="2800" dirty="0"/>
          </a:p>
        </p:txBody>
      </p:sp>
      <p:sp>
        <p:nvSpPr>
          <p:cNvPr id="3" name="Shape 1"/>
          <p:cNvSpPr/>
          <p:nvPr/>
        </p:nvSpPr>
        <p:spPr>
          <a:xfrm>
            <a:off x="548640" y="960120"/>
            <a:ext cx="1463040" cy="54864"/>
          </a:xfrm>
          <a:prstGeom prst="rect">
            <a:avLst/>
          </a:prstGeom>
          <a:solidFill>
            <a:srgbClr val="FF6200"/>
          </a:solidFill>
          <a:ln w="12700">
            <a:solidFill>
              <a:srgbClr val="333333"/>
            </a:solidFill>
            <a:prstDash val="solid"/>
          </a:ln>
        </p:spPr>
        <p:txBody>
          <a:bodyPr/>
          <a:lstStyle/>
          <a:p>
            <a:endParaRPr lang="en-US"/>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16</a:t>
            </a:r>
            <a:endParaRPr lang="en-US" sz="1000" dirty="0"/>
          </a:p>
        </p:txBody>
      </p:sp>
      <p:sp>
        <p:nvSpPr>
          <p:cNvPr id="6" name="Shape 4"/>
          <p:cNvSpPr/>
          <p:nvPr/>
        </p:nvSpPr>
        <p:spPr>
          <a:xfrm>
            <a:off x="626364" y="1248156"/>
            <a:ext cx="6739128" cy="2414016"/>
          </a:xfrm>
          <a:prstGeom prst="rect">
            <a:avLst/>
          </a:prstGeom>
          <a:solidFill>
            <a:srgbClr val="FFFFFF"/>
          </a:solidFill>
          <a:ln w="12700">
            <a:solidFill>
              <a:srgbClr val="E4E4EC"/>
            </a:solidFill>
            <a:prstDash val="solid"/>
          </a:ln>
        </p:spPr>
        <p:txBody>
          <a:bodyPr/>
          <a:lstStyle/>
          <a:p>
            <a:endParaRPr lang="en-US"/>
          </a:p>
        </p:txBody>
      </p:sp>
      <p:sp>
        <p:nvSpPr>
          <p:cNvPr id="8" name="Shape 5"/>
          <p:cNvSpPr/>
          <p:nvPr/>
        </p:nvSpPr>
        <p:spPr>
          <a:xfrm>
            <a:off x="626364" y="3808476"/>
            <a:ext cx="5184648" cy="2112264"/>
          </a:xfrm>
          <a:prstGeom prst="rect">
            <a:avLst/>
          </a:prstGeom>
          <a:solidFill>
            <a:srgbClr val="FFFFFF"/>
          </a:solidFill>
          <a:ln w="12700">
            <a:solidFill>
              <a:srgbClr val="E4E4EC"/>
            </a:solidFill>
            <a:prstDash val="solid"/>
          </a:ln>
        </p:spPr>
        <p:txBody>
          <a:bodyPr/>
          <a:lstStyle/>
          <a:p>
            <a:endParaRPr lang="en-US"/>
          </a:p>
        </p:txBody>
      </p:sp>
      <p:sp>
        <p:nvSpPr>
          <p:cNvPr id="10" name="Text 6"/>
          <p:cNvSpPr txBox="1"/>
          <p:nvPr/>
        </p:nvSpPr>
        <p:spPr>
          <a:xfrm>
            <a:off x="658368" y="5998464"/>
            <a:ext cx="667512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Generated, never published: rates and amounts stay as [TAUX] and [MONTANT] placeholders.</a:t>
            </a:r>
            <a:endParaRPr lang="en-US" sz="1050" dirty="0"/>
          </a:p>
        </p:txBody>
      </p:sp>
      <p:pic>
        <p:nvPicPr>
          <p:cNvPr id="11" name="Image 2" descr="/Users/nstephane/Dev/AI_Data_Science_training/ing-usecase/docs/deck_assets/icons/check.png"/>
          <p:cNvPicPr>
            <a:picLocks noChangeAspect="1"/>
          </p:cNvPicPr>
          <p:nvPr/>
        </p:nvPicPr>
        <p:blipFill>
          <a:blip r:embed="rId3"/>
          <a:stretch>
            <a:fillRect/>
          </a:stretch>
        </p:blipFill>
        <p:spPr>
          <a:xfrm>
            <a:off x="7699248" y="1408176"/>
            <a:ext cx="420624" cy="420624"/>
          </a:xfrm>
          <a:prstGeom prst="rect">
            <a:avLst/>
          </a:prstGeom>
        </p:spPr>
      </p:pic>
      <p:sp>
        <p:nvSpPr>
          <p:cNvPr id="12" name="Text 7"/>
          <p:cNvSpPr txBox="1"/>
          <p:nvPr/>
        </p:nvSpPr>
        <p:spPr>
          <a:xfrm>
            <a:off x="8266176" y="1389888"/>
            <a:ext cx="327355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The team chooses what gets built</a:t>
            </a:r>
            <a:endParaRPr lang="en-US" sz="1350" dirty="0"/>
          </a:p>
        </p:txBody>
      </p:sp>
      <p:sp>
        <p:nvSpPr>
          <p:cNvPr id="13" name="Text 8"/>
          <p:cNvSpPr txBox="1"/>
          <p:nvPr/>
        </p:nvSpPr>
        <p:spPr>
          <a:xfrm>
            <a:off x="8266176" y="1682496"/>
            <a:ext cx="327355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Every recommendation is a checkbox. Nothing reaches the generator that a person did not tick.</a:t>
            </a:r>
            <a:endParaRPr lang="en-US" sz="1150" dirty="0"/>
          </a:p>
        </p:txBody>
      </p:sp>
      <p:pic>
        <p:nvPicPr>
          <p:cNvPr id="14" name="Image 3" descr="/Users/nstephane/Dev/AI_Data_Science_training/ing-usecase/docs/deck_assets/icons/window.png"/>
          <p:cNvPicPr>
            <a:picLocks noChangeAspect="1"/>
          </p:cNvPicPr>
          <p:nvPr/>
        </p:nvPicPr>
        <p:blipFill>
          <a:blip r:embed="rId4"/>
          <a:stretch>
            <a:fillRect/>
          </a:stretch>
        </p:blipFill>
        <p:spPr>
          <a:xfrm>
            <a:off x="7699248" y="2743200"/>
            <a:ext cx="420624" cy="420624"/>
          </a:xfrm>
          <a:prstGeom prst="rect">
            <a:avLst/>
          </a:prstGeom>
        </p:spPr>
      </p:pic>
      <p:sp>
        <p:nvSpPr>
          <p:cNvPr id="15" name="Text 9"/>
          <p:cNvSpPr txBox="1"/>
          <p:nvPr/>
        </p:nvSpPr>
        <p:spPr>
          <a:xfrm>
            <a:off x="8266176" y="2724912"/>
            <a:ext cx="327355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Ten ING-styled pages, in fr-BE or nl-BE</a:t>
            </a:r>
            <a:endParaRPr lang="en-US" sz="1350" dirty="0"/>
          </a:p>
        </p:txBody>
      </p:sp>
      <p:sp>
        <p:nvSpPr>
          <p:cNvPr id="16" name="Text 10"/>
          <p:cNvSpPr txBox="1"/>
          <p:nvPr/>
        </p:nvSpPr>
        <p:spPr>
          <a:xfrm>
            <a:off x="8266176" y="3017520"/>
            <a:ext cx="327355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Home, savings, term account, current account, youth, investing, mortgage, opening, why ING, contact.</a:t>
            </a:r>
            <a:endParaRPr lang="en-US" sz="1150" dirty="0"/>
          </a:p>
        </p:txBody>
      </p:sp>
      <p:pic>
        <p:nvPicPr>
          <p:cNvPr id="17" name="Image 4" descr="/Users/nstephane/Dev/AI_Data_Science_training/ing-usecase/docs/deck_assets/icons/list.png"/>
          <p:cNvPicPr>
            <a:picLocks noChangeAspect="1"/>
          </p:cNvPicPr>
          <p:nvPr/>
        </p:nvPicPr>
        <p:blipFill>
          <a:blip r:embed="rId5"/>
          <a:stretch>
            <a:fillRect/>
          </a:stretch>
        </p:blipFill>
        <p:spPr>
          <a:xfrm>
            <a:off x="7699248" y="4078224"/>
            <a:ext cx="420624" cy="420624"/>
          </a:xfrm>
          <a:prstGeom prst="rect">
            <a:avLst/>
          </a:prstGeom>
        </p:spPr>
      </p:pic>
      <p:sp>
        <p:nvSpPr>
          <p:cNvPr id="18" name="Text 11"/>
          <p:cNvSpPr txBox="1"/>
          <p:nvPr/>
        </p:nvSpPr>
        <p:spPr>
          <a:xfrm>
            <a:off x="8266176" y="4059936"/>
            <a:ext cx="327355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Each section can name its own source</a:t>
            </a:r>
            <a:endParaRPr lang="en-US" sz="1350" dirty="0"/>
          </a:p>
        </p:txBody>
      </p:sp>
      <p:sp>
        <p:nvSpPr>
          <p:cNvPr id="19" name="Text 12"/>
          <p:cNvSpPr txBox="1"/>
          <p:nvPr/>
        </p:nvSpPr>
        <p:spPr>
          <a:xfrm>
            <a:off x="8266176" y="4352544"/>
            <a:ext cx="327355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In explained mode, the orange blocks say which recommendation produced that section and why — so the site is auditable, not just persuasive.</a:t>
            </a:r>
            <a:endParaRPr lang="en-US" sz="1150" dirty="0"/>
          </a:p>
        </p:txBody>
      </p:sp>
      <p:sp>
        <p:nvSpPr>
          <p:cNvPr id="20" name="Text 13"/>
          <p:cNvSpPr txBox="1"/>
          <p:nvPr/>
        </p:nvSpPr>
        <p:spPr>
          <a:xfrm>
            <a:off x="7699248" y="5486400"/>
            <a:ext cx="3840480" cy="603504"/>
          </a:xfrm>
          <a:prstGeom prst="rect">
            <a:avLst/>
          </a:prstGeom>
          <a:noFill/>
          <a:ln/>
        </p:spPr>
        <p:txBody>
          <a:bodyPr wrap="square" lIns="0" tIns="0" rIns="0" bIns="0" rtlCol="0" anchor="ctr"/>
          <a:lstStyle/>
          <a:p>
            <a:pPr marL="0" indent="0">
              <a:lnSpc>
                <a:spcPts val="1500"/>
              </a:lnSpc>
              <a:buNone/>
            </a:pPr>
            <a:r>
              <a:rPr lang="en-US" sz="1150" b="1" dirty="0">
                <a:solidFill>
                  <a:srgbClr val="FF6200"/>
                </a:solidFill>
                <a:latin typeface="Helvetica Neue" pitchFamily="34" charset="0"/>
                <a:ea typeface="Helvetica Neue" pitchFamily="34" charset="-122"/>
                <a:cs typeface="Helvetica Neue" pitchFamily="34" charset="-120"/>
              </a:rPr>
              <a:t>This is what makes the analysis arguable: a stakeholder can look at the change rather than read about it.</a:t>
            </a:r>
            <a:endParaRPr lang="en-US" sz="1150" dirty="0"/>
          </a:p>
        </p:txBody>
      </p:sp>
      <p:pic>
        <p:nvPicPr>
          <p:cNvPr id="21" name="Picture 20">
            <a:extLst>
              <a:ext uri="{FF2B5EF4-FFF2-40B4-BE49-F238E27FC236}">
                <a16:creationId xmlns:a16="http://schemas.microsoft.com/office/drawing/2014/main" id="{2213E3A8-686B-ADF9-793A-FA97ACE97847}"/>
              </a:ext>
            </a:extLst>
          </p:cNvPr>
          <p:cNvPicPr>
            <a:picLocks noChangeAspect="1"/>
          </p:cNvPicPr>
          <p:nvPr/>
        </p:nvPicPr>
        <p:blipFill>
          <a:blip r:embed="rId6"/>
          <a:stretch>
            <a:fillRect/>
          </a:stretch>
        </p:blipFill>
        <p:spPr>
          <a:xfrm>
            <a:off x="652272" y="1126676"/>
            <a:ext cx="4808435" cy="2629008"/>
          </a:xfrm>
          <a:prstGeom prst="rect">
            <a:avLst/>
          </a:prstGeom>
        </p:spPr>
      </p:pic>
      <p:pic>
        <p:nvPicPr>
          <p:cNvPr id="22" name="Picture 21">
            <a:extLst>
              <a:ext uri="{FF2B5EF4-FFF2-40B4-BE49-F238E27FC236}">
                <a16:creationId xmlns:a16="http://schemas.microsoft.com/office/drawing/2014/main" id="{DFCDDED3-DA14-3BD9-5D9D-C450DEDB0153}"/>
              </a:ext>
            </a:extLst>
          </p:cNvPr>
          <p:cNvPicPr>
            <a:picLocks noChangeAspect="1"/>
          </p:cNvPicPr>
          <p:nvPr/>
        </p:nvPicPr>
        <p:blipFill>
          <a:blip r:embed="rId7"/>
          <a:stretch>
            <a:fillRect/>
          </a:stretch>
        </p:blipFill>
        <p:spPr>
          <a:xfrm>
            <a:off x="652272" y="3808476"/>
            <a:ext cx="4808435" cy="22407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The complete pipeline</a:t>
            </a:r>
            <a:endParaRPr lang="en-US" sz="2800" dirty="0"/>
          </a:p>
        </p:txBody>
      </p:sp>
      <p:sp>
        <p:nvSpPr>
          <p:cNvPr id="3" name="Shape 1"/>
          <p:cNvSpPr/>
          <p:nvPr/>
        </p:nvSpPr>
        <p:spPr>
          <a:xfrm>
            <a:off x="548640" y="960120"/>
            <a:ext cx="1463040" cy="54864"/>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17</a:t>
            </a:r>
            <a:endParaRPr lang="en-US" sz="1000" dirty="0"/>
          </a:p>
        </p:txBody>
      </p:sp>
      <p:pic>
        <p:nvPicPr>
          <p:cNvPr id="6" name="Image 0" descr="/Users/nstephane/Dev/AI_Data_Science_training/ing-usecase/docs/deck_assets/pipeline_complete.png"/>
          <p:cNvPicPr>
            <a:picLocks noChangeAspect="1"/>
          </p:cNvPicPr>
          <p:nvPr/>
        </p:nvPicPr>
        <p:blipFill>
          <a:blip r:embed="rId3"/>
          <a:stretch>
            <a:fillRect/>
          </a:stretch>
        </p:blipFill>
        <p:spPr>
          <a:xfrm>
            <a:off x="932688" y="1170432"/>
            <a:ext cx="10332720" cy="4681728"/>
          </a:xfrm>
          <a:prstGeom prst="rect">
            <a:avLst/>
          </a:prstGeom>
        </p:spPr>
      </p:pic>
      <p:sp>
        <p:nvSpPr>
          <p:cNvPr id="7" name="Text 4"/>
          <p:cNvSpPr txBox="1"/>
          <p:nvPr/>
        </p:nvSpPr>
        <p:spPr>
          <a:xfrm>
            <a:off x="932688" y="5925312"/>
            <a:ext cx="1033272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Stages 1–5 are the measurement half shown in the main deck. Stages 6–8 are this one.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this cannot support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No performance data exists here</a:t>
            </a:r>
          </a:p>
          <a:p>
            <a:pPr algn="l">
              <a:lnSpc>
                <a:spcPct val="105000"/>
              </a:lnSpc>
              <a:spcAft>
                <a:spcPts val="1000"/>
              </a:spcAft>
            </a:pPr>
            <a:r>
              <a:rPr sz="1300" b="0">
                <a:solidFill>
                  <a:srgbClr val="585868"/>
                </a:solidFill>
                <a:latin typeface="Helvetica Neue"/>
              </a:rPr>
              <a:t>     Nothing links a design choice to a click, a conversion or a sale. Every recommendation is a hypothesis ING could test.</a:t>
            </a:r>
          </a:p>
          <a:p>
            <a:pPr algn="l">
              <a:lnSpc>
                <a:spcPct val="105000"/>
              </a:lnSpc>
              <a:spcAft>
                <a:spcPts val="200"/>
              </a:spcAft>
            </a:pPr>
            <a:r>
              <a:rPr sz="1500" b="1">
                <a:solidFill>
                  <a:srgbClr val="14141C"/>
                </a:solidFill>
                <a:latin typeface="Helvetica Neue"/>
              </a:rPr>
              <a:t>•  Small groups, by design</a:t>
            </a:r>
          </a:p>
          <a:p>
            <a:pPr algn="l">
              <a:lnSpc>
                <a:spcPct val="105000"/>
              </a:lnSpc>
              <a:spcAft>
                <a:spcPts val="1000"/>
              </a:spcAft>
            </a:pPr>
            <a:r>
              <a:rPr sz="1300" b="0">
                <a:solidFill>
                  <a:srgbClr val="585868"/>
                </a:solidFill>
                <a:latin typeface="Helvetica Neue"/>
              </a:rPr>
              <a:t>     Four challengers against ten traditional banks, and most banks contribute a single page — so a group mean is an anecdote and an effect size describes separation, not significance.</a:t>
            </a:r>
          </a:p>
          <a:p>
            <a:pPr algn="l">
              <a:lnSpc>
                <a:spcPct val="105000"/>
              </a:lnSpc>
              <a:spcAft>
                <a:spcPts val="200"/>
              </a:spcAft>
            </a:pPr>
            <a:r>
              <a:rPr sz="1500" b="1">
                <a:solidFill>
                  <a:srgbClr val="14141C"/>
                </a:solidFill>
                <a:latin typeface="Helvetica Neue"/>
              </a:rPr>
              <a:t>•  The judgement features are thinner than they look</a:t>
            </a:r>
          </a:p>
          <a:p>
            <a:pPr algn="l">
              <a:lnSpc>
                <a:spcPct val="105000"/>
              </a:lnSpc>
              <a:spcAft>
                <a:spcPts val="1000"/>
              </a:spcAft>
            </a:pPr>
            <a:r>
              <a:rPr sz="1300" b="0">
                <a:solidFill>
                  <a:srgbClr val="585868"/>
                </a:solidFill>
                <a:latin typeface="Helvetica Neue"/>
              </a:rPr>
              <a:t>     All thirteen come from one judged sheet by one person, so single-judge bias is present and un-measured - there is no second sheet to measure it against. A finding resting on persuasion levers or accent placement is a hypothesis, not a reading.</a:t>
            </a:r>
          </a:p>
          <a:p>
            <a:pPr algn="l">
              <a:lnSpc>
                <a:spcPct val="105000"/>
              </a:lnSpc>
              <a:spcAft>
                <a:spcPts val="200"/>
              </a:spcAft>
            </a:pPr>
            <a:r>
              <a:rPr sz="1500" b="1">
                <a:solidFill>
                  <a:srgbClr val="14141C"/>
                </a:solidFill>
                <a:latin typeface="Helvetica Neue"/>
              </a:rPr>
              <a:t>•  Search interest is context, and covers part of the market</a:t>
            </a:r>
          </a:p>
          <a:p>
            <a:pPr algn="l">
              <a:lnSpc>
                <a:spcPct val="105000"/>
              </a:lnSpc>
              <a:spcAft>
                <a:spcPts val="1000"/>
              </a:spcAft>
            </a:pPr>
            <a:r>
              <a:rPr sz="1300" b="0">
                <a:solidFill>
                  <a:srgbClr val="585868"/>
                </a:solidFill>
                <a:latin typeface="Helvetica Neue"/>
              </a:rPr>
              <a:t>     It measures what people searched for, not what a campaign achieved, and the pages captured are today's pages.</a:t>
            </a:r>
          </a:p>
          <a:p>
            <a:pPr algn="l">
              <a:lnSpc>
                <a:spcPct val="105000"/>
              </a:lnSpc>
              <a:spcAft>
                <a:spcPts val="200"/>
              </a:spcAft>
            </a:pPr>
            <a:r>
              <a:rPr sz="1500" b="1">
                <a:solidFill>
                  <a:srgbClr val="14141C"/>
                </a:solidFill>
                <a:latin typeface="Helvetica Neue"/>
              </a:rPr>
              <a:t>•  Only the open web is covered</a:t>
            </a:r>
          </a:p>
          <a:p>
            <a:pPr algn="l">
              <a:lnSpc>
                <a:spcPct val="105000"/>
              </a:lnSpc>
              <a:spcAft>
                <a:spcPts val="1000"/>
              </a:spcAft>
            </a:pPr>
            <a:r>
              <a:rPr sz="1300" b="0">
                <a:solidFill>
                  <a:srgbClr val="585868"/>
                </a:solidFill>
                <a:latin typeface="Helvetica Neue"/>
              </a:rPr>
              <a:t>     Social, in-app and email banners are out of scope — and may be where a bank's real communication happens.</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outputs/limitations.md is regenerated from the dataset on every run, so these cannot quietly go stale.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926080"/>
            <a:ext cx="2011680" cy="914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515600" cy="914400"/>
          </a:xfrm>
          <a:prstGeom prst="rect">
            <a:avLst/>
          </a:prstGeom>
          <a:noFill/>
        </p:spPr>
        <p:txBody>
          <a:bodyPr wrap="square">
            <a:spAutoFit/>
          </a:bodyPr>
          <a:lstStyle/>
          <a:p>
            <a:pPr algn="l">
              <a:lnSpc>
                <a:spcPct val="105000"/>
              </a:lnSpc>
              <a:spcAft>
                <a:spcPts val="600"/>
              </a:spcAft>
            </a:pPr>
            <a:r>
              <a:rPr sz="2800" b="1">
                <a:solidFill>
                  <a:srgbClr val="FFFFFF"/>
                </a:solidFill>
                <a:latin typeface="Helvetica Neue"/>
              </a:rPr>
              <a:t>Measure one way. Label the trust. Claim only what the data supports.</a:t>
            </a:r>
          </a:p>
        </p:txBody>
      </p:sp>
      <p:sp>
        <p:nvSpPr>
          <p:cNvPr id="5" name="TextBox 4"/>
          <p:cNvSpPr txBox="1"/>
          <p:nvPr/>
        </p:nvSpPr>
        <p:spPr>
          <a:xfrm>
            <a:off x="822960" y="3291840"/>
            <a:ext cx="10058400" cy="1463040"/>
          </a:xfrm>
          <a:prstGeom prst="rect">
            <a:avLst/>
          </a:prstGeom>
          <a:noFill/>
        </p:spPr>
        <p:txBody>
          <a:bodyPr wrap="square">
            <a:spAutoFit/>
          </a:bodyPr>
          <a:lstStyle/>
          <a:p>
            <a:pPr algn="l">
              <a:lnSpc>
                <a:spcPct val="105000"/>
              </a:lnSpc>
              <a:spcAft>
                <a:spcPts val="600"/>
              </a:spcAft>
            </a:pPr>
            <a:r>
              <a:rPr sz="1400" b="0" dirty="0">
                <a:solidFill>
                  <a:srgbClr val="B8B8C8"/>
                </a:solidFill>
                <a:latin typeface="Helvetica Neue"/>
              </a:rPr>
              <a:t>The pipeline, the contract and the guardrails are in the repository:</a:t>
            </a:r>
          </a:p>
          <a:p>
            <a:pPr algn="l">
              <a:lnSpc>
                <a:spcPct val="105000"/>
              </a:lnSpc>
              <a:spcAft>
                <a:spcPts val="600"/>
              </a:spcAft>
            </a:pPr>
            <a:r>
              <a:rPr sz="1400" b="0" dirty="0">
                <a:solidFill>
                  <a:srgbClr val="B8B8C8"/>
                </a:solidFill>
                <a:latin typeface="Helvetica Neue"/>
              </a:rPr>
              <a:t>README.md · docs/design.md · docs/pipeline.md · web/README.md · docs/decisions.md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31720"/>
            <a:ext cx="2011680" cy="914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51560"/>
            <a:ext cx="10515600" cy="1280160"/>
          </a:xfrm>
          <a:prstGeom prst="rect">
            <a:avLst/>
          </a:prstGeom>
          <a:noFill/>
        </p:spPr>
        <p:txBody>
          <a:bodyPr wrap="square">
            <a:spAutoFit/>
          </a:bodyPr>
          <a:lstStyle/>
          <a:p>
            <a:pPr algn="l">
              <a:lnSpc>
                <a:spcPct val="105000"/>
              </a:lnSpc>
              <a:spcAft>
                <a:spcPts val="600"/>
              </a:spcAft>
            </a:pPr>
            <a:r>
              <a:rPr sz="4400" b="1">
                <a:solidFill>
                  <a:srgbClr val="FFFFFF"/>
                </a:solidFill>
                <a:latin typeface="Helvetica Neue"/>
              </a:rPr>
              <a:t>Backup</a:t>
            </a:r>
          </a:p>
        </p:txBody>
      </p:sp>
      <p:sp>
        <p:nvSpPr>
          <p:cNvPr id="5" name="TextBox 4"/>
          <p:cNvSpPr txBox="1"/>
          <p:nvPr/>
        </p:nvSpPr>
        <p:spPr>
          <a:xfrm>
            <a:off x="822960" y="2606040"/>
            <a:ext cx="10058400" cy="1097280"/>
          </a:xfrm>
          <a:prstGeom prst="rect">
            <a:avLst/>
          </a:prstGeom>
          <a:noFill/>
        </p:spPr>
        <p:txBody>
          <a:bodyPr wrap="square">
            <a:spAutoFit/>
          </a:bodyPr>
          <a:lstStyle/>
          <a:p>
            <a:pPr algn="l">
              <a:lnSpc>
                <a:spcPct val="105000"/>
              </a:lnSpc>
              <a:spcAft>
                <a:spcPts val="600"/>
              </a:spcAft>
            </a:pPr>
            <a:r>
              <a:rPr sz="2000" b="0">
                <a:solidFill>
                  <a:srgbClr val="D8D8E0"/>
                </a:solidFill>
                <a:latin typeface="Helvetica Neue"/>
              </a:rPr>
              <a:t>Slides we did not walk through — here if you ask</a:t>
            </a:r>
          </a:p>
          <a:p>
            <a:pPr algn="l">
              <a:lnSpc>
                <a:spcPct val="105000"/>
              </a:lnSpc>
              <a:spcAft>
                <a:spcPts val="600"/>
              </a:spcAft>
            </a:pPr>
            <a:endParaRPr sz="2000" b="0">
              <a:solidFill>
                <a:srgbClr val="D8D8E0"/>
              </a:solidFill>
              <a:latin typeface="Helvetica Neue"/>
            </a:endParaRPr>
          </a:p>
        </p:txBody>
      </p:sp>
      <p:sp>
        <p:nvSpPr>
          <p:cNvPr id="6" name="TextBox 5"/>
          <p:cNvSpPr txBox="1"/>
          <p:nvPr/>
        </p:nvSpPr>
        <p:spPr>
          <a:xfrm>
            <a:off x="822960" y="4114800"/>
            <a:ext cx="10058400" cy="1280160"/>
          </a:xfrm>
          <a:prstGeom prst="rect">
            <a:avLst/>
          </a:prstGeom>
          <a:noFill/>
        </p:spPr>
        <p:txBody>
          <a:bodyPr wrap="square">
            <a:spAutoFit/>
          </a:bodyPr>
          <a:lstStyle/>
          <a:p>
            <a:pPr algn="l">
              <a:lnSpc>
                <a:spcPct val="105000"/>
              </a:lnSpc>
              <a:spcAft>
                <a:spcPts val="400"/>
              </a:spcAft>
            </a:pPr>
            <a:endParaRPr/>
          </a:p>
          <a:p>
            <a:pPr algn="l">
              <a:lnSpc>
                <a:spcPct val="105000"/>
              </a:lnSpc>
              <a:spcAft>
                <a:spcPts val="400"/>
              </a:spcAft>
            </a:pPr>
            <a:endParaRPr/>
          </a:p>
          <a:p>
            <a:pPr algn="l">
              <a:lnSpc>
                <a:spcPct val="105000"/>
              </a:lnSpc>
              <a:spcAft>
                <a:spcPts val="400"/>
              </a:spcAft>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3152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A recommendation system on top of the measurement</a:t>
            </a:r>
            <a:endParaRPr lang="en-US" sz="2800" dirty="0"/>
          </a:p>
        </p:txBody>
      </p:sp>
      <p:sp>
        <p:nvSpPr>
          <p:cNvPr id="3" name="Shape 1"/>
          <p:cNvSpPr/>
          <p:nvPr/>
        </p:nvSpPr>
        <p:spPr>
          <a:xfrm>
            <a:off x="548640" y="1115568"/>
            <a:ext cx="1463040" cy="64008"/>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21</a:t>
            </a:r>
            <a:endParaRPr lang="en-US" sz="1000" dirty="0"/>
          </a:p>
        </p:txBody>
      </p:sp>
      <p:sp>
        <p:nvSpPr>
          <p:cNvPr id="6" name="Shape 4"/>
          <p:cNvSpPr/>
          <p:nvPr/>
        </p:nvSpPr>
        <p:spPr>
          <a:xfrm>
            <a:off x="6112764" y="1394460"/>
            <a:ext cx="5550408" cy="2834640"/>
          </a:xfrm>
          <a:prstGeom prst="rect">
            <a:avLst/>
          </a:prstGeom>
          <a:solidFill>
            <a:srgbClr val="FFFFFF"/>
          </a:solidFill>
          <a:ln w="12700">
            <a:solidFill>
              <a:srgbClr val="E4E4EC"/>
            </a:solidFill>
            <a:prstDash val="solid"/>
          </a:ln>
        </p:spPr>
        <p:txBody>
          <a:bodyPr/>
          <a:lstStyle/>
          <a:p>
            <a:endParaRPr/>
          </a:p>
        </p:txBody>
      </p:sp>
      <p:pic>
        <p:nvPicPr>
          <p:cNvPr id="7" name="Image 0" descr="/Users/nstephane/Dev/AI_Data_Science_training/ing-usecase/docs/deck_assets/rec_controls.png"/>
          <p:cNvPicPr>
            <a:picLocks noChangeAspect="1"/>
          </p:cNvPicPr>
          <p:nvPr/>
        </p:nvPicPr>
        <p:blipFill>
          <a:blip r:embed="rId3"/>
          <a:stretch>
            <a:fillRect/>
          </a:stretch>
        </p:blipFill>
        <p:spPr>
          <a:xfrm>
            <a:off x="6144768" y="1426464"/>
            <a:ext cx="5486400" cy="2770632"/>
          </a:xfrm>
          <a:prstGeom prst="rect">
            <a:avLst/>
          </a:prstGeom>
        </p:spPr>
      </p:pic>
      <p:sp>
        <p:nvSpPr>
          <p:cNvPr id="8" name="Text 5"/>
          <p:cNvSpPr txBox="1"/>
          <p:nvPr/>
        </p:nvSpPr>
        <p:spPr>
          <a:xfrm>
            <a:off x="6144768" y="4297680"/>
            <a:ext cx="548640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The panel as the team sees it: one button, two opt-in contexts, and the run it produced.</a:t>
            </a:r>
            <a:endParaRPr lang="en-US" sz="1050" dirty="0"/>
          </a:p>
        </p:txBody>
      </p:sp>
      <p:pic>
        <p:nvPicPr>
          <p:cNvPr id="9" name="Image 1" descr="/Users/nstephane/Dev/AI_Data_Science_training/ing-usecase/docs/deck_assets/icons/target.png"/>
          <p:cNvPicPr>
            <a:picLocks noChangeAspect="1"/>
          </p:cNvPicPr>
          <p:nvPr/>
        </p:nvPicPr>
        <p:blipFill>
          <a:blip r:embed="rId4"/>
          <a:stretch>
            <a:fillRect/>
          </a:stretch>
        </p:blipFill>
        <p:spPr>
          <a:xfrm>
            <a:off x="621792" y="1609344"/>
            <a:ext cx="420624" cy="420624"/>
          </a:xfrm>
          <a:prstGeom prst="rect">
            <a:avLst/>
          </a:prstGeom>
        </p:spPr>
      </p:pic>
      <p:sp>
        <p:nvSpPr>
          <p:cNvPr id="10" name="Text 6"/>
          <p:cNvSpPr txBox="1"/>
          <p:nvPr/>
        </p:nvSpPr>
        <p:spPr>
          <a:xfrm>
            <a:off x="1188720" y="1591056"/>
            <a:ext cx="478231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One model call over the finished analysis</a:t>
            </a:r>
            <a:endParaRPr lang="en-US" sz="1350" dirty="0"/>
          </a:p>
        </p:txBody>
      </p:sp>
      <p:sp>
        <p:nvSpPr>
          <p:cNvPr id="11" name="Text 7"/>
          <p:cNvSpPr txBox="1"/>
          <p:nvPr/>
        </p:nvSpPr>
        <p:spPr>
          <a:xfrm>
            <a:off x="1188720" y="1883664"/>
            <a:ext cx="478231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Reads report.json only — the same numbers the charts are drawn from. This run turned 33 measured features across 14 banks into 10 ordered changes.</a:t>
            </a:r>
            <a:endParaRPr lang="en-US" sz="1150" dirty="0"/>
          </a:p>
        </p:txBody>
      </p:sp>
      <p:pic>
        <p:nvPicPr>
          <p:cNvPr id="12" name="Image 2" descr="/Users/nstephane/Dev/AI_Data_Science_training/ing-usecase/docs/deck_assets/icons/list.png"/>
          <p:cNvPicPr>
            <a:picLocks noChangeAspect="1"/>
          </p:cNvPicPr>
          <p:nvPr/>
        </p:nvPicPr>
        <p:blipFill>
          <a:blip r:embed="rId5"/>
          <a:stretch>
            <a:fillRect/>
          </a:stretch>
        </p:blipFill>
        <p:spPr>
          <a:xfrm>
            <a:off x="621792" y="2907792"/>
            <a:ext cx="420624" cy="420624"/>
          </a:xfrm>
          <a:prstGeom prst="rect">
            <a:avLst/>
          </a:prstGeom>
        </p:spPr>
      </p:pic>
      <p:sp>
        <p:nvSpPr>
          <p:cNvPr id="13" name="Text 8"/>
          <p:cNvSpPr txBox="1"/>
          <p:nvPr/>
        </p:nvSpPr>
        <p:spPr>
          <a:xfrm>
            <a:off x="1188720" y="2889504"/>
            <a:ext cx="478231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Ordered by priority, not by confidence</a:t>
            </a:r>
            <a:endParaRPr lang="en-US" sz="1350" dirty="0"/>
          </a:p>
        </p:txBody>
      </p:sp>
      <p:sp>
        <p:nvSpPr>
          <p:cNvPr id="14" name="Text 9"/>
          <p:cNvSpPr txBox="1"/>
          <p:nvPr/>
        </p:nvSpPr>
        <p:spPr>
          <a:xfrm>
            <a:off x="1188720" y="3182112"/>
            <a:ext cx="478231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2 high, 6 medium, 2 low. The order is the argument: what the measurement most supports acting on first.</a:t>
            </a:r>
            <a:endParaRPr lang="en-US" sz="1150" dirty="0"/>
          </a:p>
        </p:txBody>
      </p:sp>
      <p:pic>
        <p:nvPicPr>
          <p:cNvPr id="15" name="Image 3" descr="/Users/nstephane/Dev/AI_Data_Science_training/ing-usecase/docs/deck_assets/icons/shield.png"/>
          <p:cNvPicPr>
            <a:picLocks noChangeAspect="1"/>
          </p:cNvPicPr>
          <p:nvPr/>
        </p:nvPicPr>
        <p:blipFill>
          <a:blip r:embed="rId6"/>
          <a:stretch>
            <a:fillRect/>
          </a:stretch>
        </p:blipFill>
        <p:spPr>
          <a:xfrm>
            <a:off x="621792" y="4206240"/>
            <a:ext cx="420624" cy="420624"/>
          </a:xfrm>
          <a:prstGeom prst="rect">
            <a:avLst/>
          </a:prstGeom>
        </p:spPr>
      </p:pic>
      <p:sp>
        <p:nvSpPr>
          <p:cNvPr id="16" name="Text 10"/>
          <p:cNvSpPr txBox="1"/>
          <p:nvPr/>
        </p:nvSpPr>
        <p:spPr>
          <a:xfrm>
            <a:off x="1188720" y="4187952"/>
            <a:ext cx="478231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Two contexts, both opt-in and both marked</a:t>
            </a:r>
            <a:endParaRPr lang="en-US" sz="1350" dirty="0"/>
          </a:p>
        </p:txBody>
      </p:sp>
      <p:sp>
        <p:nvSpPr>
          <p:cNvPr id="17" name="Text 11"/>
          <p:cNvSpPr txBox="1"/>
          <p:nvPr/>
        </p:nvSpPr>
        <p:spPr>
          <a:xfrm>
            <a:off x="1188720" y="4480560"/>
            <a:ext cx="478231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Search interest for timing, and news themes for reputation (3 of the 10 here). Context is never allowed to stand as evidence that a page performed.</a:t>
            </a:r>
            <a:endParaRPr lang="en-US" sz="1150" dirty="0"/>
          </a:p>
        </p:txBody>
      </p:sp>
      <p:sp>
        <p:nvSpPr>
          <p:cNvPr id="18" name="Shape 12"/>
          <p:cNvSpPr/>
          <p:nvPr/>
        </p:nvSpPr>
        <p:spPr>
          <a:xfrm>
            <a:off x="6144768" y="4809744"/>
            <a:ext cx="5486400" cy="1225296"/>
          </a:xfrm>
          <a:prstGeom prst="roundRect">
            <a:avLst>
              <a:gd name="adj" fmla="val 4478"/>
            </a:avLst>
          </a:prstGeom>
          <a:solidFill>
            <a:srgbClr val="FAFAFC"/>
          </a:solidFill>
          <a:ln w="12700">
            <a:solidFill>
              <a:srgbClr val="E4E4EC"/>
            </a:solidFill>
            <a:prstDash val="solid"/>
          </a:ln>
        </p:spPr>
        <p:txBody>
          <a:bodyPr/>
          <a:lstStyle/>
          <a:p>
            <a:endParaRPr/>
          </a:p>
        </p:txBody>
      </p:sp>
      <p:sp>
        <p:nvSpPr>
          <p:cNvPr id="19" name="Text 13"/>
          <p:cNvSpPr txBox="1"/>
          <p:nvPr/>
        </p:nvSpPr>
        <p:spPr>
          <a:xfrm>
            <a:off x="6400800" y="4992624"/>
            <a:ext cx="4974336" cy="859536"/>
          </a:xfrm>
          <a:prstGeom prst="rect">
            <a:avLst/>
          </a:prstGeom>
          <a:noFill/>
          <a:ln/>
        </p:spPr>
        <p:txBody>
          <a:bodyPr wrap="square" lIns="0" tIns="0" rIns="0" bIns="0" rtlCol="0" anchor="ctr"/>
          <a:lstStyle/>
          <a:p>
            <a:pPr marL="0" indent="0">
              <a:lnSpc>
                <a:spcPts val="1700"/>
              </a:lnSpc>
              <a:buNone/>
            </a:pPr>
            <a:r>
              <a:rPr lang="en-US" sz="1200" b="1" dirty="0">
                <a:solidFill>
                  <a:srgbClr val="FF6200"/>
                </a:solidFill>
                <a:latin typeface="Helvetica Neue" pitchFamily="34" charset="0"/>
                <a:ea typeface="Helvetica Neue" pitchFamily="34" charset="-122"/>
                <a:cs typeface="Helvetica Neue" pitchFamily="34" charset="-120"/>
              </a:rPr>
              <a:t>It writes what to change. It does not re-derive a single number — that direction is one-way by design.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we chose to measure, and why</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104 declared features, 33 actually compared</a:t>
            </a:r>
          </a:p>
          <a:p>
            <a:pPr algn="l">
              <a:lnSpc>
                <a:spcPct val="105000"/>
              </a:lnSpc>
              <a:spcAft>
                <a:spcPts val="1000"/>
              </a:spcAft>
            </a:pPr>
            <a:r>
              <a:rPr sz="1300" b="0">
                <a:solidFill>
                  <a:srgbClr val="585868"/>
                </a:solidFill>
                <a:latin typeface="Helvetica Neue"/>
              </a:rPr>
              <a:t>     Nothing is hidden in that reduction — the run prints it: 18 provenance fields that identify a page rather than describe a campaign, 4 free-text identifiers no two pages share, 8 within_language features that stop being comparable once the set spans three languages, 1 within_capture_window feature that is valid for its capture date only, 5 withdrawn because the rule does not reproduce what the feature claims to measure, 27 categorical or list features a euclidean distance cannot take raw, and 8 identical everywhere.</a:t>
            </a:r>
          </a:p>
          <a:p>
            <a:pPr algn="l">
              <a:lnSpc>
                <a:spcPct val="105000"/>
              </a:lnSpc>
              <a:spcAft>
                <a:spcPts val="200"/>
              </a:spcAft>
            </a:pPr>
            <a:r>
              <a:rPr sz="1500" b="1">
                <a:solidFill>
                  <a:srgbClr val="14141C"/>
                </a:solidFill>
                <a:latin typeface="Helvetica Neue"/>
              </a:rPr>
              <a:t>•  51 pages collected and scored, 18 compared</a:t>
            </a:r>
          </a:p>
          <a:p>
            <a:pPr algn="l">
              <a:lnSpc>
                <a:spcPct val="105000"/>
              </a:lnSpc>
              <a:spcAft>
                <a:spcPts val="1000"/>
              </a:spcAft>
            </a:pPr>
            <a:r>
              <a:rPr sz="1300" b="0">
                <a:solidFill>
                  <a:srgbClr val="585868"/>
                </a:solidFill>
                <a:latin typeface="Helvetica Neue"/>
              </a:rPr>
              <a:t>     One product family at a time (DR-04). A mortgage page and a current-account page differ because the products differ, not because the banks communicate differently, so pooling them would confound every result with the product. The other 33 pages are scored and in the dataset, ready for the same comparison on savings or on mortgages.</a:t>
            </a:r>
          </a:p>
          <a:p>
            <a:pPr algn="l">
              <a:lnSpc>
                <a:spcPct val="105000"/>
              </a:lnSpc>
              <a:spcAft>
                <a:spcPts val="200"/>
              </a:spcAft>
            </a:pPr>
            <a:r>
              <a:rPr sz="1500" b="1">
                <a:solidFill>
                  <a:srgbClr val="14141C"/>
                </a:solidFill>
                <a:latin typeface="Helvetica Neue"/>
              </a:rPr>
              <a:t>•  14 Belgian retail banks, both sides of the market</a:t>
            </a:r>
          </a:p>
          <a:p>
            <a:pPr algn="l">
              <a:lnSpc>
                <a:spcPct val="105000"/>
              </a:lnSpc>
              <a:spcAft>
                <a:spcPts val="1000"/>
              </a:spcAft>
            </a:pPr>
            <a:r>
              <a:rPr sz="1300" b="0">
                <a:solidFill>
                  <a:srgbClr val="585868"/>
                </a:solidFill>
                <a:latin typeface="Helvetica Neue"/>
              </a:rPr>
              <a:t>     Ten incumbents and four challengers, so the traditional↔challenger axis has banks on both sides of it. Belgian market only, confirmed with the client — ING.nl is out of scope, and so is professional and business banking.</a:t>
            </a:r>
          </a:p>
          <a:p>
            <a:pPr algn="l">
              <a:lnSpc>
                <a:spcPct val="105000"/>
              </a:lnSpc>
              <a:spcAft>
                <a:spcPts val="200"/>
              </a:spcAft>
            </a:pPr>
            <a:r>
              <a:rPr sz="1500" b="1">
                <a:solidFill>
                  <a:srgbClr val="14141C"/>
                </a:solidFill>
                <a:latin typeface="Helvetica Neue"/>
              </a:rPr>
              <a:t>•  The open web, and only the open web</a:t>
            </a:r>
          </a:p>
          <a:p>
            <a:pPr algn="l">
              <a:lnSpc>
                <a:spcPct val="105000"/>
              </a:lnSpc>
              <a:spcAft>
                <a:spcPts val="1000"/>
              </a:spcAft>
            </a:pPr>
            <a:r>
              <a:rPr sz="1300" b="0">
                <a:solidFill>
                  <a:srgbClr val="585868"/>
                </a:solidFill>
                <a:latin typeface="Helvetica Neue"/>
              </a:rPr>
              <a:t>     Public campaign pages, fetched once, robots.txt checked before every request. Social, in-app and email are out of scope and may be where a bank's real communication happens — that is a limit of this study, not of the market.</a:t>
            </a:r>
          </a:p>
          <a:p>
            <a:pPr algn="l">
              <a:lnSpc>
                <a:spcPct val="105000"/>
              </a:lnSpc>
              <a:spcAft>
                <a:spcPts val="200"/>
              </a:spcAft>
            </a:pPr>
            <a:r>
              <a:rPr sz="1500" b="1">
                <a:solidFill>
                  <a:srgbClr val="14141C"/>
                </a:solidFill>
                <a:latin typeface="Helvetica Neue"/>
              </a:rPr>
              <a:t>•  Description, never causation</a:t>
            </a:r>
          </a:p>
          <a:p>
            <a:pPr algn="l">
              <a:lnSpc>
                <a:spcPct val="105000"/>
              </a:lnSpc>
              <a:spcAft>
                <a:spcPts val="1000"/>
              </a:spcAft>
            </a:pPr>
            <a:r>
              <a:rPr sz="1300" b="0">
                <a:solidFill>
                  <a:srgbClr val="585868"/>
                </a:solidFill>
                <a:latin typeface="Helvetica Neue"/>
              </a:rPr>
              <a:t>     No click, conversion or performance data exists in this project, so nothing here says a design choice produced a result. Every finding is a difference, and every recommendation a hypothesis ING could test.</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Scope is a decision, not a leftover: each line above is a thing we chose not to measure, and why.</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Technical architecture</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agram_architecture.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A library with no I/O assumptions, thin CLI wrappers, and two callers — so no figure has a second definition.</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How a number earns trust</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agram_trust.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Each feature declares how it was produced, and that label travels all the way to the screen.</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feature dictionary is the contract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104 features, each declaring three things</a:t>
            </a:r>
          </a:p>
          <a:p>
            <a:pPr algn="l">
              <a:lnSpc>
                <a:spcPct val="105000"/>
              </a:lnSpc>
              <a:spcAft>
                <a:spcPts val="1000"/>
              </a:spcAft>
            </a:pPr>
            <a:r>
              <a:rPr sz="1300" b="0">
                <a:solidFill>
                  <a:srgbClr val="585868"/>
                </a:solidFill>
                <a:latin typeface="Helvetica Neue"/>
              </a:rPr>
              <a:t>     how it was extracted (automatic / rubric / model-assisted / derived), how it may be compared, and whether it is core or extended.</a:t>
            </a:r>
          </a:p>
          <a:p>
            <a:pPr algn="l">
              <a:lnSpc>
                <a:spcPct val="105000"/>
              </a:lnSpc>
              <a:spcAft>
                <a:spcPts val="200"/>
              </a:spcAft>
            </a:pPr>
            <a:r>
              <a:rPr sz="1500" b="1">
                <a:solidFill>
                  <a:srgbClr val="14141C"/>
                </a:solidFill>
                <a:latin typeface="Helvetica Neue"/>
              </a:rPr>
              <a:t>•  Everything else is derived from it</a:t>
            </a:r>
          </a:p>
          <a:p>
            <a:pPr algn="l">
              <a:lnSpc>
                <a:spcPct val="105000"/>
              </a:lnSpc>
              <a:spcAft>
                <a:spcPts val="1000"/>
              </a:spcAft>
            </a:pPr>
            <a:r>
              <a:rPr sz="1300" b="0">
                <a:solidFill>
                  <a:srgbClr val="585868"/>
                </a:solidFill>
                <a:latin typeface="Helvetica Neue"/>
              </a:rPr>
              <a:t>     The dataset schema, the validator and the published feature dictionary are generated from the same YAML, so they cannot drift apart.</a:t>
            </a:r>
          </a:p>
          <a:p>
            <a:pPr algn="l">
              <a:lnSpc>
                <a:spcPct val="105000"/>
              </a:lnSpc>
              <a:spcAft>
                <a:spcPts val="200"/>
              </a:spcAft>
            </a:pPr>
            <a:r>
              <a:rPr sz="1500" b="1">
                <a:solidFill>
                  <a:srgbClr val="14141C"/>
                </a:solidFill>
                <a:latin typeface="Helvetica Neue"/>
              </a:rPr>
              <a:t>•  The freeze rule: add, never rename</a:t>
            </a:r>
          </a:p>
          <a:p>
            <a:pPr algn="l">
              <a:lnSpc>
                <a:spcPct val="105000"/>
              </a:lnSpc>
              <a:spcAft>
                <a:spcPts val="1000"/>
              </a:spcAft>
            </a:pPr>
            <a:r>
              <a:rPr sz="1300" b="0">
                <a:solidFill>
                  <a:srgbClr val="585868"/>
                </a:solidFill>
                <a:latin typeface="Helvetica Neue"/>
              </a:rPr>
              <a:t>     After the Day 2 freeze, columns may be added; renames and removals need all three of us, because analysis code depends on them.</a:t>
            </a:r>
          </a:p>
          <a:p>
            <a:pPr algn="l">
              <a:lnSpc>
                <a:spcPct val="105000"/>
              </a:lnSpc>
              <a:spcAft>
                <a:spcPts val="200"/>
              </a:spcAft>
            </a:pPr>
            <a:r>
              <a:rPr sz="1500" b="1">
                <a:solidFill>
                  <a:srgbClr val="14141C"/>
                </a:solidFill>
                <a:latin typeface="Helvetica Neue"/>
              </a:rPr>
              <a:t>•  Two checks, deliberately different</a:t>
            </a:r>
          </a:p>
          <a:p>
            <a:pPr algn="l">
              <a:lnSpc>
                <a:spcPct val="105000"/>
              </a:lnSpc>
              <a:spcAft>
                <a:spcPts val="1000"/>
              </a:spcAft>
            </a:pPr>
            <a:r>
              <a:rPr sz="1300" b="0">
                <a:solidFill>
                  <a:srgbClr val="585868"/>
                </a:solidFill>
                <a:latin typeface="Helvetica Neue"/>
              </a:rPr>
              <a:t>     A byte-equality test catches an accidental edit; the semantic freeze check catches a rename that happens to keep the bytes matching.</a:t>
            </a:r>
          </a:p>
          <a:p>
            <a:pPr algn="l">
              <a:lnSpc>
                <a:spcPct val="105000"/>
              </a:lnSpc>
              <a:spcAft>
                <a:spcPts val="200"/>
              </a:spcAft>
            </a:pPr>
            <a:r>
              <a:rPr sz="1500" b="1">
                <a:solidFill>
                  <a:srgbClr val="14141C"/>
                </a:solidFill>
                <a:latin typeface="Helvetica Neue"/>
              </a:rPr>
              <a:t>•  It grew twice, legitimately</a:t>
            </a:r>
          </a:p>
          <a:p>
            <a:pPr algn="l">
              <a:lnSpc>
                <a:spcPct val="105000"/>
              </a:lnSpc>
              <a:spcAft>
                <a:spcPts val="1000"/>
              </a:spcAft>
            </a:pPr>
            <a:r>
              <a:rPr sz="1300" b="0">
                <a:solidFill>
                  <a:srgbClr val="585868"/>
                </a:solidFill>
                <a:latin typeface="Helvetica Neue"/>
              </a:rPr>
              <a:t>     3 features added after the freeze, and the bank list extended to 12 values — both additions, both recorded.</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Collection and compliance</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robots.txt is checked live before every fetch, and fails closed</a:t>
            </a:r>
          </a:p>
          <a:p>
            <a:pPr algn="l">
              <a:lnSpc>
                <a:spcPct val="105000"/>
              </a:lnSpc>
              <a:spcAft>
                <a:spcPts val="1000"/>
              </a:spcAft>
            </a:pPr>
            <a:r>
              <a:rPr sz="1300" b="0">
                <a:solidFill>
                  <a:srgbClr val="585868"/>
                </a:solidFill>
                <a:latin typeface="Helvetica Neue"/>
              </a:rPr>
              <a:t>     If robots.txt cannot be read, the URL is treated as not allowed. Every row carries robots_allowed; the validator refuses a row where it is false.</a:t>
            </a:r>
          </a:p>
          <a:p>
            <a:pPr algn="l">
              <a:lnSpc>
                <a:spcPct val="105000"/>
              </a:lnSpc>
              <a:spcAft>
                <a:spcPts val="200"/>
              </a:spcAft>
            </a:pPr>
            <a:r>
              <a:rPr sz="1500" b="1">
                <a:solidFill>
                  <a:srgbClr val="14141C"/>
                </a:solidFill>
                <a:latin typeface="Helvetica Neue"/>
              </a:rPr>
              <a:t>•  Pages are rendered, not just downloaded</a:t>
            </a:r>
          </a:p>
          <a:p>
            <a:pPr algn="l">
              <a:lnSpc>
                <a:spcPct val="105000"/>
              </a:lnSpc>
              <a:spcAft>
                <a:spcPts val="1000"/>
              </a:spcAft>
            </a:pPr>
            <a:r>
              <a:rPr sz="1300" b="0">
                <a:solidFill>
                  <a:srgbClr val="585868"/>
                </a:solidFill>
                <a:latin typeface="Helvetica Neue"/>
              </a:rPr>
              <a:t>     A headless browser reads the page as a visitor sees it, which also fills the geometry features — page height, above-fold elements, image area.</a:t>
            </a:r>
          </a:p>
          <a:p>
            <a:pPr algn="l">
              <a:lnSpc>
                <a:spcPct val="105000"/>
              </a:lnSpc>
              <a:spcAft>
                <a:spcPts val="200"/>
              </a:spcAft>
            </a:pPr>
            <a:r>
              <a:rPr sz="1500" b="1">
                <a:solidFill>
                  <a:srgbClr val="14141C"/>
                </a:solidFill>
                <a:latin typeface="Helvetica Neue"/>
              </a:rPr>
              <a:t>•  A quality gate judges the capture, not just the numbers</a:t>
            </a:r>
          </a:p>
          <a:p>
            <a:pPr algn="l">
              <a:lnSpc>
                <a:spcPct val="105000"/>
              </a:lnSpc>
              <a:spcAft>
                <a:spcPts val="1000"/>
              </a:spcAft>
            </a:pPr>
            <a:r>
              <a:rPr sz="1300" b="0">
                <a:solidFill>
                  <a:srgbClr val="585868"/>
                </a:solidFill>
                <a:latin typeface="Helvetica Neue"/>
              </a:rPr>
              <a:t>     Two early captures passed every range check while being an empty JavaScript shell and a maintenance notice. capture_quality now travels with the row.</a:t>
            </a:r>
          </a:p>
          <a:p>
            <a:pPr algn="l">
              <a:lnSpc>
                <a:spcPct val="105000"/>
              </a:lnSpc>
              <a:spcAft>
                <a:spcPts val="200"/>
              </a:spcAft>
            </a:pPr>
            <a:r>
              <a:rPr sz="1500" b="1">
                <a:solidFill>
                  <a:srgbClr val="14141C"/>
                </a:solidFill>
                <a:latin typeface="Helvetica Neue"/>
              </a:rPr>
              <a:t>•  When a site will not serve us, a person saves the page</a:t>
            </a:r>
          </a:p>
          <a:p>
            <a:pPr algn="l">
              <a:lnSpc>
                <a:spcPct val="105000"/>
              </a:lnSpc>
              <a:spcAft>
                <a:spcPts val="1000"/>
              </a:spcAft>
            </a:pPr>
            <a:r>
              <a:rPr sz="1300" b="0">
                <a:solidFill>
                  <a:srgbClr val="585868"/>
                </a:solidFill>
                <a:latin typeface="Helvetica Neue"/>
              </a:rPr>
              <a:t>     BNP Paribas Fortis blocks automated traffic (HTTP 503) and Revolut's headless render is refused; the importer takes a browser-saved page, re-checks robots, and marks it manual_capture.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Analysis tab</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1_analysis.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Scope, focus and the verdict above the first number — the reader cannot see a figure without seeing what it covers.</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Reputation tab: what each bank is in the news about</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3_reputation.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Headline themes — innovation, crisis, results — counted, never scored for sentiment. Two news providers are merged, in three languages.</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Reputation: themes, not sentiment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a:solidFill>
                  <a:srgbClr val="14141C"/>
                </a:solidFill>
                <a:latin typeface="Helvetica Neue"/>
              </a:rPr>
              <a:t>•  Sentiment scoring was out of scope; themes turn the brief's own 'reputation, innovations, crises' framing into a closed, countable list.</a:t>
            </a:r>
          </a:p>
          <a:p>
            <a:pPr algn="l">
              <a:lnSpc>
                <a:spcPct val="105000"/>
              </a:lnSpc>
              <a:spcAft>
                <a:spcPts val="900"/>
              </a:spcAft>
            </a:pPr>
            <a:r>
              <a:rPr sz="1500" b="0">
                <a:solidFill>
                  <a:srgbClr val="14141C"/>
                </a:solidFill>
                <a:latin typeface="Helvetica Neue"/>
              </a:rPr>
              <a:t>•  Two similarly named providers are supported at once (newsapi.org and newsapi.ai); headlines from both are merged and de-duplicated.</a:t>
            </a:r>
          </a:p>
          <a:p>
            <a:pPr algn="l">
              <a:lnSpc>
                <a:spcPct val="105000"/>
              </a:lnSpc>
              <a:spcAft>
                <a:spcPts val="900"/>
              </a:spcAft>
            </a:pPr>
            <a:r>
              <a:rPr sz="1500" b="0">
                <a:solidFill>
                  <a:srgbClr val="14141C"/>
                </a:solidFill>
                <a:latin typeface="Helvetica Neue"/>
              </a:rPr>
              <a:t>•  Every provider is queried in English, French and Dutch — Belgian bank news is mostly not in English.</a:t>
            </a:r>
          </a:p>
          <a:p>
            <a:pPr algn="l">
              <a:lnSpc>
                <a:spcPct val="105000"/>
              </a:lnSpc>
              <a:spcAft>
                <a:spcPts val="900"/>
              </a:spcAft>
            </a:pPr>
            <a:r>
              <a:rPr sz="1500" b="0">
                <a:solidFill>
                  <a:srgbClr val="14141C"/>
                </a:solidFill>
                <a:latin typeface="Helvetica Neue"/>
              </a:rPr>
              <a:t>•  The module degrades to 'not configured' when no key is present, rather than inventing a number for a bank it has no data on.</a:t>
            </a:r>
          </a:p>
          <a:p>
            <a:pPr algn="l">
              <a:lnSpc>
                <a:spcPct val="105000"/>
              </a:lnSpc>
              <a:spcAft>
                <a:spcPts val="900"/>
              </a:spcAft>
            </a:pPr>
            <a:r>
              <a:rPr sz="1500" b="0">
                <a:solidFill>
                  <a:srgbClr val="14141C"/>
                </a:solidFill>
                <a:latin typeface="Helvetica Neue"/>
              </a:rPr>
              <a:t>•  Themes are context about the bank, never evidence that a page or campaign performed. Asked whether reputation shows how well campaigns are doing, the honest answer is no: press coverage says what a bank is written about, not whether its page worked.</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Recommendations tab</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4_recommendations.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The one place a model is allowed to opine: advice grounded in this run's numbers, each item shown next to the features it was argued from, and selectable.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Recommendations, and how they stay honest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a:solidFill>
                  <a:srgbClr val="14141C"/>
                </a:solidFill>
                <a:latin typeface="Helvetica Neue"/>
              </a:rPr>
              <a:t>•  Every recommendation names the measured features it was argued from; an invented feature id is dropped before the list is shown.</a:t>
            </a:r>
          </a:p>
          <a:p>
            <a:pPr algn="l">
              <a:lnSpc>
                <a:spcPct val="105000"/>
              </a:lnSpc>
              <a:spcAft>
                <a:spcPts val="900"/>
              </a:spcAft>
            </a:pPr>
            <a:r>
              <a:rPr sz="1500" b="0">
                <a:solidFill>
                  <a:srgbClr val="14141C"/>
                </a:solidFill>
                <a:latin typeface="Helvetica Neue"/>
              </a:rPr>
              <a:t>•  A second, opt-in group can be added from news themes (reputation context).</a:t>
            </a:r>
          </a:p>
          <a:p>
            <a:pPr algn="l">
              <a:lnSpc>
                <a:spcPct val="105000"/>
              </a:lnSpc>
              <a:spcAft>
                <a:spcPts val="900"/>
              </a:spcAft>
            </a:pPr>
            <a:r>
              <a:rPr sz="1500" b="0">
                <a:solidFill>
                  <a:srgbClr val="14141C"/>
                </a:solidFill>
                <a:latin typeface="Helvetica Neue"/>
              </a:rPr>
              <a:t>•  The search-interest group was removed on 22/09; Trends now selects three brands on attention alone and the tab reports what their pages measurably do differently from ING's.</a:t>
            </a:r>
          </a:p>
          <a:p>
            <a:pPr algn="l">
              <a:lnSpc>
                <a:spcPct val="105000"/>
              </a:lnSpc>
              <a:spcAft>
                <a:spcPts val="900"/>
              </a:spcAft>
            </a:pPr>
            <a:r>
              <a:rPr sz="1500" b="0">
                <a:solidFill>
                  <a:srgbClr val="14141C"/>
                </a:solidFill>
                <a:latin typeface="Helvetica Neue"/>
              </a:rPr>
              <a:t>•  A reader ticks the ones worth building; only the ticked subset reaches the site builder.</a:t>
            </a:r>
          </a:p>
          <a:p>
            <a:pPr algn="l">
              <a:lnSpc>
                <a:spcPct val="105000"/>
              </a:lnSpc>
              <a:spcAft>
                <a:spcPts val="900"/>
              </a:spcAft>
            </a:pPr>
            <a:r>
              <a:rPr sz="1500" b="0">
                <a:solidFill>
                  <a:srgbClr val="14141C"/>
                </a:solidFill>
                <a:latin typeface="Helvetica Neue"/>
              </a:rPr>
              <a:t>•  Nothing here re-runs collection or analysis — it reads one report and writes advice.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generated ING website, with explanations on</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6_site_explanation_open.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An illustration, not a proposal for ING's site: each section that implements a recommendation is boxed, the (i) button opens the reasoning above it, and that section's glow switches to a slow yellow flicker.</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Explanation mode: showing the work</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a:solidFill>
                  <a:srgbClr val="14141C"/>
                </a:solidFill>
                <a:latin typeface="Helvetica Neue"/>
              </a:rPr>
              <a:t>•  Tick 'Explain each section' and every generated section that acts on a recommendation is boxed, with an (i) button and a one-sentence rationale in the page language.</a:t>
            </a:r>
          </a:p>
          <a:p>
            <a:pPr algn="l">
              <a:lnSpc>
                <a:spcPct val="105000"/>
              </a:lnSpc>
              <a:spcAft>
                <a:spcPts val="900"/>
              </a:spcAft>
            </a:pPr>
            <a:r>
              <a:rPr sz="1500" b="0">
                <a:solidFill>
                  <a:srgbClr val="14141C"/>
                </a:solidFill>
                <a:latin typeface="Helvetica Neue"/>
              </a:rPr>
              <a:t>•  Yellow flicker while an explanation is open — deliberately not ING orange, so the explanation state cannot be mistaken for the brand treatment.</a:t>
            </a:r>
          </a:p>
          <a:p>
            <a:pPr algn="l">
              <a:lnSpc>
                <a:spcPct val="105000"/>
              </a:lnSpc>
              <a:spcAft>
                <a:spcPts val="900"/>
              </a:spcAft>
            </a:pPr>
            <a:r>
              <a:rPr sz="1500" b="0">
                <a:solidFill>
                  <a:srgbClr val="14141C"/>
                </a:solidFill>
                <a:latin typeface="Helvetica Neue"/>
              </a:rPr>
              <a:t>•  A switch above the site turns the whole layer off, and the choice is remembered across the ten pages — so the same site can be shown as a normal site.</a:t>
            </a:r>
          </a:p>
          <a:p>
            <a:pPr algn="l">
              <a:lnSpc>
                <a:spcPct val="105000"/>
              </a:lnSpc>
              <a:spcAft>
                <a:spcPts val="900"/>
              </a:spcAft>
            </a:pPr>
            <a:r>
              <a:rPr sz="1500" b="0">
                <a:solidFill>
                  <a:srgbClr val="14141C"/>
                </a:solidFill>
                <a:latin typeface="Helvetica Neue"/>
              </a:rPr>
              <a:t>•  Every page gets at least one box; pages no recommendation targets borrow the site-wide advice that applies.</a:t>
            </a:r>
          </a:p>
          <a:p>
            <a:pPr algn="l">
              <a:lnSpc>
                <a:spcPct val="105000"/>
              </a:lnSpc>
              <a:spcAft>
                <a:spcPts val="900"/>
              </a:spcAft>
            </a:pPr>
            <a:r>
              <a:rPr sz="1500" b="0">
                <a:solidFill>
                  <a:srgbClr val="14141C"/>
                </a:solidFill>
                <a:latin typeface="Helvetica Neue"/>
              </a:rPr>
              <a:t>•  The first explained run produced copy about the recommendations themselves, so the page prompt now forbids meta copy and confines 'why' to the rationale.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same site, explanations off</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7_site_explain_off.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One checkbox above the site hides every box, balloon and rationale — the identical pages, shown as a normal site.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operator tabs, and what they refuse to do</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Six read-only views, moved out of the Streamlit dashboard</a:t>
            </a:r>
          </a:p>
          <a:p>
            <a:pPr algn="l">
              <a:lnSpc>
                <a:spcPct val="105000"/>
              </a:lnSpc>
              <a:spcAft>
                <a:spcPts val="1000"/>
              </a:spcAft>
            </a:pPr>
            <a:r>
              <a:rPr sz="1300" b="0">
                <a:solidFill>
                  <a:srgbClr val="585868"/>
                </a:solidFill>
                <a:latin typeface="Helvetica Neue"/>
              </a:rPr>
              <a:t>     Home, Bank profiles, Data, Rubric, Collection and Research now render in the same UI as the findings, from one snapshot the exporter writes: operations.json.</a:t>
            </a:r>
          </a:p>
          <a:p>
            <a:pPr algn="l">
              <a:lnSpc>
                <a:spcPct val="105000"/>
              </a:lnSpc>
              <a:spcAft>
                <a:spcPts val="200"/>
              </a:spcAft>
            </a:pPr>
            <a:r>
              <a:rPr sz="1500" b="1">
                <a:solidFill>
                  <a:srgbClr val="14141C"/>
                </a:solidFill>
                <a:latin typeface="Helvetica Neue"/>
              </a:rPr>
              <a:t>•  No pipeline control</a:t>
            </a:r>
          </a:p>
          <a:p>
            <a:pPr algn="l">
              <a:lnSpc>
                <a:spcPct val="105000"/>
              </a:lnSpc>
              <a:spcAft>
                <a:spcPts val="1000"/>
              </a:spcAft>
            </a:pPr>
            <a:r>
              <a:rPr sz="1300" b="0">
                <a:solidFill>
                  <a:srgbClr val="585868"/>
                </a:solidFill>
                <a:latin typeface="Helvetica Neue"/>
              </a:rPr>
              <a:t>     Collection is slow and needs a job model, and the robots.txt gate must stay server-side and non-overridable — so there is no 'run collection' button in a browser.</a:t>
            </a:r>
          </a:p>
          <a:p>
            <a:pPr algn="l">
              <a:lnSpc>
                <a:spcPct val="105000"/>
              </a:lnSpc>
              <a:spcAft>
                <a:spcPts val="200"/>
              </a:spcAft>
            </a:pPr>
            <a:r>
              <a:rPr sz="1500" b="1">
                <a:solidFill>
                  <a:srgbClr val="14141C"/>
                </a:solidFill>
                <a:latin typeface="Helvetica Neue"/>
              </a:rPr>
              <a:t>•  No dataset or dictionary editing</a:t>
            </a:r>
          </a:p>
          <a:p>
            <a:pPr algn="l">
              <a:lnSpc>
                <a:spcPct val="105000"/>
              </a:lnSpc>
              <a:spcAft>
                <a:spcPts val="1000"/>
              </a:spcAft>
            </a:pPr>
            <a:r>
              <a:rPr sz="1300" b="0">
                <a:solidFill>
                  <a:srgbClr val="585868"/>
                </a:solidFill>
                <a:latin typeface="Helvetica Neue"/>
              </a:rPr>
              <a:t>     The dictionary is the frozen contract (P-04); a form that edited it would undo the freeze rule, and a form that edited an extracted feature would destroy its audit trail.</a:t>
            </a:r>
          </a:p>
          <a:p>
            <a:pPr algn="l">
              <a:lnSpc>
                <a:spcPct val="105000"/>
              </a:lnSpc>
              <a:spcAft>
                <a:spcPts val="200"/>
              </a:spcAft>
            </a:pPr>
            <a:r>
              <a:rPr sz="1500" b="1">
                <a:solidFill>
                  <a:srgbClr val="14141C"/>
                </a:solidFill>
                <a:latin typeface="Helvetica Neue"/>
              </a:rPr>
              <a:t>•  No live scoring screen</a:t>
            </a:r>
          </a:p>
          <a:p>
            <a:pPr algn="l">
              <a:lnSpc>
                <a:spcPct val="105000"/>
              </a:lnSpc>
              <a:spcAft>
                <a:spcPts val="1000"/>
              </a:spcAft>
            </a:pPr>
            <a:r>
              <a:rPr sz="1300" b="0">
                <a:solidFill>
                  <a:srgbClr val="585868"/>
                </a:solidFill>
                <a:latin typeface="Helvetica Neue"/>
              </a:rPr>
              <a:t>     The Rubric tab shows finished sheets only. A screen that displayed a rater's neighbours would make the agreement figure measure visibility, not independent judgement (NFR-05).</a:t>
            </a:r>
          </a:p>
          <a:p>
            <a:pPr algn="l">
              <a:lnSpc>
                <a:spcPct val="105000"/>
              </a:lnSpc>
              <a:spcAft>
                <a:spcPts val="200"/>
              </a:spcAft>
            </a:pPr>
            <a:r>
              <a:rPr sz="1500" b="1">
                <a:solidFill>
                  <a:srgbClr val="14141C"/>
                </a:solidFill>
                <a:latin typeface="Helvetica Neue"/>
              </a:rPr>
              <a:t>•  One direction only</a:t>
            </a:r>
          </a:p>
          <a:p>
            <a:pPr algn="l">
              <a:lnSpc>
                <a:spcPct val="105000"/>
              </a:lnSpc>
              <a:spcAft>
                <a:spcPts val="1000"/>
              </a:spcAft>
            </a:pPr>
            <a:r>
              <a:rPr sz="1300" b="0">
                <a:solidFill>
                  <a:srgbClr val="585868"/>
                </a:solidFill>
                <a:latin typeface="Helvetica Neue"/>
              </a:rPr>
              <a:t>     The UI does no arithmetic: every number is computed in Python and handed over already labelled, so no figure on screen has a second definition.</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The Streamlit file stays in the repository for share.streamlit.io; it is no longer the only place these views exist.</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Home: what was collected, and what comes out</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8_home.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Four counts from the run, the validation verdict, every bank's status, and a download per deliverable.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Bank profiles: one bank, every measured field</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9_profiles.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Palette, tone, imagery, layout, value proposition, the z-score signature, personas and the AI Score.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Data: the dataset and the frozen dictionary</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0_data.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Every capture with its provenance, filterable and exportable, read against the 104-feature dictionary.</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Rubric: the sheets, and where they disagree</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1_rubric.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Every sheet, raw agreement, chance-corrected kappa, and the scoring guide — never merged into one score.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Collection: status, provenance and the pipeline</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2_collection.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Counts straight from the export, per-bank status, capture provenance, and the commands that produced it.</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Research: sourcing a claim</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3_research.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Semantic Scholar, on demand. Empty is reported as empty — a rate limit must not read as 'no evidence'.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Roadmap</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 Repair the three captures taken behind a cookie banner</a:t>
            </a:r>
          </a:p>
          <a:p>
            <a:pPr algn="l">
              <a:lnSpc>
                <a:spcPct val="105000"/>
              </a:lnSpc>
              <a:spcAft>
                <a:spcPts val="1000"/>
              </a:spcAft>
            </a:pPr>
            <a:r>
              <a:rPr sz="1300" b="0">
                <a:solidFill>
                  <a:srgbClr val="585868"/>
                </a:solidFill>
                <a:latin typeface="Helvetica Neue"/>
              </a:rPr>
              <a:t>     Re-capture the three pages taken behind a cookie banner — Argenta, BNP Paribas Fortis and Crelan — so their colour and layout features describe the page rather than the modal.</a:t>
            </a:r>
          </a:p>
          <a:p>
            <a:pPr algn="l">
              <a:lnSpc>
                <a:spcPct val="105000"/>
              </a:lnSpc>
              <a:spcAft>
                <a:spcPts val="200"/>
              </a:spcAft>
            </a:pPr>
            <a:r>
              <a:rPr sz="1500" b="1">
                <a:solidFill>
                  <a:srgbClr val="14141C"/>
                </a:solidFill>
                <a:latin typeface="Helvetica Neue"/>
              </a:rPr>
              <a:t>•  2. Fill the remaining sheet rows</a:t>
            </a:r>
          </a:p>
          <a:p>
            <a:pPr algn="l">
              <a:lnSpc>
                <a:spcPct val="105000"/>
              </a:lnSpc>
              <a:spcAft>
                <a:spcPts val="1000"/>
              </a:spcAft>
            </a:pPr>
            <a:r>
              <a:rPr sz="1300" b="0">
                <a:solidFill>
                  <a:srgbClr val="585868"/>
                </a:solidFill>
                <a:latin typeface="Helvetica Neue"/>
              </a:rPr>
              <a:t>     Every bank now has its rows, including the two English pages restored on 23/09; what is missing is filled scores, not sheets.</a:t>
            </a:r>
          </a:p>
          <a:p>
            <a:pPr algn="l">
              <a:lnSpc>
                <a:spcPct val="105000"/>
              </a:lnSpc>
              <a:spcAft>
                <a:spcPts val="200"/>
              </a:spcAft>
            </a:pPr>
            <a:r>
              <a:rPr sz="1500" b="1">
                <a:solidFill>
                  <a:srgbClr val="14141C"/>
                </a:solidFill>
                <a:latin typeface="Helvetica Neue"/>
              </a:rPr>
              <a:t>•  3. Re-run and re-export</a:t>
            </a:r>
          </a:p>
          <a:p>
            <a:pPr algn="l">
              <a:lnSpc>
                <a:spcPct val="105000"/>
              </a:lnSpc>
              <a:spcAft>
                <a:spcPts val="1000"/>
              </a:spcAft>
            </a:pPr>
            <a:r>
              <a:rPr sz="1300" b="0">
                <a:solidFill>
                  <a:srgbClr val="585868"/>
                </a:solidFill>
                <a:latin typeface="Helvetica Neue"/>
              </a:rPr>
              <a:t>     rubric_sheet.py merge → run_analysis.py → export_web_report.py, then re-verify the narrative's figures against the new snapshot.</a:t>
            </a:r>
          </a:p>
          <a:p>
            <a:pPr algn="l">
              <a:lnSpc>
                <a:spcPct val="105000"/>
              </a:lnSpc>
              <a:spcAft>
                <a:spcPts val="200"/>
              </a:spcAft>
            </a:pPr>
            <a:r>
              <a:rPr sz="1500" b="1">
                <a:solidFill>
                  <a:srgbClr val="14141C"/>
                </a:solidFill>
                <a:latin typeface="Helvetica Neue"/>
              </a:rPr>
              <a:t>•  4. Decide on outputs/ in git</a:t>
            </a:r>
          </a:p>
          <a:p>
            <a:pPr algn="l">
              <a:lnSpc>
                <a:spcPct val="105000"/>
              </a:lnSpc>
              <a:spcAft>
                <a:spcPts val="1000"/>
              </a:spcAft>
            </a:pPr>
            <a:r>
              <a:rPr sz="1300" b="0">
                <a:solidFill>
                  <a:srgbClr val="585868"/>
                </a:solidFill>
                <a:latin typeface="Helvetica Neue"/>
              </a:rPr>
              <a:t>     It is regenerated on every run yet tracked, so each analysis leaves a large binary diff.</a:t>
            </a:r>
          </a:p>
          <a:p>
            <a:pPr algn="l">
              <a:lnSpc>
                <a:spcPct val="105000"/>
              </a:lnSpc>
              <a:spcAft>
                <a:spcPts val="200"/>
              </a:spcAft>
            </a:pPr>
            <a:r>
              <a:rPr sz="1500" b="1">
                <a:solidFill>
                  <a:srgbClr val="14141C"/>
                </a:solidFill>
                <a:latin typeface="Helvetica Neue"/>
              </a:rPr>
              <a:t>•  5. Then, if the team wants it</a:t>
            </a:r>
          </a:p>
          <a:p>
            <a:pPr algn="l">
              <a:lnSpc>
                <a:spcPct val="105000"/>
              </a:lnSpc>
              <a:spcAft>
                <a:spcPts val="1000"/>
              </a:spcAft>
            </a:pPr>
            <a:r>
              <a:rPr sz="1300" b="0">
                <a:solidFill>
                  <a:srgbClr val="585868"/>
                </a:solidFill>
                <a:latin typeface="Helvetica Neue"/>
              </a:rPr>
              <a:t>     Savings, mortgage, pension, investment and term accounts are already collected (51 pages, 6 families); comparing each family the same way is the next step, plus a wider bank set.</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TotalTime>
  <Words>7703</Words>
  <Application>Microsoft Office PowerPoint</Application>
  <PresentationFormat>Widescreen</PresentationFormat>
  <Paragraphs>507</Paragraphs>
  <Slides>42</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Siegried Camus</cp:lastModifiedBy>
  <cp:revision>12</cp:revision>
  <dcterms:created xsi:type="dcterms:W3CDTF">2013-01-27T09:14:16Z</dcterms:created>
  <dcterms:modified xsi:type="dcterms:W3CDTF">2026-09-25T10:10:05Z</dcterms:modified>
  <cp:category/>
</cp:coreProperties>
</file>