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recommendation layer is the only place in the project where a model is allowed to opine. Everything upstream measures; this interprets.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Separating finding from action matters: a reader can reject our suggested action and still keep the measured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caveat is not decoration. Without outcome data these are differences, not 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site is a demonstration of the recommendations, not a proposal for production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Stages 1-5 are the measurement half shown in the main deck. Stages 6-8 are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recommendation system on top of the measurement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463040" cy="64008"/>
          </a:xfrm>
          <a:prstGeom prst="rect">
            <a:avLst/>
          </a:prstGeom>
          <a:solidFill>
            <a:srgbClr val="FF62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Banking Campaigns Comparator · ING DACI / Customer AI · September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12764" y="1394460"/>
            <a:ext cx="555040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pic>
        <p:nvPicPr>
          <p:cNvPr id="7" name="Image 0" descr="/Users/nstephane/Dev/AI_Data_Science_training/ing-usecase/docs/deck_assets/rec_contr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426464"/>
            <a:ext cx="5486400" cy="27706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144768" y="4297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panel as the team sees it: one button, two opt-in contexts, and the run it produced.</a:t>
            </a:r>
            <a:endParaRPr lang="en-US" sz="1050" dirty="0"/>
          </a:p>
        </p:txBody>
      </p:sp>
      <p:pic>
        <p:nvPicPr>
          <p:cNvPr id="9" name="Image 1" descr="/Users/nstephane/Dev/AI_Data_Science_training/ing-usecase/docs/deck_assets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09344"/>
            <a:ext cx="420624" cy="4206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591056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model call over the finished analysis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1883664"/>
            <a:ext cx="4782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Reads report.json only — the same numbers the charts are drawn from. This run turned 30 measured features across 14 banks into 11 ordered changes.</a:t>
            </a:r>
            <a:endParaRPr lang="en-US" sz="1150" dirty="0"/>
          </a:p>
        </p:txBody>
      </p:sp>
      <p:pic>
        <p:nvPicPr>
          <p:cNvPr id="12" name="Image 2" descr="/Users/nstephane/Dev/AI_Data_Science_training/ing-usecase/docs/deck_assets/icons/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907792"/>
            <a:ext cx="420624" cy="4206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88950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Ordered by priority, not by confidence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3182112"/>
            <a:ext cx="4782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high, 6 medium, 2 low. The order is the argument: what the measurement most supports acting on first.</a:t>
            </a:r>
            <a:endParaRPr lang="en-US" sz="1150" dirty="0"/>
          </a:p>
        </p:txBody>
      </p:sp>
      <p:pic>
        <p:nvPicPr>
          <p:cNvPr id="15" name="Image 3" descr="/Users/nstephane/Dev/AI_Data_Science_training/ing-usecase/docs/deck_assets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206240"/>
            <a:ext cx="420624" cy="4206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418795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contexts, both opt-in and both marked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1188720" y="4480560"/>
            <a:ext cx="4782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Search interest for timing, and news themes for reputation (3 of the 11 here). Context is never allowed to stand as evidence that a page performed.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144768" y="4809744"/>
            <a:ext cx="5486400" cy="1225296"/>
          </a:xfrm>
          <a:prstGeom prst="roundRect">
            <a:avLst>
              <a:gd name="adj" fmla="val 4478"/>
            </a:avLst>
          </a:prstGeom>
          <a:solidFill>
            <a:srgbClr val="FAFAFC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400800" y="4992624"/>
            <a:ext cx="49743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62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writes what to change. It does not re-derive a single number — that direction is one-way by design.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recommendation carries the evidence it was argued from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Banking Campaigns Comparator · ING DACI / Customer AI · September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" y="1229868"/>
            <a:ext cx="6373368" cy="4178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pic>
        <p:nvPicPr>
          <p:cNvPr id="7" name="Image 0" descr="/Users/nstephane/Dev/AI_Data_Science_training/ing-usecase/docs/deck_assets/rec_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61872"/>
            <a:ext cx="6309360" cy="4114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" y="548640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of the eleven, as the team reviews them.</a:t>
            </a:r>
            <a:endParaRPr lang="en-US" sz="1050" dirty="0"/>
          </a:p>
        </p:txBody>
      </p:sp>
      <p:pic>
        <p:nvPicPr>
          <p:cNvPr id="9" name="Image 1" descr="/Users/nstephane/Dev/AI_Data_Science_training/ing-usecase/docs/deck_assets/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137160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27264" y="135331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Finding and action, kept apart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827264" y="1645920"/>
            <a:ext cx="3694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 data shows sits above what to do. A reader can reject our suggested action and still keep the measured finding.</a:t>
            </a:r>
            <a:endParaRPr lang="en-US" sz="1150" dirty="0"/>
          </a:p>
        </p:txBody>
      </p:sp>
      <p:pic>
        <p:nvPicPr>
          <p:cNvPr id="12" name="Image 2" descr="/Users/nstephane/Dev/AI_Data_Science_training/ing-usecase/docs/deck_assets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294436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27264" y="292608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Named features, checked before release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7827264" y="3218688"/>
            <a:ext cx="3694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card names the measured features it was argued from and the pages it applies to. Those ids are verified against the report — an invented one never leaves the module.</a:t>
            </a:r>
            <a:endParaRPr lang="en-US" sz="1150" dirty="0"/>
          </a:p>
        </p:txBody>
      </p:sp>
      <p:pic>
        <p:nvPicPr>
          <p:cNvPr id="15" name="Image 3" descr="/Users/nstephane/Dev/AI_Data_Science_training/ing-usecase/docs/deck_assets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4517136"/>
            <a:ext cx="420624" cy="4206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827264" y="449884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figure the analysis did not produce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7827264" y="4791456"/>
            <a:ext cx="3694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prompt receives only numbers already in the report, and the output is not trusted to add any.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concluded about 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463040" cy="64008"/>
          </a:xfrm>
          <a:prstGeom prst="rect">
            <a:avLst/>
          </a:prstGeom>
          <a:solidFill>
            <a:srgbClr val="FF62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Banking Campaigns Comparator · ING DACI / Customer AI · September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" y="1517904"/>
            <a:ext cx="3529584" cy="2212848"/>
          </a:xfrm>
          <a:prstGeom prst="roundRect">
            <a:avLst>
              <a:gd name="adj" fmla="val 2479"/>
            </a:avLst>
          </a:prstGeom>
          <a:solidFill>
            <a:srgbClr val="FAFAFC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682496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2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4.0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urgency markers per page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834640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against a peer mean of 0.64 — about 3.7 standard deviations above the set, and ING's strongest measured signature.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1517904"/>
            <a:ext cx="3529584" cy="2212848"/>
          </a:xfrm>
          <a:prstGeom prst="roundRect">
            <a:avLst>
              <a:gd name="adj" fmla="val 2479"/>
            </a:avLst>
          </a:prstGeom>
          <a:solidFill>
            <a:srgbClr val="FAFAFC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36592" y="1682496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2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1.0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4736592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call to action per page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36592" y="2834640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against a peer mean of 6.18. The only measured gap where ING sits below its peers rather than above.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39328" y="1517904"/>
            <a:ext cx="3529584" cy="2212848"/>
          </a:xfrm>
          <a:prstGeom prst="roundRect">
            <a:avLst>
              <a:gd name="adj" fmla="val 2479"/>
            </a:avLst>
          </a:prstGeom>
          <a:solidFill>
            <a:srgbClr val="FAFAFC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0" y="1682496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2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0.67</a:t>
            </a:r>
            <a:endParaRPr lang="en-US" sz="46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‘free’ claims with conditions elsewhere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2834640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against a peer mean of 0.23 — the qualifying conditions are not adjacent to the claim they qualify.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9684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three it ranked highest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416552"/>
            <a:ext cx="155448" cy="155448"/>
          </a:xfrm>
          <a:prstGeom prst="ellipse">
            <a:avLst/>
          </a:prstGeom>
          <a:solidFill>
            <a:srgbClr val="FF62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35254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Strip back urgency and deadline language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08192" y="4352544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urgency_marker_count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946904"/>
            <a:ext cx="155448" cy="155448"/>
          </a:xfrm>
          <a:prstGeom prst="ellipse">
            <a:avLst/>
          </a:prstGeom>
          <a:solidFill>
            <a:srgbClr val="FF62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88289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Repeat the primary call to action down the page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108192" y="4882896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cta_count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5477256"/>
            <a:ext cx="155448" cy="155448"/>
          </a:xfrm>
          <a:prstGeom prst="ellipse">
            <a:avLst/>
          </a:prstGeom>
          <a:solidFill>
            <a:srgbClr val="FF62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41324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Disclose the conditions of any free claim next to the claim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108192" y="5413248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hidden_conditions_behind_free_claim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21792" y="5888736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observations, not performance findings. The pages span several product families and languages, the judged features come from a single rater, and no click or conversion data exists — so every item is a hypothesis ING could test.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a list of changes to a site you can actually look 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Banking Campaigns Comparator · ING DACI / Customer AI · September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" y="1248156"/>
            <a:ext cx="6739128" cy="241401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pic>
        <p:nvPicPr>
          <p:cNvPr id="7" name="Image 0" descr="/Users/nstephane/Dev/AI_Data_Science_training/ing-usecase/docs/deck_assets/site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80160"/>
            <a:ext cx="6675120" cy="23500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6364" y="3808476"/>
            <a:ext cx="5184648" cy="2112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pic>
        <p:nvPicPr>
          <p:cNvPr id="9" name="Image 1" descr="/Users/nstephane/Dev/AI_Data_Science_training/ing-usecase/docs/deck_assets/site_explain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40480"/>
            <a:ext cx="5120640" cy="20482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8368" y="5998464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Generated, never published: rates and amounts stay as [TAUX] and [MONTANT] placeholders.</a:t>
            </a:r>
            <a:endParaRPr lang="en-US" sz="1050" dirty="0"/>
          </a:p>
        </p:txBody>
      </p:sp>
      <p:pic>
        <p:nvPicPr>
          <p:cNvPr id="11" name="Image 2" descr="/Users/nstephane/Dev/AI_Data_Science_training/ing-usecase/docs/deck_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1408176"/>
            <a:ext cx="420624" cy="42062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66176" y="138988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team chooses what gets built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8266176" y="1682496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recommendation is a checkbox. Nothing reaches the generator that a person did not tick.</a:t>
            </a:r>
            <a:endParaRPr lang="en-US" sz="1150" dirty="0"/>
          </a:p>
        </p:txBody>
      </p:sp>
      <p:pic>
        <p:nvPicPr>
          <p:cNvPr id="14" name="Image 3" descr="/Users/nstephane/Dev/AI_Data_Science_training/ing-usecase/docs/deck_assets/icons/win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2743200"/>
            <a:ext cx="420624" cy="42062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266176" y="272491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Ten ING-styled pages, in fr-BE or nl-BE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8266176" y="3017520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Home, savings, term account, current account, youth, investing, mortgage, opening, why ING, contact.</a:t>
            </a:r>
            <a:endParaRPr lang="en-US" sz="1150" dirty="0"/>
          </a:p>
        </p:txBody>
      </p:sp>
      <p:pic>
        <p:nvPicPr>
          <p:cNvPr id="17" name="Image 4" descr="/Users/nstephane/Dev/AI_Data_Science_training/ing-usecase/docs/deck_assets/icons/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248" y="4078224"/>
            <a:ext cx="420624" cy="42062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266176" y="405993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section can name its own source</a:t>
            </a:r>
            <a:endParaRPr lang="en-US" sz="1350" dirty="0"/>
          </a:p>
        </p:txBody>
      </p:sp>
      <p:sp>
        <p:nvSpPr>
          <p:cNvPr id="19" name="Text 12"/>
          <p:cNvSpPr txBox="1"/>
          <p:nvPr/>
        </p:nvSpPr>
        <p:spPr>
          <a:xfrm>
            <a:off x="8266176" y="4352544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explained mode, the orange blocks say which recommendation produced that section and why — so the site is auditable, not just persuasive.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7699248" y="548640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62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what makes the analysis arguable: a stakeholder can look at the change rather than read about it.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complete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FF62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Banking Campaigns Comparator · ING DACI / Customer AI · September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Users/nstephane/Dev/AI_Data_Science_training/ing-usecase/docs/deck_assets/pipeline_comple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170432"/>
            <a:ext cx="10332720" cy="46817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32688" y="59253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58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Stages 1–5 are the measurement half shown in the main deck. Stages 6–8 are this one.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recommendation system</dc:title>
  <dc:subject>PptxGenJS Presentation</dc:subject>
  <dc:creator>Banking Campaigns Comparator</dc:creator>
  <cp:lastModifiedBy>Banking Campaigns Comparator</cp:lastModifiedBy>
  <cp:revision>1</cp:revision>
  <dcterms:created xsi:type="dcterms:W3CDTF">2026-09-23T13:10:25Z</dcterms:created>
  <dcterms:modified xsi:type="dcterms:W3CDTF">2026-09-23T13:10:25Z</dcterms:modified>
</cp:coreProperties>
</file>